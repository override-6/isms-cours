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6"/>
  </p:notesMasterIdLst>
  <p:sldIdLst>
    <p:sldId id="308" r:id="rId2"/>
    <p:sldId id="309" r:id="rId3"/>
    <p:sldId id="310" r:id="rId4"/>
    <p:sldId id="311" r:id="rId5"/>
    <p:sldId id="312" r:id="rId6"/>
    <p:sldId id="313" r:id="rId7"/>
    <p:sldId id="314" r:id="rId8"/>
    <p:sldId id="315" r:id="rId9"/>
    <p:sldId id="316" r:id="rId10"/>
    <p:sldId id="317" r:id="rId11"/>
    <p:sldId id="318" r:id="rId12"/>
    <p:sldId id="319" r:id="rId13"/>
    <p:sldId id="320" r:id="rId14"/>
    <p:sldId id="321" r:id="rId15"/>
    <p:sldId id="322" r:id="rId16"/>
    <p:sldId id="273" r:id="rId17"/>
    <p:sldId id="274" r:id="rId18"/>
    <p:sldId id="275" r:id="rId19"/>
    <p:sldId id="276" r:id="rId20"/>
    <p:sldId id="277" r:id="rId21"/>
    <p:sldId id="278" r:id="rId22"/>
    <p:sldId id="279" r:id="rId23"/>
    <p:sldId id="280" r:id="rId24"/>
    <p:sldId id="281" r:id="rId25"/>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39"/>
    <p:restoredTop sz="70685"/>
  </p:normalViewPr>
  <p:slideViewPr>
    <p:cSldViewPr snapToGrid="0">
      <p:cViewPr varScale="1">
        <p:scale>
          <a:sx n="88" d="100"/>
          <a:sy n="88" d="100"/>
        </p:scale>
        <p:origin x="84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col"/>
        <c:grouping val="stacked"/>
        <c:varyColors val="0"/>
        <c:ser>
          <c:idx val="0"/>
          <c:order val="0"/>
          <c:tx>
            <c:v>Faible</c:v>
          </c:tx>
          <c:spPr>
            <a:solidFill>
              <a:srgbClr val="C7CDD4"/>
            </a:solidFill>
            <a:ln>
              <a:solidFill>
                <a:srgbClr val="FFFFFF"/>
              </a:solidFill>
            </a:ln>
          </c:spPr>
          <c:invertIfNegative val="1"/>
          <c:dLbls>
            <c:numFmt formatCode="#,##0;\-#,##0;" sourceLinked="0"/>
            <c:spPr>
              <a:noFill/>
              <a:ln>
                <a:noFill/>
              </a:ln>
              <a:effectLst/>
            </c:spPr>
            <c:txPr>
              <a:bodyPr/>
              <a:lstStyle/>
              <a:p>
                <a:pPr>
                  <a:defRPr sz="1400" b="0">
                    <a:solidFill>
                      <a:srgbClr val="1A1A1A"/>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2</c:v>
              </c:pt>
              <c:pt idx="1">
                <c:v>2</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0-EB4C-FE40-98B2-CCC9CE8FC298}"/>
            </c:ext>
          </c:extLst>
        </c:ser>
        <c:ser>
          <c:idx val="1"/>
          <c:order val="1"/>
          <c:tx>
            <c:v>Moyen</c:v>
          </c:tx>
          <c:spPr>
            <a:solidFill>
              <a:srgbClr val="8A8F98"/>
            </a:solidFill>
            <a:ln>
              <a:solidFill>
                <a:srgbClr val="FFFFFF"/>
              </a:solidFill>
            </a:ln>
          </c:spPr>
          <c:invertIfNegative val="1"/>
          <c:dLbls>
            <c:numFmt formatCode="#,##0;\-#,##0;" sourceLinked="0"/>
            <c:spPr>
              <a:noFill/>
              <a:ln>
                <a:noFill/>
              </a:ln>
              <a:effectLst/>
            </c:spPr>
            <c:txPr>
              <a:bodyPr/>
              <a:lstStyle/>
              <a:p>
                <a:pPr>
                  <a:defRPr sz="1400" b="0">
                    <a:solidFill>
                      <a:srgbClr val="1A1A1A"/>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0</c:v>
              </c:pt>
              <c:pt idx="1">
                <c:v>6</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1-EB4C-FE40-98B2-CCC9CE8FC298}"/>
            </c:ext>
          </c:extLst>
        </c:ser>
        <c:ser>
          <c:idx val="2"/>
          <c:order val="2"/>
          <c:tx>
            <c:v>Élevé</c:v>
          </c:tx>
          <c:spPr>
            <a:solidFill>
              <a:srgbClr val="4A6E8A"/>
            </a:solidFill>
            <a:ln>
              <a:solidFill>
                <a:srgbClr val="FFFFFF"/>
              </a:solidFill>
            </a:ln>
          </c:spPr>
          <c:invertIfNegative val="1"/>
          <c:dLbls>
            <c:numFmt formatCode="#,##0;\-#,##0;" sourceLinked="0"/>
            <c:spPr>
              <a:noFill/>
              <a:ln>
                <a:noFill/>
              </a:ln>
              <a:effectLst/>
            </c:spPr>
            <c:txPr>
              <a:bodyPr/>
              <a:lstStyle/>
              <a:p>
                <a:pPr>
                  <a:defRPr sz="1400" b="0">
                    <a:solidFill>
                      <a:srgbClr val="FFFFFF"/>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3</c:v>
              </c:pt>
              <c:pt idx="1">
                <c:v>0</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2-EB4C-FE40-98B2-CCC9CE8FC298}"/>
            </c:ext>
          </c:extLst>
        </c:ser>
        <c:ser>
          <c:idx val="3"/>
          <c:order val="3"/>
          <c:tx>
            <c:v>Critique</c:v>
          </c:tx>
          <c:spPr>
            <a:solidFill>
              <a:srgbClr val="1F4E79"/>
            </a:solidFill>
            <a:ln>
              <a:solidFill>
                <a:srgbClr val="FFFFFF"/>
              </a:solidFill>
            </a:ln>
          </c:spPr>
          <c:invertIfNegative val="1"/>
          <c:dLbls>
            <c:numFmt formatCode="#,##0;\-#,##0;" sourceLinked="0"/>
            <c:spPr>
              <a:noFill/>
              <a:ln>
                <a:noFill/>
              </a:ln>
              <a:effectLst/>
            </c:spPr>
            <c:txPr>
              <a:bodyPr/>
              <a:lstStyle/>
              <a:p>
                <a:pPr>
                  <a:defRPr sz="1400" b="0">
                    <a:solidFill>
                      <a:srgbClr val="FFFFFF"/>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3</c:v>
              </c:pt>
              <c:pt idx="1">
                <c:v>0</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3-EB4C-FE40-98B2-CCC9CE8FC298}"/>
            </c:ext>
          </c:extLst>
        </c:ser>
        <c:ser>
          <c:idx val="4"/>
          <c:order val="4"/>
          <c:tx>
            <c:v>Totals</c:v>
          </c:tx>
          <c:spPr>
            <a:noFill/>
            <a:ln>
              <a:noFill/>
            </a:ln>
          </c:spPr>
          <c:invertIfNegative val="1"/>
          <c:dLbls>
            <c:numFmt formatCode="#,##0&quot; scénarios&quot;" sourceLinked="0"/>
            <c:spPr>
              <a:noFill/>
              <a:ln>
                <a:noFill/>
              </a:ln>
              <a:effectLst/>
            </c:spPr>
            <c:txPr>
              <a:bodyPr/>
              <a:lstStyle/>
              <a:p>
                <a:pPr>
                  <a:defRPr sz="1400" b="1">
                    <a:solidFill>
                      <a:srgbClr val="595959"/>
                    </a:solidFill>
                    <a:latin typeface="Segoe UI"/>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8</c:v>
              </c:pt>
              <c:pt idx="1">
                <c:v>8</c:v>
              </c:pt>
            </c:numLit>
          </c:val>
          <c:extLst>
            <c:ext xmlns:c16="http://schemas.microsoft.com/office/drawing/2014/chart" uri="{C3380CC4-5D6E-409C-BE32-E72D297353CC}">
              <c16:uniqueId val="{00000004-EB4C-FE40-98B2-CCC9CE8FC298}"/>
            </c:ext>
          </c:extLst>
        </c:ser>
        <c:dLbls>
          <c:showLegendKey val="0"/>
          <c:showVal val="0"/>
          <c:showCatName val="0"/>
          <c:showSerName val="0"/>
          <c:showPercent val="0"/>
          <c:showBubbleSize val="0"/>
        </c:dLbls>
        <c:gapWidth val="50"/>
        <c:overlap val="10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1A1A1A"/>
                </a:solidFill>
                <a:latin typeface="Segoe UI"/>
              </a:defRPr>
            </a:pPr>
            <a:endParaRPr lang="en-US"/>
          </a:p>
        </c:txPr>
        <c:crossAx val="2"/>
        <c:crosses val="autoZero"/>
        <c:auto val="1"/>
        <c:lblAlgn val="ctr"/>
        <c:lblOffset val="100"/>
        <c:noMultiLvlLbl val="1"/>
      </c:catAx>
      <c:valAx>
        <c:axId val="2"/>
        <c:scaling>
          <c:orientation val="minMax"/>
          <c:max val="10"/>
          <c:min val="0"/>
        </c:scaling>
        <c:delete val="1"/>
        <c:axPos val="l"/>
        <c:numFmt formatCode="General" sourceLinked="1"/>
        <c:majorTickMark val="none"/>
        <c:minorTickMark val="none"/>
        <c:tickLblPos val="none"/>
        <c:crossAx val="1"/>
        <c:crosses val="autoZero"/>
        <c:crossBetween val="between"/>
      </c:valAx>
      <c:spPr>
        <a:noFill/>
        <a:ln>
          <a:noFill/>
        </a:ln>
      </c:spPr>
    </c:plotArea>
    <c:legend>
      <c:legendPos val="b"/>
      <c:legendEntry>
        <c:idx val="4"/>
        <c:delete val="1"/>
      </c:legendEntry>
      <c:overlay val="0"/>
      <c:txPr>
        <a:bodyPr rot="0" vert="horz"/>
        <a:lstStyle/>
        <a:p>
          <a:pPr>
            <a:defRPr sz="1400" b="0">
              <a:solidFill>
                <a:srgbClr val="3C3C3C"/>
              </a:solidFill>
              <a:latin typeface="Segoe UI"/>
            </a:defRPr>
          </a:pPr>
          <a:endParaRPr lang="en-US"/>
        </a:p>
      </c:txPr>
    </c:legend>
    <c:plotVisOnly val="1"/>
    <c:dispBlanksAs val="gap"/>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C1DF72-3AE9-DC48-AC73-6913F76D8B60}" type="datetimeFigureOut">
              <a:rPr lang="en-FR" smtClean="0"/>
              <a:t>16/09/2026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BDED24-37C4-074C-AE90-3D14477ED167}" type="slidenum">
              <a:rPr lang="en-FR" smtClean="0"/>
              <a:t>‹#›</a:t>
            </a:fld>
            <a:endParaRPr lang="en-FR"/>
          </a:p>
        </p:txBody>
      </p:sp>
    </p:spTree>
    <p:extLst>
      <p:ext uri="{BB962C8B-B14F-4D97-AF65-F5344CB8AC3E}">
        <p14:creationId xmlns:p14="http://schemas.microsoft.com/office/powerpoint/2010/main" val="1492911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 · Titre — 0:00 → 0:20 · Miguel</a:t>
            </a:r>
          </a:p>
          <a:p>
            <a:r>
              <a:rPr lang="fr-FR" dirty="0"/>
              <a:t>Bonjour.</a:t>
            </a:r>
          </a:p>
          <a:p>
            <a:r>
              <a:rPr lang="fr-FR" dirty="0"/>
              <a:t>Miguel Monereo, Maxime. On s'occupe de la sécurité chez MERIDIAN Logistique.</a:t>
            </a:r>
          </a:p>
          <a:p>
            <a:r>
              <a:rPr lang="fr-FR" dirty="0"/>
              <a:t>On a dix-huit minutes. On ne vient pas vous faire un rapport. On vient vous demander quatre décisions, et vous dire ce qu'elles coûtent.</a:t>
            </a:r>
          </a:p>
          <a:p>
            <a:r>
              <a:rPr lang="fr-FR" dirty="0"/>
              <a:t>[→ clic tout de suite. Pas de slide « sommaire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2 · Le message — 0:20 → 1:05 · Miguel</a:t>
            </a:r>
          </a:p>
          <a:p>
            <a:r>
              <a:rPr lang="fr-FR" dirty="0"/>
              <a:t>Je vous donne la fin tout de suite.</a:t>
            </a:r>
          </a:p>
          <a:p>
            <a:r>
              <a:rPr lang="fr-FR" dirty="0"/>
              <a:t>Quarante pour cent de ce que le groupe expédie passe par un seul système : celui qui gère nos six entrepôts. Il est sur un seul site, sans secours. Et on n'a jamais vérifié qu'on savait le redémarrer.</a:t>
            </a:r>
          </a:p>
          <a:p>
            <a:r>
              <a:rPr lang="fr-FR" dirty="0"/>
              <a:t>Une journée d'arrêt, ça nous coûte douze mille euros de pénalités. Ce n'est pas une estimation. C'est écrit dans notre contrat.</a:t>
            </a:r>
          </a:p>
          <a:p>
            <a:r>
              <a:rPr lang="fr-FR" dirty="0"/>
              <a:t>[si le temps] En 2017, la même situation a coûté trois cents millions de dollars à un transporteur européen. Maxime y reviendra.</a:t>
            </a:r>
          </a:p>
          <a:p>
            <a:r>
              <a:rPr lang="fr-FR" dirty="0"/>
              <a:t>On vient vous demander quatre-vingt-deux mille euros par an.</a:t>
            </a:r>
          </a:p>
          <a:p>
            <a:r>
              <a:rPr lang="fr-FR" dirty="0"/>
              <a:t>LE PLAN COMPLET COÛTE MOINS DE SEPT JOURS D'ARRÊT.</a:t>
            </a:r>
          </a:p>
          <a:p>
            <a:r>
              <a:rPr lang="fr-FR" dirty="0"/>
              <a:t>Voilà la décision. Les quinze minutes qui suivent l'expliquent.</a:t>
            </a:r>
          </a:p>
          <a:p>
            <a:r>
              <a:rPr lang="fr-FR" dirty="0"/>
              <a:t>[→ une seconde de pause.]</a:t>
            </a:r>
          </a:p>
          <a:p>
            <a:r>
              <a:rPr lang="fr-FR" dirty="0"/>
              <a:t>Commençons par ce qu'on protège.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3 · Ce qu'on protège — 1:05 → 3:00 · Miguel</a:t>
            </a:r>
          </a:p>
          <a:p>
            <a:r>
              <a:rPr lang="fr-FR" dirty="0"/>
              <a:t>Première question : qu'est-ce qu'on protège ?</a:t>
            </a:r>
          </a:p>
          <a:p>
            <a:r>
              <a:rPr lang="fr-FR" dirty="0"/>
              <a:t>On a fait la carte de la filiale. Quatre activités. Treize outils et équipements pour les faire tourner. Et parmi eux, cinq qui comptent plus que les autres.</a:t>
            </a:r>
          </a:p>
          <a:p>
            <a:r>
              <a:rPr lang="fr-FR" dirty="0"/>
              <a:t>Un mot sur la méthode — elle vaut plus que la liste. ON A ÉCRIT LA RÈGLE DU CLASSEMENT AVANT DE CLASSER.</a:t>
            </a:r>
          </a:p>
          <a:p>
            <a:r>
              <a:rPr lang="fr-FR" dirty="0"/>
              <a:t>Quatre conditions. L'activité derrière est vitale. Si on y touche, ça dépasse la filiale. La faiblesse est connue, et elle est réelle aujourd'hui. Et il n'y a pas de remplacement rapide.</a:t>
            </a:r>
          </a:p>
          <a:p>
            <a:r>
              <a:rPr lang="fr-FR" dirty="0"/>
              <a:t>Deux choses ressortent. Ce sont les deux que j'aimerais que vous gardiez.</a:t>
            </a:r>
          </a:p>
          <a:p>
            <a:r>
              <a:rPr lang="fr-FR" dirty="0"/>
              <a:t>La première, c'est la portée. Ces cinq-là débordent la filiale. Numéro un, le système de gestion d'entrepôt : s'il s'arrête, c'est quarante pour cent du volume du groupe.</a:t>
            </a:r>
          </a:p>
          <a:p>
            <a:r>
              <a:rPr lang="fr-FR" dirty="0"/>
              <a:t>[si le temps] Numéro quatre, le logiciel des sondes de température : il porte deux choses à la fois. La chaîne du froid, et la preuve qu'on doit à notre client pharmaceutique.</a:t>
            </a:r>
          </a:p>
          <a:p>
            <a:r>
              <a:rPr lang="fr-FR" dirty="0"/>
              <a:t>La deuxième est plus surprenante. [→ pause.]</a:t>
            </a:r>
          </a:p>
          <a:p>
            <a:r>
              <a:rPr lang="fr-FR" dirty="0"/>
              <a:t>Numéro trois : notre responsable d'exploitation. Ce n'est ni un serveur, ni un logiciel. C'est quelqu'un. Il est le seul à connaître l'organisation des six entrepôts. Rien n'est écrit.</a:t>
            </a:r>
          </a:p>
          <a:p>
            <a:r>
              <a:rPr lang="fr-FR" dirty="0"/>
              <a:t>C'EST LE SEUL DE LA LISTE QU'AUCUN BUDGET NE REMPLACE APRÈS COUP.</a:t>
            </a:r>
          </a:p>
          <a:p>
            <a:r>
              <a:rPr lang="fr-FR" dirty="0"/>
              <a:t>[si le temps] Les deux autres, je les cite parce qu'ils reviennent dans une minute. Numéro deux, le compte technique qui pilote nos machines de tri : même mot de passe sur les six sites depuis 2019. Numéro cinq, les machines de tri elles-mêmes.</a:t>
            </a:r>
          </a:p>
          <a:p>
            <a:r>
              <a:rPr lang="fr-FR" dirty="0"/>
              <a:t>[si le temps] Et pour vous montrer qu'on a vraiment trié : nos trois cents scannettes n'y sont pas, elles sont nombreuses donc remplaçables. Le local serveur non plus — s'il chauffe, on le voit venir.</a:t>
            </a:r>
          </a:p>
          <a:p>
            <a:r>
              <a:rPr lang="fr-FR" dirty="0"/>
              <a:t>Voilà ce qu'on protège. Question suivante : est-ce que c'est protégé ?</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4 · Ce que la mesure a donné — 3:00 → 5:00 · Miguel (checkpoint 5:00)</a:t>
            </a:r>
          </a:p>
          <a:p>
            <a:r>
              <a:rPr lang="fr-FR" dirty="0"/>
              <a:t>On l'a mesuré. Pour la première fois. Avec le référentiel que vous avez adopté.</a:t>
            </a:r>
          </a:p>
          <a:p>
            <a:r>
              <a:rPr lang="fr-FR" dirty="0"/>
              <a:t>Le résultat tient en une phrase. ON A DES FONDATIONS ÉCRITES, ON N'A JAMAIS PROUVÉ QU'ELLES S'APPLIQUENT, ET ON A DES TROUS QU'ON NOMME.</a:t>
            </a:r>
          </a:p>
          <a:p>
            <a:r>
              <a:rPr lang="fr-FR" dirty="0"/>
              <a:t>Sur ce qu'on a regardé, presque rien n'est en place. Je dis bien : sur ce qu'on a regardé.</a:t>
            </a:r>
          </a:p>
          <a:p>
            <a:r>
              <a:rPr lang="fr-FR" dirty="0"/>
              <a:t>[si le temps] Jamais « on est conforme à neuf pour cent ». La nuance compte devant un client — la deuxième formule se retourne contre nous au premier contrôle.</a:t>
            </a:r>
          </a:p>
          <a:p>
            <a:r>
              <a:rPr lang="fr-FR" dirty="0"/>
              <a:t>Mais le vrai message de cette page, ce n'est pas ce chiffre. [→ pause. Montrer la ligne surlignée.]</a:t>
            </a:r>
          </a:p>
          <a:p>
            <a:r>
              <a:rPr lang="fr-FR" dirty="0"/>
              <a:t>Regardez la ligne « Physique ». Zéro exigence examinée sur quatorze. Zéro. Alors qu'on exploite six entrepôts, des chambres froides, et un seul local serveur.</a:t>
            </a:r>
          </a:p>
          <a:p>
            <a:r>
              <a:rPr lang="fr-FR" dirty="0"/>
              <a:t>Ce n'est pas un mauvais résultat. C'est un trou dans notre propre évaluation. Et il n'apparaît que parce qu'on a détaillé domaine par domaine. Le total seul le cachait.</a:t>
            </a:r>
          </a:p>
          <a:p>
            <a:r>
              <a:rPr lang="fr-FR" dirty="0"/>
              <a:t>Deuxième point : les deux problèmes les plus graves touchent le même système. Le système de gestion d'entrepôt. Le numéro un de la page d'avant.</a:t>
            </a:r>
          </a:p>
          <a:p>
            <a:r>
              <a:rPr lang="fr-FR" dirty="0"/>
              <a:t>D'un côté, le réseau de bureau et le réseau des machines de tri ne sont pas séparés. De l'autre, un compte d'administration est partagé avec notre prestataire de maintenance — et on ne sait pas combien de gens s'en servent.</a:t>
            </a:r>
          </a:p>
          <a:p>
            <a:r>
              <a:rPr lang="fr-FR" dirty="0"/>
              <a:t>Dernière chose, et je préfère la dire moi-même. Cette mesure, c'est nous qui l'avons faite. Il lui manque l'indépendance. Notre rapport l'écrit en première page.</a:t>
            </a:r>
          </a:p>
          <a:p>
            <a:r>
              <a:rPr lang="fr-FR" dirty="0"/>
              <a:t>[→ passage de parole.] Maxime prend la suite : contre qui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5 · Trois acteurs, trois cibles — 5:00 → 6:30 · Maxime</a:t>
            </a:r>
          </a:p>
          <a:p>
            <a:r>
              <a:rPr lang="fr-FR" dirty="0"/>
              <a:t>Maxime. Je prends les risques, les partenaires et le périmètre.</a:t>
            </a:r>
          </a:p>
          <a:p>
            <a:r>
              <a:rPr lang="fr-FR" dirty="0"/>
              <a:t>On a regardé cinq profils d'attaquants. On en garde trois.</a:t>
            </a:r>
          </a:p>
          <a:p>
            <a:r>
              <a:rPr lang="fr-FR" dirty="0"/>
              <a:t>[si le temps] Les deux qu'on écarte, on écrit pourquoi. C'est un choix, pas un oubli.</a:t>
            </a:r>
          </a:p>
          <a:p>
            <a:r>
              <a:rPr lang="fr-FR" dirty="0"/>
              <a:t>Le premier : un groupe criminel organisé. Il chiffre le système de gestion d'entrepôt, l'expédition s'arrête, il demande une rançon.</a:t>
            </a:r>
          </a:p>
          <a:p>
            <a:r>
              <a:rPr lang="fr-FR" dirty="0"/>
              <a:t>Le deuxième : quelqu'un de chez nous. Un salarié en colère, ou sur le départ. Il fausse les données de préparation, et il part avec le savoir-faire des six sites — celui de notre responsable d'exploitation, le numéro trois de Miguel, celui qui n'est écrit nulle part.</a:t>
            </a:r>
          </a:p>
          <a:p>
            <a:r>
              <a:rPr lang="fr-FR" dirty="0"/>
              <a:t>C'EST LE SEUL DES TROIS QUI N'A AUCUNE PORTE À FORCER.</a:t>
            </a:r>
          </a:p>
          <a:p>
            <a:r>
              <a:rPr lang="fr-FR" dirty="0"/>
              <a:t>Le troisième : un concurrent. Il récupère nos données d'exploitation et celles de notre client pharmaceutique.</a:t>
            </a:r>
          </a:p>
          <a:p>
            <a:r>
              <a:rPr lang="fr-FR" dirty="0"/>
              <a:t>Ce qui compte, ce n'est pas la liste. C'est que chacun des trois vise un des cinq éléments de Miguel.</a:t>
            </a:r>
          </a:p>
          <a:p>
            <a:r>
              <a:rPr lang="fr-FR" dirty="0"/>
              <a:t>Le criminel vise le système d'entrepôt, le numéro un. Le salarié vise les données de préparation et le savoir-faire, le numéro trois. Le concurrent vise les données du client pharmaceutique, qui vivent dans le logiciel des sondes, le numéro quatre.</a:t>
            </a:r>
          </a:p>
          <a:p>
            <a:r>
              <a:rPr lang="fr-FR" dirty="0"/>
              <a:t>Une analyse qui les ignorerait décrirait une autre entreprise que la nôtre.</a:t>
            </a:r>
          </a:p>
          <a:p>
            <a:r>
              <a:rPr lang="fr-FR" dirty="0"/>
              <a:t>Il y a un quatrième acteur : le prestataire qui installe et entretient nos machines de tri. Je le garde pour dans deux minutes. Il n'entre pas par la même porte.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6 · Le pire, et pourquoi c'est crédible — 6:30 → 8:00 · Maxime</a:t>
            </a:r>
          </a:p>
          <a:p>
            <a:r>
              <a:rPr lang="fr-FR" dirty="0"/>
              <a:t>Dans tout ça, un événement se détache. L'expédition qui s'arrête, sans prévenir, plus de six heures.</a:t>
            </a:r>
          </a:p>
          <a:p>
            <a:r>
              <a:rPr lang="fr-FR" dirty="0"/>
              <a:t>Que ce soit grave, vous le savez déjà. Quarante pour cent du volume du groupe. Douze mille euros par jour. Ce n'est pas ce que je viens vous dire.</a:t>
            </a:r>
          </a:p>
          <a:p>
            <a:r>
              <a:rPr lang="fr-FR" dirty="0"/>
              <a:t>Je viens vous dire que c'est CRÉDIBLE. Trois faits.</a:t>
            </a:r>
          </a:p>
          <a:p>
            <a:r>
              <a:rPr lang="fr-FR" dirty="0"/>
              <a:t>Un. Le système est sur un seul site. Sans secours.</a:t>
            </a:r>
          </a:p>
          <a:p>
            <a:r>
              <a:rPr lang="fr-FR" dirty="0"/>
              <a:t>Deux. Nos sauvegardes tournent tous les jours. Elles n'ont jamais été restaurées. Pas une fois depuis la mise en service. Donc on ne sait pas si elles marchent.</a:t>
            </a:r>
          </a:p>
          <a:p>
            <a:r>
              <a:rPr lang="fr-FR" dirty="0"/>
              <a:t>Trois. [→ pause.] C'est déjà arrivé. En avril.</a:t>
            </a:r>
          </a:p>
          <a:p>
            <a:r>
              <a:rPr lang="fr-FR" dirty="0"/>
              <a:t>Le système s'est arrêté. Trois chefs d'entrepôt ont appelé le prestataire. Deux ont appelé l'intégrateur. Un a appelé le responsable informatique, qui était en congé. Et personne n'a noté l'heure.</a:t>
            </a:r>
          </a:p>
          <a:p>
            <a:r>
              <a:rPr lang="fr-FR" dirty="0"/>
              <a:t>Résultat : aujourd'hui, je ne peux pas vous dire combien de temps il nous faut pour repartir.</a:t>
            </a:r>
          </a:p>
          <a:p>
            <a:r>
              <a:rPr lang="fr-FR" dirty="0"/>
              <a:t>C'est exactement ce que le test de restauration va mesurer. C'est la première échéance du plan : le 14 novembre.</a:t>
            </a:r>
          </a:p>
          <a:p>
            <a:r>
              <a:rPr lang="fr-FR" dirty="0"/>
              <a:t>Et il y a une porte d'entrée qu'on n'avait pas vue en premier.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7 · Le risque entre par le contrat — 8:00 → 9:45 · Maxime (checkpoint 9:45)</a:t>
            </a:r>
          </a:p>
          <a:p>
            <a:r>
              <a:rPr lang="fr-FR" dirty="0"/>
              <a:t>On a noté nos cinq partenaires sur deux choses. À quel point on dépend d'eux. Et à quel point on les maîtrise.</a:t>
            </a:r>
          </a:p>
          <a:p>
            <a:r>
              <a:rPr lang="fr-FR" dirty="0"/>
              <a:t>LE SEUIL A ÉTÉ FIXÉ AVANT LA NOTATION. IL EST À QUATRE.</a:t>
            </a:r>
          </a:p>
          <a:p>
            <a:r>
              <a:rPr lang="fr-FR" dirty="0"/>
              <a:t>Deux partenaires le dépassent.</a:t>
            </a:r>
          </a:p>
          <a:p>
            <a:r>
              <a:rPr lang="fr-FR" dirty="0"/>
              <a:t>Le premier, tout en haut : l'intégrateur de nos machines de tri. Il est noté douze. Il est connecté en permanence à nos machines, par une liaison mobile qui ne passe pas par notre réseau surveillé. Son contrat ne contient aucune exigence de sécurité. Aucune.</a:t>
            </a:r>
          </a:p>
          <a:p>
            <a:r>
              <a:rPr lang="fr-FR" dirty="0"/>
              <a:t>Le deuxième, juste en dessous : le prestataire qui maintient le système de gestion d'entrepôt. Il est noté huit. Il intervient avec un compte partagé. On ne sait pas combien de personnes s'en servent.</a:t>
            </a:r>
          </a:p>
          <a:p>
            <a:r>
              <a:rPr lang="fr-FR" dirty="0"/>
              <a:t>Les trois autres partenaires sont à un, ou en dessous. L'écart n'est pas discutable.</a:t>
            </a:r>
          </a:p>
          <a:p>
            <a:r>
              <a:rPr lang="fr-FR" dirty="0"/>
              <a:t>[si le temps] Ce ne sont pas nos plus gros fournisseurs. Ce sont ceux dont on dépend le plus, et qu'on maîtrise le moins.</a:t>
            </a:r>
          </a:p>
          <a:p>
            <a:r>
              <a:rPr lang="fr-FR" dirty="0"/>
              <a:t>Voilà pourquoi le pire scénario, pour nous, ce n'est pas quelqu'un qui force notre porte. C'est quelqu'un qui entre par celle de notre prestataire. Une porte qu'on lui a ouverte par contrat.</a:t>
            </a:r>
          </a:p>
          <a:p>
            <a:r>
              <a:rPr lang="fr-FR" dirty="0"/>
              <a:t>En 2017, un transporteur européen s'est retrouvé exactement là. Il n'était pas visé. Il n'a pas été piraté. Il a installé, de bonne foi, la mise à jour d'un fournisseur compromis. Deux cent cinquante à trois cents millions de dollars. En un trimestre.</a:t>
            </a:r>
          </a:p>
          <a:p>
            <a:r>
              <a:rPr lang="fr-FR" dirty="0"/>
              <a:t>Je le résume comme ça : CHEZ NOUS, LE POINT D'ENTRÉE EST SIGNÉ. IL N'EST PAS PIRATÉ.</a:t>
            </a:r>
          </a:p>
          <a:p>
            <a:r>
              <a:rPr lang="fr-FR" dirty="0"/>
              <a:t>Et un risque qui entre par un contrat, ça se traite par un contrat.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8 · La règle qu'on adopte — 9:45 → 10:35 · Maxime</a:t>
            </a:r>
          </a:p>
          <a:p>
            <a:r>
              <a:rPr lang="fr-FR" dirty="0"/>
              <a:t>Donc voilà la règle qu'on vous propose.</a:t>
            </a:r>
          </a:p>
          <a:p>
            <a:r>
              <a:rPr lang="fr-FR" dirty="0"/>
              <a:t>Aucun contrat qui donne accès à un de nos cinq éléments critiques — le système d'entrepôt en premier — n'est signé ni renouvelé sans trois choses.</a:t>
            </a:r>
          </a:p>
          <a:p>
            <a:r>
              <a:rPr lang="fr-FR" dirty="0"/>
              <a:t>Savoir qui a fait quoi, nom par nom. Être prévenus en vingt-quatre heures si le prestataire se fait attaquer. Et pouvoir partir.</a:t>
            </a:r>
          </a:p>
          <a:p>
            <a:r>
              <a:rPr lang="fr-FR" dirty="0"/>
              <a:t>Ça ne coûte rien la première année. Ce sont des conditions de signature, pas des achats. C'est la direction juridique qui les oppose. Avant de signer.</a:t>
            </a:r>
          </a:p>
          <a:p>
            <a:r>
              <a:rPr lang="fr-FR" dirty="0"/>
              <a:t>Premier cas d'application : le contrat de maintenance du système de gestion d'entrepôt.</a:t>
            </a:r>
          </a:p>
          <a:p>
            <a:r>
              <a:rPr lang="fr-FR" dirty="0"/>
              <a:t>IL ARRIVE À RENOUVELLEMENT EN NOVEMBRE. ET AUJOURD'HUI, IL N'EN CONTIENT AUCUNE DES TROIS.</a:t>
            </a:r>
          </a:p>
          <a:p>
            <a:r>
              <a:rPr lang="fr-FR" dirty="0"/>
              <a:t>[si le temps] On applique la même logique aux projets : six étapes de sécurité, chacune avec un critère vérifiable. Premier projet concerné, la reprise du flux vers MERIDIAN Santé, bloqué depuis trois mois.</a:t>
            </a:r>
          </a:p>
          <a:p>
            <a:r>
              <a:rPr lang="fr-FR" dirty="0"/>
              <a:t>[→ passage de parole.]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9 · Le registre après traitement — 10:35 → 11:50 · Miguel</a:t>
            </a:r>
          </a:p>
          <a:p>
            <a:r>
              <a:rPr lang="fr-FR" dirty="0"/>
              <a:t>Miguel. Je reprends pour le plan et le budget.</a:t>
            </a:r>
          </a:p>
          <a:p>
            <a:r>
              <a:rPr lang="fr-FR" dirty="0"/>
              <a:t>Voilà où on en est après traitement. Huit risques au registre. Avant : trois risques élevés. Après : zéro élevé, six moyens, deux faibles.</a:t>
            </a:r>
          </a:p>
          <a:p>
            <a:r>
              <a:rPr lang="fr-FR" dirty="0"/>
              <a:t>Ça suppose une règle, et c'est la première chose qu'on vous demande de confirmer. Je la dis simplement.</a:t>
            </a:r>
          </a:p>
          <a:p>
            <a:r>
              <a:rPr lang="fr-FR" dirty="0"/>
              <a:t>Risque élevé : inacceptable. On le traite avant toute mise en service. Risque moyen : toléré. Mais daté, surveillé, confié à quelqu'un de nommé. Risque faible : accepté tel quel.</a:t>
            </a:r>
          </a:p>
          <a:p>
            <a:r>
              <a:rPr lang="fr-FR" dirty="0"/>
              <a:t>Maintenant, l'honnêteté. [→ pause.]</a:t>
            </a:r>
          </a:p>
          <a:p>
            <a:r>
              <a:rPr lang="fr-FR" dirty="0"/>
              <a:t>ON NE FERME AUCUN RISQUE.</a:t>
            </a:r>
          </a:p>
          <a:p>
            <a:r>
              <a:rPr lang="fr-FR" dirty="0"/>
              <a:t>Aucun ne disparaît. Ils passent d'inacceptable à toléré-formalisé. Ce n'est pas la même chose. Et on ne le maquille pas.</a:t>
            </a:r>
          </a:p>
          <a:p>
            <a:r>
              <a:rPr lang="fr-FR" dirty="0"/>
              <a:t>Il y a sept fiches d'acceptation à signer. Et on ne vous demande aucune dérogation. C'est une position, pas un détail.</a:t>
            </a:r>
          </a:p>
          <a:p>
            <a:r>
              <a:rPr lang="fr-FR" dirty="0"/>
              <a:t>[si le temps] Un exemple, pour montrer que la règle est vraiment appliquée. Sur la chaîne du froid, on prend une mesure, et le risque ne baisse pas. Parce que cette mesure surveille, elle ne corrige pas. On ne baisse pas un niveau parce qu'on a agi. On le baisse quand la cause a changé.</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10 · Treize mesures, rangées par décision — 11:50 → 12:50 · Miguel</a:t>
            </a:r>
          </a:p>
          <a:p>
            <a:r>
              <a:rPr lang="fr-FR" dirty="0"/>
              <a:t>Le plan, maintenant. Treize mesures. On les a rangées par décision, pas par risque. C'est volontaire.</a:t>
            </a:r>
          </a:p>
          <a:p>
            <a:r>
              <a:rPr lang="fr-FR" dirty="0"/>
              <a:t>VOUS NE SIGNEZ PAS UN SCÉNARIO. VOUS SIGNEZ UN AVENANT, UN BUDGET, OU UNE ACCEPTATION.</a:t>
            </a:r>
          </a:p>
          <a:p>
            <a:r>
              <a:rPr lang="fr-FR" dirty="0"/>
              <a:t>Cinq relèvent de vous. Un avenant avec le prestataire de maintenance. Un avenant avec l'intégrateur des machines de tri. L'acceptation formelle du risque sur la chaîne du froid. L'acceptation simple sur les données du client. Et le pilotage du projet avec MERIDIAN Santé.</a:t>
            </a:r>
          </a:p>
          <a:p>
            <a:r>
              <a:rPr lang="fr-FR" dirty="0"/>
              <a:t>Huit relèvent de l'exécution. Et dans ces huit, deux comptent double. Elles traitent plusieurs risques à la fois.</a:t>
            </a:r>
          </a:p>
          <a:p>
            <a:r>
              <a:rPr lang="fr-FR" dirty="0"/>
              <a:t>La première : des comptes nominatifs et une authentification forte pour le prestataire de maintenance. La deuxième : séparer le réseau de bureau du réseau des machines de tri, sur les six sites.</a:t>
            </a:r>
          </a:p>
          <a:p>
            <a:r>
              <a:rPr lang="fr-FR" dirty="0"/>
              <a:t>Si vous ne deviez en financer que deux, c'est celles-là.</a:t>
            </a:r>
          </a:p>
          <a:p>
            <a:r>
              <a:rPr lang="fr-FR" dirty="0"/>
              <a:t>[si le temps] Chaque mesure a un responsable nommé et une date. La plus proche, c'est le test de restauration, en novembre. La plus lointaine, c'est la mise par écrit du savoir-faire des six entrepôts, en septembre 2027.</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11 · L'arbitrage — 12:50 → 13:50 · Miguel</a:t>
            </a:r>
          </a:p>
          <a:p>
            <a:r>
              <a:rPr lang="fr-FR" dirty="0"/>
              <a:t>Et voilà ce que ça coûte.</a:t>
            </a:r>
          </a:p>
          <a:p>
            <a:r>
              <a:rPr lang="fr-FR" dirty="0"/>
              <a:t>À gauche, ce qu'on demande. Quatre-vingt-deux mille euros par an. Treize mesures. Un coût certain, annuel, plafonné.</a:t>
            </a:r>
          </a:p>
          <a:p>
            <a:r>
              <a:rPr lang="fr-FR" dirty="0"/>
              <a:t>À droite, ce qu'on évite. Douze mille euros pour une seule journée d'arrêt du système d'entrepôt. Déjà le tiers du budget annuel du plan — pour une seule journée de l'arrêt que ce plan traite. Et plusieurs millions si le rançongiciel aboutit.</a:t>
            </a:r>
          </a:p>
          <a:p>
            <a:r>
              <a:rPr lang="fr-FR" dirty="0"/>
              <a:t>La phrase que j'aimerais que vous gardiez, c'est celle-là. [→ pause.]</a:t>
            </a:r>
          </a:p>
          <a:p>
            <a:r>
              <a:rPr lang="fr-FR" dirty="0"/>
              <a:t>UN COÛT CERTAIN, ANNUEL, PLAFONNÉ — CONTRE UNE PERTE PROBABLE, ET SANS PLAFOND. UNE PERTE QUI SE RÉALISE EN UN JOUR DE PLUS QUE LE PLAN NE COÛTE EN UN AN.</a:t>
            </a:r>
          </a:p>
          <a:p>
            <a:r>
              <a:rPr lang="fr-FR" dirty="0"/>
              <a:t>[si le temps] Un mot sur la solidité des chiffres. Le douze mille est contractuel. La borne haute est un ordre de grandeur, et on l'assume comme tel. C'est justement pour la remplacer par un chiffre mesuré qu'on demande le test de novembre.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12 · Ce qui reste ouvert — 13:50 → 14:35 · Miguel (checkpoint 14:35)</a:t>
            </a:r>
          </a:p>
          <a:p>
            <a:r>
              <a:rPr lang="fr-FR" dirty="0"/>
              <a:t>Trois choses n'ont pas de réponse aujourd'hui. Chacune a une date. Je préfère vous les donner plutôt que d'attendre que vous les trouviez.</a:t>
            </a:r>
          </a:p>
          <a:p>
            <a:r>
              <a:rPr lang="fr-FR" dirty="0"/>
              <a:t>Un. Combien de temps il nous faut pour redémarrer le système d'entrepôt après un arrêt. On ne le sait pas. Ça se lève au test de restauration, le 14 novembre.</a:t>
            </a:r>
          </a:p>
          <a:p>
            <a:r>
              <a:rPr lang="fr-FR" dirty="0"/>
              <a:t>Deux. Le risque qui passe par l'intégrateur de nos machines de tri — celui qui est noté douze — reste à moyen. Et il ne descendra pas plus bas, quel que soit le budget.</a:t>
            </a:r>
          </a:p>
          <a:p>
            <a:r>
              <a:rPr lang="fr-FR" dirty="0"/>
              <a:t>[si le temps] C'est une limite de ce type de partenaire, pas un échec du plan.</a:t>
            </a:r>
          </a:p>
          <a:p>
            <a:r>
              <a:rPr lang="fr-FR" dirty="0"/>
              <a:t>Ça se revoit dans douze mois au plus tard.</a:t>
            </a:r>
          </a:p>
          <a:p>
            <a:r>
              <a:rPr lang="fr-FR" dirty="0"/>
              <a:t>Trois. La reprise du flux vers MERIDIAN Santé n'atteint sa cible qu'au sixième et dernier jalon du projet. En septembre 2027. D'ici là, le risque reste élevé dans les faits.</a:t>
            </a:r>
          </a:p>
          <a:p>
            <a:r>
              <a:rPr lang="fr-FR" dirty="0"/>
              <a:t>[→ passage de parole.] Maxime conclut.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13 · Deux périmètres, et comment vous le saurez — 14:35 → 16:05 · Maxime</a:t>
            </a:r>
          </a:p>
          <a:p>
            <a:r>
              <a:rPr lang="fr-FR" dirty="0"/>
              <a:t>Deux périmètres. Et c'est un choix.</a:t>
            </a:r>
          </a:p>
          <a:p>
            <a:r>
              <a:rPr lang="fr-FR" dirty="0"/>
              <a:t>Le système de management couvre la filiale entière. Six exclusions nommées. Quatre interfaces déclarées.</a:t>
            </a:r>
          </a:p>
          <a:p>
            <a:r>
              <a:rPr lang="fr-FR" dirty="0"/>
              <a:t>[si le temps] Les six exclusions, pour que vous sachiez ce qu'on ne couvre pas : les trois autres filiales, la paie qui est tenue par le holding, l'hébergement du logiciel des sondes chez son fournisseur, le centre de supervision du groupe, le flux d'urgence qui appartient à MERIDIAN Santé, et la flotte de véhicules.</a:t>
            </a:r>
          </a:p>
          <a:p>
            <a:r>
              <a:rPr lang="fr-FR" dirty="0"/>
              <a:t>Le périmètre de la première certification est plus étroit. Seulement les services que reçoit notre client pharmaceutique. Avec une exception écrite : l'automatisation du site E4 en est exclue. Jusqu'au 14 juin 2027.</a:t>
            </a:r>
          </a:p>
          <a:p>
            <a:r>
              <a:rPr lang="fr-FR" dirty="0"/>
              <a:t>Pourquoi ? Parce que le site E4 sert ce client, et qu'il porte aussi des machines de tri — le numéro cinq de la liste de Miguel — sur un réseau qui n'est pas séparé du reste.</a:t>
            </a:r>
          </a:p>
          <a:p>
            <a:r>
              <a:rPr lang="fr-FR" dirty="0"/>
              <a:t>CERTIFIER CE PÉRIMÈTRE AUJOURD'HUI, CE SERAIT CERTIFIER CE DÉFAUT.</a:t>
            </a:r>
          </a:p>
          <a:p>
            <a:r>
              <a:rPr lang="fr-FR" dirty="0"/>
              <a:t>Et l'exclusion tombera sur preuve. Pas à la date.</a:t>
            </a:r>
          </a:p>
          <a:p>
            <a:r>
              <a:rPr lang="fr-FR" dirty="0"/>
              <a:t>[si le temps] On ne fait pas attendre le client dix-huit mois pour autant. On lui répond dès maintenant, au titre d'une démarche documentée équivalente. Le référentiel, l'audit, le plan chiffré. Les trois pièces existent.</a:t>
            </a:r>
          </a:p>
          <a:p>
            <a:r>
              <a:rPr lang="fr-FR" dirty="0"/>
              <a:t>Dernier point. Comment vous saurez que tout ça tient ? Sept indicateurs. Un point trimestriel. Une revue annuelle.</a:t>
            </a:r>
          </a:p>
          <a:p>
            <a:r>
              <a:rPr lang="fr-FR" dirty="0"/>
              <a:t>Chacun se présente de la même façon : CE CHIFFRE VOUS DIT SI… ET S'IL PASSE LE SEUIL, LA DÉCISION À PRENDRE EST…</a:t>
            </a:r>
          </a:p>
          <a:p>
            <a:r>
              <a:rPr lang="fr-FR" dirty="0"/>
              <a:t>Un seul exemple : l'indicateur qui commande cette page. L'avancement de la séparation des réseaux. Zéro entrepôt sur six aujourd'hui. Ce chiffre vous dit si l'exclusion du site E4 peut tomber au 14 juin 2027. S'il n'est pas à six sur six à cette date, la décision, c'est : ou on reporte la certification, ou on la lance sans ce site.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14 · Ce qu'on vous demande de signer — 16:05 → 17:20 · Miguel puis Maxime</a:t>
            </a:r>
          </a:p>
          <a:p>
            <a:r>
              <a:rPr lang="fr-FR" dirty="0"/>
              <a:t>MIGUEL :</a:t>
            </a:r>
          </a:p>
          <a:p>
            <a:r>
              <a:rPr lang="fr-FR" dirty="0"/>
              <a:t>Voilà ce qu'on vous demande de signer. Quatre décisions. Pas une de plus.</a:t>
            </a:r>
          </a:p>
          <a:p>
            <a:r>
              <a:rPr lang="fr-FR" dirty="0"/>
              <a:t>Un. Confirmer la règle d'acceptation du risque que j'ai donnée tout à l'heure. C'est la direction générale qui la fixe. Le conseil l'approuve. Sans elle, nos treize mesures n'ont plus d'ordre de priorité.</a:t>
            </a:r>
          </a:p>
          <a:p>
            <a:r>
              <a:rPr lang="fr-FR" dirty="0"/>
              <a:t>Deux. Financer le plan. Quatre-vingt-deux mille euros par an. Sur l'exercice 2027.</a:t>
            </a:r>
          </a:p>
          <a:p>
            <a:r>
              <a:rPr lang="fr-FR" dirty="0"/>
              <a:t>MAXIME :</a:t>
            </a:r>
          </a:p>
          <a:p>
            <a:r>
              <a:rPr lang="fr-FR" dirty="0"/>
              <a:t>Trois. Autoriser deux avenants. Un avec le prestataire qui maintient notre système d'entrepôt. Un avec l'intégrateur de nos machines de tri. AVANT LE RENOUVELLEMENT DE NOVEMBRE.</a:t>
            </a:r>
          </a:p>
          <a:p>
            <a:r>
              <a:rPr lang="fr-FR" dirty="0"/>
              <a:t>Après, la fenêtre se referme. Les mêmes exigences se paient, ou ne s'obtiennent pas.</a:t>
            </a:r>
          </a:p>
          <a:p>
            <a:r>
              <a:rPr lang="fr-FR" dirty="0"/>
              <a:t>Quatre. Arrêter le périmètre de la première certification : les services du client pharmaceutique, hors automatisation du site E4 jusqu'au 14 juin 2027.</a:t>
            </a:r>
          </a:p>
          <a:p>
            <a:r>
              <a:rPr lang="fr-FR" dirty="0"/>
              <a:t>Deux signatures les accompagnent : l'acceptation formelle du risque sur la chaîne du froid, et une acceptation simple sur les données d'expédition du client.</a:t>
            </a:r>
          </a:p>
          <a:p>
            <a:r>
              <a:rPr lang="fr-FR" dirty="0"/>
              <a:t>Et je le redis : AUCUNE DÉROGATION DEMANDÉE.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15 · La limite — 17:20 → 18:00 · Maxime</a:t>
            </a:r>
          </a:p>
          <a:p>
            <a:r>
              <a:rPr lang="fr-FR" dirty="0"/>
              <a:t>Un dernier mot. Et c'est une limite que je préfère poser moi-même.</a:t>
            </a:r>
          </a:p>
          <a:p>
            <a:r>
              <a:rPr lang="fr-FR" dirty="0"/>
              <a:t>UN DOSSIER PROUVE UNE MÉTHODE. IL NE PROUVE JAMAIS LA SÉCURITÉ.</a:t>
            </a:r>
          </a:p>
          <a:p>
            <a:r>
              <a:rPr lang="fr-FR" dirty="0"/>
              <a:t>Des serveurs mal configurés se moquent de la qualité du classeur.</a:t>
            </a:r>
          </a:p>
          <a:p>
            <a:r>
              <a:rPr lang="fr-FR" dirty="0"/>
              <a:t>Ce qu'on vient d'établir : où on en est, ce qui nous menace, ce que coûte le traitement. Ce qu'on n'a pas établi : qu'on est protégés.</a:t>
            </a:r>
          </a:p>
          <a:p>
            <a:r>
              <a:rPr lang="fr-FR" dirty="0"/>
              <a:t>[si le temps] Notre propre mesure est une auto-évaluation, pas un audit indépendant. Et notre dossier le dit.</a:t>
            </a:r>
          </a:p>
          <a:p>
            <a:r>
              <a:rPr lang="fr-FR" dirty="0"/>
              <a:t>Trois dates transformeront cette méthode en preuve. Le 14 novembre, le test de restauration du système d'entrepôt. Le 14 janvier, les comptes nominatifs du prestataire de maintenance. Le 14 juin, la séparation du réseau de bureau et du réseau des machines de tri.</a:t>
            </a:r>
          </a:p>
          <a:p>
            <a:r>
              <a:rPr lang="fr-FR" dirty="0"/>
              <a:t>On prend vos questions.</a:t>
            </a:r>
          </a:p>
          <a:p>
            <a:r>
              <a:rPr lang="fr-FR" dirty="0"/>
              <a:t>[→ la slide 15 reste affichée pendant les douze minutes de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9AB78-7310-7AAB-252E-5B6482A2EC8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EA6A92E5-0455-4D87-EFCD-9E38EAAC0B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81AC68F4-1555-2496-08EF-5ABA54B27B8B}"/>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ED43A5DB-964A-2FEF-A717-126A9CE56374}"/>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E7AB569-6B6B-59E7-98ED-3765A8351D2B}"/>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2621131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EFDF5-87EE-DE84-D838-04DA8FCFFA23}"/>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BFF58D06-CF27-56C9-8362-2B4CDB4572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FC7F277B-746B-729A-2EFA-95928AF072EE}"/>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70D8BED5-9979-4C61-769E-C058FA038621}"/>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2F12CB84-6410-010A-3F30-DF3726D151C5}"/>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40835045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BF02A-4E8A-1CED-ADB0-AA2DA27494D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2BA61E22-8ACB-8992-ED9D-52E0A95195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39A5DFC4-4A32-B923-6346-719F47CE6028}"/>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FC1CB2C9-714E-EB06-75F1-2CE01D6ECCED}"/>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F77EBB84-5B4C-F447-9444-F185EB7640C6}"/>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010287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3DBB7-CCFD-C39E-1E10-38A84FEC4994}"/>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5A4E08E1-2573-5EC1-B9AE-7F315CE8122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57B6E3B1-D9E1-55F8-DD52-274EB48CE06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C1C5F60D-966A-D454-77EA-40FCC638DDD8}"/>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F09E5FFA-82CC-3FDD-D3AC-CFCE2E43E8B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07828F34-68BC-F0BF-F218-BA25D4CB652E}"/>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869026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ADEE5-803D-CE03-8C54-FD1FDA373D49}"/>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B16D6737-A374-D037-6E65-468690505BB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07E4511-8C58-EC83-4CBF-D994108B58B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77AF0717-526E-D3EB-D143-ED2A5BAAB0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A3CA8C3-0127-7EC4-A5C0-E1E85E56115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1B92F31C-E7AC-74A6-EAE0-A141991B01C0}"/>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8" name="Footer Placeholder 7">
            <a:extLst>
              <a:ext uri="{FF2B5EF4-FFF2-40B4-BE49-F238E27FC236}">
                <a16:creationId xmlns:a16="http://schemas.microsoft.com/office/drawing/2014/main" id="{9401799D-BA3F-9E2F-09DB-89B101375EAC}"/>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7A4C6EA4-C0BA-A377-B7F9-AEC345025348}"/>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6753072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8A990-C36B-2995-447F-8C37D19DBD27}"/>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D075AA70-83DB-43FA-BCB2-D2537B3289FE}"/>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4" name="Footer Placeholder 3">
            <a:extLst>
              <a:ext uri="{FF2B5EF4-FFF2-40B4-BE49-F238E27FC236}">
                <a16:creationId xmlns:a16="http://schemas.microsoft.com/office/drawing/2014/main" id="{768A7386-A9B6-822F-5C44-82B4320288F6}"/>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429367D0-8ECD-B251-294D-14726B4A3C1C}"/>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19722060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BD0C68-D28E-F47C-482E-C0BF049F438D}"/>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3" name="Footer Placeholder 2">
            <a:extLst>
              <a:ext uri="{FF2B5EF4-FFF2-40B4-BE49-F238E27FC236}">
                <a16:creationId xmlns:a16="http://schemas.microsoft.com/office/drawing/2014/main" id="{01A1035C-53C9-E5C5-9F19-A4C83FB17A23}"/>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980F7A41-BFFD-EAA4-2685-6D889C5E530A}"/>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1422784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7435-8FAF-47A6-4899-9BA1069635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41854345-FA01-6E9A-5259-BB8351634D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34268A8C-277E-C5F1-0331-5EC204BD20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CF73742-DAF2-879E-C7FA-32144B6E3F9F}"/>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FC087C7A-9B4E-0D0B-B2C6-F55392841B19}"/>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A4887803-03A6-B898-CC7B-97A58E590CAC}"/>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345388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C35D-4F88-1F4B-AA11-DCF7C38A79B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21308701-BFA4-D65B-77D5-EEF1A1072C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0C8C6EF2-C63A-EBDE-0678-9A85E1E9C8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962DFC8-E77F-F955-3BF7-0A9CB5666B69}"/>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7343136E-6C03-AC6B-6BBE-D0F3CC1C6C5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8D3D5099-73AC-6BF2-609B-683CC8EBB07E}"/>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707367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202A-345D-1BFE-4497-EBCB2F3A48AE}"/>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EB9595C0-AD3F-D5BB-21DC-03E648A6A31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DA9BEEF-AA4C-758D-FC86-1D2A18B1E63B}"/>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88ABCED4-464F-D407-2DC8-47FAC27021A5}"/>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AC64A66A-DB87-D822-CC6F-288ED06C4487}"/>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40423520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7477B3-C62A-5680-C71D-7DEBCD655B5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AA93EA70-9DB7-EBE4-347A-E71366EE23D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56F3F3C1-BB52-4F27-8909-618EB794FE41}"/>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09A17870-11BF-5764-CD65-49F7CF37DDAB}"/>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7E6032D-237A-0149-1D81-3FC1365F3E86}"/>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0641628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876F37-C339-1CC5-B72C-294015B1F9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3D1280D8-B2DC-F51B-748D-C299EDC712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627A7E4-6D39-2E6E-68F2-1D3DD14DCD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F6E7E39F-FC6E-1745-1E97-A9E19BE163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FR"/>
          </a:p>
        </p:txBody>
      </p:sp>
      <p:sp>
        <p:nvSpPr>
          <p:cNvPr id="6" name="Slide Number Placeholder 5">
            <a:extLst>
              <a:ext uri="{FF2B5EF4-FFF2-40B4-BE49-F238E27FC236}">
                <a16:creationId xmlns:a16="http://schemas.microsoft.com/office/drawing/2014/main" id="{B4F04E9D-B79A-5A8F-C87E-E458285479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4EE44D-83FF-EF4F-908A-14F66C54EE08}" type="slidenum">
              <a:rPr lang="en-FR" smtClean="0"/>
              <a:t>‹#›</a:t>
            </a:fld>
            <a:endParaRPr lang="en-FR"/>
          </a:p>
        </p:txBody>
      </p:sp>
      <p:sp>
        <p:nvSpPr>
          <p:cNvPr id="90" name="FooterRule"/>
          <p:cNvSpPr/>
          <p:nvPr/>
        </p:nvSpPr>
        <p:spPr>
          <a:xfrm>
            <a:off x="914400" y="6400800"/>
            <a:ext cx="10414000" cy="9525"/>
          </a:xfrm>
          <a:prstGeom prst="rect">
            <a:avLst/>
          </a:prstGeom>
          <a:solidFill>
            <a:srgbClr val="C7CDD4"/>
          </a:solidFill>
          <a:ln>
            <a:noFill/>
          </a:ln>
        </p:spPr>
        <p:txBody>
          <a:bodyPr/>
          <a:lstStyle/>
          <a:p>
            <a:endParaRPr/>
          </a:p>
        </p:txBody>
      </p:sp>
      <p:sp>
        <p:nvSpPr>
          <p:cNvPr id="91" name="FooterText"/>
          <p:cNvSpPr txBox="1"/>
          <p:nvPr/>
        </p:nvSpPr>
        <p:spPr>
          <a:xfrm>
            <a:off x="914400" y="6438900"/>
            <a:ext cx="7000000" cy="190500"/>
          </a:xfrm>
          <a:prstGeom prst="rect">
            <a:avLst/>
          </a:prstGeom>
          <a:noFill/>
        </p:spPr>
        <p:txBody>
          <a:bodyPr wrap="square" lIns="0" tIns="0" rIns="0" bIns="0" anchor="ctr"/>
          <a:lstStyle/>
          <a:p>
            <a:pPr algn="l">
              <a:buNone/>
            </a:pPr>
            <a:r>
              <a:rPr lang="fr-FR" sz="900" dirty="0">
                <a:solidFill>
                  <a:srgbClr val="8A8F98"/>
                </a:solidFill>
              </a:rPr>
              <a:t>MERIDIAN Logistique · soutenance ISMS</a:t>
            </a:r>
          </a:p>
        </p:txBody>
      </p:sp>
      <p:sp>
        <p:nvSpPr>
          <p:cNvPr id="92" name="FooterNum"/>
          <p:cNvSpPr txBox="1"/>
          <p:nvPr/>
        </p:nvSpPr>
        <p:spPr>
          <a:xfrm>
            <a:off x="10036400" y="6438900"/>
            <a:ext cx="1292000" cy="190500"/>
          </a:xfrm>
          <a:prstGeom prst="rect">
            <a:avLst/>
          </a:prstGeom>
          <a:noFill/>
        </p:spPr>
        <p:txBody>
          <a:bodyPr wrap="square" lIns="0" tIns="0" rIns="0" bIns="0" anchor="ctr"/>
          <a:lstStyle/>
          <a:p>
            <a:pPr algn="r">
              <a:buNone/>
            </a:pPr>
            <a:fld id="{B7B2E1A0-1C2D-4E3F-9A11-000000000001}" type="slidenum">
              <a:rPr lang="fr-FR" sz="900" b="1" dirty="0">
                <a:solidFill>
                  <a:srgbClr val="1F4E79"/>
                </a:solidFill>
              </a:rPr>
              <a:t>‹#›</a:t>
            </a:fld>
            <a:endParaRPr lang="fr-FR" sz="900" b="1" dirty="0">
              <a:solidFill>
                <a:srgbClr val="1F4E79"/>
              </a:solidFill>
            </a:endParaRPr>
          </a:p>
        </p:txBody>
      </p:sp>
    </p:spTree>
    <p:extLst>
      <p:ext uri="{BB962C8B-B14F-4D97-AF65-F5344CB8AC3E}">
        <p14:creationId xmlns:p14="http://schemas.microsoft.com/office/powerpoint/2010/main" val="4587892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rgbClr val="1F4E79"/>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A1A1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EA71F7-639A-2945-8210-53424F08862A}"/>
              </a:ext>
            </a:extLst>
          </p:cNvPr>
          <p:cNvSpPr/>
          <p:nvPr/>
        </p:nvSpPr>
        <p:spPr>
          <a:xfrm>
            <a:off x="914400" y="2540000"/>
            <a:ext cx="1524000" cy="50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5" name="TextBox 4">
            <a:extLst>
              <a:ext uri="{FF2B5EF4-FFF2-40B4-BE49-F238E27FC236}">
                <a16:creationId xmlns:a16="http://schemas.microsoft.com/office/drawing/2014/main" id="{41AA1128-BCC3-5E48-BDA8-1707A3A5606B}"/>
              </a:ext>
            </a:extLst>
          </p:cNvPr>
          <p:cNvSpPr txBox="1"/>
          <p:nvPr/>
        </p:nvSpPr>
        <p:spPr>
          <a:xfrm>
            <a:off x="914400" y="2921000"/>
            <a:ext cx="10414000" cy="863600"/>
          </a:xfrm>
          <a:prstGeom prst="rect">
            <a:avLst/>
          </a:prstGeom>
          <a:noFill/>
        </p:spPr>
        <p:txBody>
          <a:bodyPr vertOverflow="overflow" vert="horz" wrap="none" rtlCol="0" anchor="t">
            <a:noAutofit/>
          </a:bodyPr>
          <a:lstStyle/>
          <a:p>
            <a:pPr algn="l"/>
            <a:r>
              <a:rPr lang="en-GB" sz="5400" b="1">
                <a:solidFill>
                  <a:srgbClr val="1F4E79"/>
                </a:solidFill>
                <a:latin typeface="Segoe UI Semibold"/>
                <a:cs typeface="Segoe UI Semibold"/>
              </a:rPr>
              <a:t>MERIDIAN LOGISTIQUE</a:t>
            </a:r>
            <a:endParaRPr lang="en-FR" sz="5400" b="1">
              <a:solidFill>
                <a:srgbClr val="1F4E79"/>
              </a:solidFill>
              <a:latin typeface="Segoe UI Semibold"/>
              <a:cs typeface="Segoe UI Semibold"/>
            </a:endParaRPr>
          </a:p>
        </p:txBody>
      </p:sp>
      <p:sp>
        <p:nvSpPr>
          <p:cNvPr id="6" name="TextBox 5">
            <a:extLst>
              <a:ext uri="{FF2B5EF4-FFF2-40B4-BE49-F238E27FC236}">
                <a16:creationId xmlns:a16="http://schemas.microsoft.com/office/drawing/2014/main" id="{30B88F70-71DA-954B-AD46-13D8625ECF76}"/>
              </a:ext>
            </a:extLst>
          </p:cNvPr>
          <p:cNvSpPr txBox="1"/>
          <p:nvPr/>
        </p:nvSpPr>
        <p:spPr>
          <a:xfrm>
            <a:off x="914400" y="3810000"/>
            <a:ext cx="10414000" cy="533400"/>
          </a:xfrm>
          <a:prstGeom prst="rect">
            <a:avLst/>
          </a:prstGeom>
          <a:noFill/>
        </p:spPr>
        <p:txBody>
          <a:bodyPr vertOverflow="overflow" vert="horz" wrap="square" rtlCol="0" anchor="t">
            <a:noAutofit/>
          </a:bodyPr>
          <a:lstStyle/>
          <a:p>
            <a:pPr algn="l"/>
            <a:r>
              <a:rPr lang="en-GB" sz="2400">
                <a:solidFill>
                  <a:srgbClr val="3C3C3C"/>
                </a:solidFill>
                <a:latin typeface="Segoe UI"/>
                <a:cs typeface="Segoe UI"/>
              </a:rPr>
              <a:t>Stratégie de sécurité de l'information — présentation au Comité Exécutif</a:t>
            </a:r>
            <a:endParaRPr lang="en-FR" sz="2400">
              <a:solidFill>
                <a:srgbClr val="3C3C3C"/>
              </a:solidFill>
              <a:latin typeface="Segoe UI"/>
              <a:cs typeface="Segoe UI"/>
            </a:endParaRPr>
          </a:p>
        </p:txBody>
      </p:sp>
      <p:sp>
        <p:nvSpPr>
          <p:cNvPr id="7" name="TextBox 6">
            <a:extLst>
              <a:ext uri="{FF2B5EF4-FFF2-40B4-BE49-F238E27FC236}">
                <a16:creationId xmlns:a16="http://schemas.microsoft.com/office/drawing/2014/main" id="{0C14BDD7-71D5-8A46-98FB-536D8A6C1DBD}"/>
              </a:ext>
            </a:extLst>
          </p:cNvPr>
          <p:cNvSpPr txBox="1"/>
          <p:nvPr/>
        </p:nvSpPr>
        <p:spPr>
          <a:xfrm>
            <a:off x="914400" y="4927600"/>
            <a:ext cx="10414000" cy="762000"/>
          </a:xfrm>
          <a:prstGeom prst="rect">
            <a:avLst/>
          </a:prstGeom>
          <a:noFill/>
        </p:spPr>
        <p:txBody>
          <a:bodyPr vertOverflow="overflow" vert="horz" wrap="square" rtlCol="0" anchor="t">
            <a:noAutofit/>
          </a:bodyPr>
          <a:lstStyle/>
          <a:p>
            <a:pPr algn="l"/>
            <a:r>
              <a:rPr lang="en-GB" sz="2000" dirty="0">
                <a:solidFill>
                  <a:srgbClr val="8A8F98"/>
                </a:solidFill>
                <a:latin typeface="Segoe UI"/>
                <a:cs typeface="Segoe UI"/>
              </a:rPr>
              <a:t>Miguel · Maxime
Groupe 4 « </a:t>
            </a:r>
            <a:r>
              <a:rPr lang="en-GB" sz="2000" dirty="0" err="1">
                <a:solidFill>
                  <a:srgbClr val="8A8F98"/>
                </a:solidFill>
                <a:latin typeface="Segoe UI"/>
                <a:cs typeface="Segoe UI"/>
              </a:rPr>
              <a:t>Translog</a:t>
            </a:r>
            <a:r>
              <a:rPr lang="en-GB" sz="2000" dirty="0">
                <a:solidFill>
                  <a:srgbClr val="8A8F98"/>
                </a:solidFill>
                <a:latin typeface="Segoe UI"/>
                <a:cs typeface="Segoe UI"/>
              </a:rPr>
              <a:t> » · 17 </a:t>
            </a:r>
            <a:r>
              <a:rPr lang="en-GB" sz="2000" dirty="0" err="1">
                <a:solidFill>
                  <a:srgbClr val="8A8F98"/>
                </a:solidFill>
                <a:latin typeface="Segoe UI"/>
                <a:cs typeface="Segoe UI"/>
              </a:rPr>
              <a:t>septembre</a:t>
            </a:r>
            <a:r>
              <a:rPr lang="en-GB" sz="2000" dirty="0">
                <a:solidFill>
                  <a:srgbClr val="8A8F98"/>
                </a:solidFill>
                <a:latin typeface="Segoe UI"/>
                <a:cs typeface="Segoe UI"/>
              </a:rPr>
              <a:t> 2026</a:t>
            </a:r>
            <a:endParaRPr lang="en-FR" sz="2000" dirty="0">
              <a:solidFill>
                <a:srgbClr val="8A8F98"/>
              </a:solidFill>
              <a:latin typeface="Segoe UI"/>
              <a:cs typeface="Segoe UI"/>
            </a:endParaRPr>
          </a:p>
        </p:txBody>
      </p:sp>
    </p:spTree>
    <p:extLst>
      <p:ext uri="{BB962C8B-B14F-4D97-AF65-F5344CB8AC3E}">
        <p14:creationId xmlns:p14="http://schemas.microsoft.com/office/powerpoint/2010/main" val="8131827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F30EDE3-F1F3-DD4F-926D-9F499269B354}"/>
              </a:ext>
            </a:extLst>
          </p:cNvPr>
          <p:cNvSpPr/>
          <p:nvPr/>
        </p:nvSpPr>
        <p:spPr>
          <a:xfrm>
            <a:off x="711200" y="4800600"/>
            <a:ext cx="10617200" cy="8382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 name="TextBox 1">
            <a:extLst>
              <a:ext uri="{FF2B5EF4-FFF2-40B4-BE49-F238E27FC236}">
                <a16:creationId xmlns:a16="http://schemas.microsoft.com/office/drawing/2014/main" id="{AB57E7BA-2E48-D34A-8DE3-E662CE3FF91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Semibold"/>
                <a:cs typeface="Segoe UI Semibold"/>
              </a:rPr>
              <a:t>Le message en une minute</a:t>
            </a:r>
            <a:endParaRPr lang="en-FR" sz="3200" b="1">
              <a:solidFill>
                <a:srgbClr val="1F4E79"/>
              </a:solidFill>
              <a:latin typeface="Segoe UI Semibold"/>
              <a:cs typeface="Segoe UI Semibold"/>
            </a:endParaRPr>
          </a:p>
        </p:txBody>
      </p:sp>
      <p:sp>
        <p:nvSpPr>
          <p:cNvPr id="3" name="Rectangle 2">
            <a:extLst>
              <a:ext uri="{FF2B5EF4-FFF2-40B4-BE49-F238E27FC236}">
                <a16:creationId xmlns:a16="http://schemas.microsoft.com/office/drawing/2014/main" id="{1F2F070E-061D-8345-9D67-FAFD2B3BFA5F}"/>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DA73DF4-0BB9-9C43-B75C-E41AA8292036}"/>
              </a:ext>
            </a:extLst>
          </p:cNvPr>
          <p:cNvSpPr txBox="1"/>
          <p:nvPr/>
        </p:nvSpPr>
        <p:spPr>
          <a:xfrm>
            <a:off x="914400" y="1778000"/>
            <a:ext cx="3683000" cy="660400"/>
          </a:xfrm>
          <a:prstGeom prst="rect">
            <a:avLst/>
          </a:prstGeom>
          <a:noFill/>
        </p:spPr>
        <p:txBody>
          <a:bodyPr vertOverflow="overflow" vert="horz" wrap="square" rtlCol="0" anchor="t">
            <a:noAutofit/>
          </a:bodyPr>
          <a:lstStyle/>
          <a:p>
            <a:pPr algn="l"/>
            <a:r>
              <a:rPr lang="en-FR" sz="4000" b="1">
                <a:solidFill>
                  <a:srgbClr val="1F4E79"/>
                </a:solidFill>
                <a:latin typeface="Segoe UI Semibold"/>
                <a:cs typeface="Segoe UI Semibold"/>
              </a:rPr>
              <a:t>40 %</a:t>
            </a:r>
          </a:p>
        </p:txBody>
      </p:sp>
      <p:sp>
        <p:nvSpPr>
          <p:cNvPr id="5" name="TextBox 4">
            <a:extLst>
              <a:ext uri="{FF2B5EF4-FFF2-40B4-BE49-F238E27FC236}">
                <a16:creationId xmlns:a16="http://schemas.microsoft.com/office/drawing/2014/main" id="{809E1D01-10C6-6042-B630-8B1360F92191}"/>
              </a:ext>
            </a:extLst>
          </p:cNvPr>
          <p:cNvSpPr txBox="1"/>
          <p:nvPr/>
        </p:nvSpPr>
        <p:spPr>
          <a:xfrm>
            <a:off x="4953000" y="1803400"/>
            <a:ext cx="6375400" cy="939800"/>
          </a:xfrm>
          <a:prstGeom prst="rect">
            <a:avLst/>
          </a:prstGeom>
          <a:noFill/>
        </p:spPr>
        <p:txBody>
          <a:bodyPr vertOverflow="overflow" vert="horz" wrap="square" rtlCol="0" anchor="t">
            <a:noAutofit/>
          </a:bodyPr>
          <a:lstStyle/>
          <a:p>
            <a:pPr algn="l"/>
            <a:r>
              <a:rPr lang="en-GB" sz="2000" dirty="0">
                <a:solidFill>
                  <a:srgbClr val="1A1A1A"/>
                </a:solidFill>
                <a:latin typeface="Segoe UI"/>
                <a:cs typeface="Segoe UI"/>
              </a:rPr>
              <a:t>du volume </a:t>
            </a:r>
            <a:r>
              <a:rPr lang="en-GB" sz="2000" dirty="0" err="1">
                <a:solidFill>
                  <a:srgbClr val="1A1A1A"/>
                </a:solidFill>
                <a:latin typeface="Segoe UI"/>
                <a:cs typeface="Segoe UI"/>
              </a:rPr>
              <a:t>expédié</a:t>
            </a:r>
            <a:r>
              <a:rPr lang="en-GB" sz="2000" dirty="0">
                <a:solidFill>
                  <a:srgbClr val="1A1A1A"/>
                </a:solidFill>
                <a:latin typeface="Segoe UI"/>
                <a:cs typeface="Segoe UI"/>
              </a:rPr>
              <a:t> du </a:t>
            </a:r>
            <a:r>
              <a:rPr lang="en-GB" sz="2000" dirty="0" err="1">
                <a:solidFill>
                  <a:srgbClr val="1A1A1A"/>
                </a:solidFill>
                <a:latin typeface="Segoe UI"/>
                <a:cs typeface="Segoe UI"/>
              </a:rPr>
              <a:t>groupe</a:t>
            </a:r>
            <a:r>
              <a:rPr lang="en-GB" sz="2000" dirty="0">
                <a:solidFill>
                  <a:srgbClr val="1A1A1A"/>
                </a:solidFill>
                <a:latin typeface="Segoe UI"/>
                <a:cs typeface="Segoe UI"/>
              </a:rPr>
              <a:t> passe par un seul </a:t>
            </a:r>
            <a:r>
              <a:rPr lang="en-GB" sz="2000" dirty="0" err="1">
                <a:solidFill>
                  <a:srgbClr val="1A1A1A"/>
                </a:solidFill>
                <a:latin typeface="Segoe UI"/>
                <a:cs typeface="Segoe UI"/>
              </a:rPr>
              <a:t>système</a:t>
            </a:r>
            <a:r>
              <a:rPr lang="en-GB" sz="2000" dirty="0">
                <a:solidFill>
                  <a:srgbClr val="1A1A1A"/>
                </a:solidFill>
                <a:latin typeface="Segoe UI"/>
                <a:cs typeface="Segoe UI"/>
              </a:rPr>
              <a:t>, sur un seul site,
</a:t>
            </a:r>
            <a:r>
              <a:rPr lang="en-GB" sz="2000" dirty="0" err="1">
                <a:solidFill>
                  <a:srgbClr val="1A1A1A"/>
                </a:solidFill>
                <a:latin typeface="Segoe UI"/>
                <a:cs typeface="Segoe UI"/>
              </a:rPr>
              <a:t>dont</a:t>
            </a:r>
            <a:r>
              <a:rPr lang="en-GB" sz="2000" dirty="0">
                <a:solidFill>
                  <a:srgbClr val="1A1A1A"/>
                </a:solidFill>
                <a:latin typeface="Segoe UI"/>
                <a:cs typeface="Segoe UI"/>
              </a:rPr>
              <a:t> la restauration </a:t>
            </a:r>
            <a:r>
              <a:rPr lang="en-GB" sz="2000" dirty="0" err="1">
                <a:solidFill>
                  <a:srgbClr val="1A1A1A"/>
                </a:solidFill>
                <a:latin typeface="Segoe UI"/>
                <a:cs typeface="Segoe UI"/>
              </a:rPr>
              <a:t>n'a</a:t>
            </a:r>
            <a:r>
              <a:rPr lang="en-GB" sz="2000" dirty="0">
                <a:solidFill>
                  <a:srgbClr val="1A1A1A"/>
                </a:solidFill>
                <a:latin typeface="Segoe UI"/>
                <a:cs typeface="Segoe UI"/>
              </a:rPr>
              <a:t> jamais </a:t>
            </a:r>
            <a:r>
              <a:rPr lang="en-GB" sz="2000" dirty="0" err="1">
                <a:solidFill>
                  <a:srgbClr val="1A1A1A"/>
                </a:solidFill>
                <a:latin typeface="Segoe UI"/>
                <a:cs typeface="Segoe UI"/>
              </a:rPr>
              <a:t>été</a:t>
            </a:r>
            <a:r>
              <a:rPr lang="en-GB" sz="2000" dirty="0">
                <a:solidFill>
                  <a:srgbClr val="1A1A1A"/>
                </a:solidFill>
                <a:latin typeface="Segoe UI"/>
                <a:cs typeface="Segoe UI"/>
              </a:rPr>
              <a:t> </a:t>
            </a:r>
            <a:r>
              <a:rPr lang="en-GB" sz="2000" dirty="0" err="1">
                <a:solidFill>
                  <a:srgbClr val="1A1A1A"/>
                </a:solidFill>
                <a:latin typeface="Segoe UI"/>
                <a:cs typeface="Segoe UI"/>
              </a:rPr>
              <a:t>testée</a:t>
            </a:r>
            <a:endParaRPr lang="en-FR" sz="2000" dirty="0">
              <a:solidFill>
                <a:srgbClr val="1A1A1A"/>
              </a:solidFill>
              <a:latin typeface="Segoe UI"/>
              <a:cs typeface="Segoe UI"/>
            </a:endParaRPr>
          </a:p>
        </p:txBody>
      </p:sp>
      <p:sp>
        <p:nvSpPr>
          <p:cNvPr id="6" name="TextBox 5">
            <a:extLst>
              <a:ext uri="{FF2B5EF4-FFF2-40B4-BE49-F238E27FC236}">
                <a16:creationId xmlns:a16="http://schemas.microsoft.com/office/drawing/2014/main" id="{45AD9C62-2BB0-404A-8080-B8D47AB09D34}"/>
              </a:ext>
            </a:extLst>
          </p:cNvPr>
          <p:cNvSpPr txBox="1"/>
          <p:nvPr/>
        </p:nvSpPr>
        <p:spPr>
          <a:xfrm>
            <a:off x="914400" y="2819400"/>
            <a:ext cx="3683000" cy="660400"/>
          </a:xfrm>
          <a:prstGeom prst="rect">
            <a:avLst/>
          </a:prstGeom>
          <a:noFill/>
        </p:spPr>
        <p:txBody>
          <a:bodyPr vertOverflow="overflow" vert="horz" wrap="square" rtlCol="0" anchor="t">
            <a:noAutofit/>
          </a:bodyPr>
          <a:lstStyle/>
          <a:p>
            <a:pPr algn="l"/>
            <a:r>
              <a:rPr lang="en-FR" sz="4000" b="1" dirty="0">
                <a:solidFill>
                  <a:srgbClr val="1F4E79"/>
                </a:solidFill>
                <a:latin typeface="Segoe UI Semibold"/>
                <a:cs typeface="Segoe UI Semibold"/>
              </a:rPr>
              <a:t>12 000 €</a:t>
            </a:r>
          </a:p>
        </p:txBody>
      </p:sp>
      <p:sp>
        <p:nvSpPr>
          <p:cNvPr id="7" name="TextBox 6">
            <a:extLst>
              <a:ext uri="{FF2B5EF4-FFF2-40B4-BE49-F238E27FC236}">
                <a16:creationId xmlns:a16="http://schemas.microsoft.com/office/drawing/2014/main" id="{B8DD367F-74BF-3D41-995F-189539B97FDD}"/>
              </a:ext>
            </a:extLst>
          </p:cNvPr>
          <p:cNvSpPr txBox="1"/>
          <p:nvPr/>
        </p:nvSpPr>
        <p:spPr>
          <a:xfrm>
            <a:off x="4953000" y="2819400"/>
            <a:ext cx="6375400" cy="812800"/>
          </a:xfrm>
          <a:prstGeom prst="rect">
            <a:avLst/>
          </a:prstGeom>
          <a:noFill/>
        </p:spPr>
        <p:txBody>
          <a:bodyPr vertOverflow="overflow" vert="horz" wrap="square" rtlCol="0" anchor="t">
            <a:noAutofit/>
          </a:bodyPr>
          <a:lstStyle/>
          <a:p>
            <a:pPr algn="l"/>
            <a:r>
              <a:rPr lang="en-GB" sz="2000" dirty="0">
                <a:solidFill>
                  <a:srgbClr val="1A1A1A"/>
                </a:solidFill>
                <a:latin typeface="Segoe UI"/>
                <a:cs typeface="Segoe UI"/>
              </a:rPr>
              <a:t>par jour </a:t>
            </a:r>
            <a:r>
              <a:rPr lang="en-GB" sz="2000" dirty="0" err="1">
                <a:solidFill>
                  <a:srgbClr val="1A1A1A"/>
                </a:solidFill>
                <a:latin typeface="Segoe UI"/>
                <a:cs typeface="Segoe UI"/>
              </a:rPr>
              <a:t>d'arrêt</a:t>
            </a:r>
            <a:r>
              <a:rPr lang="en-GB" sz="2000" dirty="0">
                <a:solidFill>
                  <a:srgbClr val="1A1A1A"/>
                </a:solidFill>
                <a:latin typeface="Segoe UI"/>
                <a:cs typeface="Segoe UI"/>
              </a:rPr>
              <a:t> — </a:t>
            </a:r>
            <a:r>
              <a:rPr lang="en-GB" sz="2000" dirty="0" err="1">
                <a:solidFill>
                  <a:srgbClr val="1A1A1A"/>
                </a:solidFill>
                <a:latin typeface="Segoe UI"/>
                <a:cs typeface="Segoe UI"/>
              </a:rPr>
              <a:t>pénalités</a:t>
            </a:r>
            <a:r>
              <a:rPr lang="en-GB" sz="2000" dirty="0">
                <a:solidFill>
                  <a:srgbClr val="1A1A1A"/>
                </a:solidFill>
                <a:latin typeface="Segoe UI"/>
                <a:cs typeface="Segoe UI"/>
              </a:rPr>
              <a:t> </a:t>
            </a:r>
            <a:r>
              <a:rPr lang="en-GB" sz="2000" dirty="0" err="1">
                <a:solidFill>
                  <a:srgbClr val="1A1A1A"/>
                </a:solidFill>
                <a:latin typeface="Segoe UI"/>
                <a:cs typeface="Segoe UI"/>
              </a:rPr>
              <a:t>contractuelles</a:t>
            </a:r>
            <a:r>
              <a:rPr lang="en-GB" sz="2000" dirty="0">
                <a:solidFill>
                  <a:srgbClr val="1A1A1A"/>
                </a:solidFill>
                <a:latin typeface="Segoe UI"/>
                <a:cs typeface="Segoe UI"/>
              </a:rPr>
              <a:t>, </a:t>
            </a:r>
            <a:r>
              <a:rPr lang="en-GB" sz="2000" dirty="0" err="1">
                <a:solidFill>
                  <a:srgbClr val="1A1A1A"/>
                </a:solidFill>
                <a:latin typeface="Segoe UI"/>
                <a:cs typeface="Segoe UI"/>
              </a:rPr>
              <a:t>notre</a:t>
            </a:r>
            <a:r>
              <a:rPr lang="en-GB" sz="2000" dirty="0">
                <a:solidFill>
                  <a:srgbClr val="1A1A1A"/>
                </a:solidFill>
                <a:latin typeface="Segoe UI"/>
                <a:cs typeface="Segoe UI"/>
              </a:rPr>
              <a:t> propre </a:t>
            </a:r>
            <a:r>
              <a:rPr lang="en-GB" sz="2000" dirty="0" err="1">
                <a:solidFill>
                  <a:srgbClr val="1A1A1A"/>
                </a:solidFill>
                <a:latin typeface="Segoe UI"/>
                <a:cs typeface="Segoe UI"/>
              </a:rPr>
              <a:t>contrat</a:t>
            </a:r>
            <a:endParaRPr lang="en-FR" sz="2000" dirty="0">
              <a:solidFill>
                <a:srgbClr val="1A1A1A"/>
              </a:solidFill>
              <a:latin typeface="Segoe UI"/>
              <a:cs typeface="Segoe UI"/>
            </a:endParaRPr>
          </a:p>
        </p:txBody>
      </p:sp>
      <p:sp>
        <p:nvSpPr>
          <p:cNvPr id="8" name="TextBox 7">
            <a:extLst>
              <a:ext uri="{FF2B5EF4-FFF2-40B4-BE49-F238E27FC236}">
                <a16:creationId xmlns:a16="http://schemas.microsoft.com/office/drawing/2014/main" id="{8B305F83-0EE3-C941-AAD4-110BD4E58067}"/>
              </a:ext>
            </a:extLst>
          </p:cNvPr>
          <p:cNvSpPr txBox="1"/>
          <p:nvPr/>
        </p:nvSpPr>
        <p:spPr>
          <a:xfrm>
            <a:off x="914400" y="3860800"/>
            <a:ext cx="3683000" cy="660400"/>
          </a:xfrm>
          <a:prstGeom prst="rect">
            <a:avLst/>
          </a:prstGeom>
          <a:noFill/>
        </p:spPr>
        <p:txBody>
          <a:bodyPr vertOverflow="overflow" vert="horz" wrap="square" rtlCol="0" anchor="t">
            <a:noAutofit/>
          </a:bodyPr>
          <a:lstStyle/>
          <a:p>
            <a:pPr algn="l"/>
            <a:r>
              <a:rPr lang="en-GB" sz="4000" b="1" dirty="0">
                <a:solidFill>
                  <a:srgbClr val="1F4E79"/>
                </a:solidFill>
                <a:latin typeface="Segoe UI Semibold"/>
                <a:cs typeface="Segoe UI Semibold"/>
              </a:rPr>
              <a:t>250–300 M$</a:t>
            </a:r>
            <a:endParaRPr lang="en-FR" sz="4000" b="1" dirty="0">
              <a:solidFill>
                <a:srgbClr val="1F4E79"/>
              </a:solidFill>
              <a:latin typeface="Segoe UI Semibold"/>
              <a:cs typeface="Segoe UI Semibold"/>
            </a:endParaRPr>
          </a:p>
        </p:txBody>
      </p:sp>
      <p:sp>
        <p:nvSpPr>
          <p:cNvPr id="9" name="TextBox 8">
            <a:extLst>
              <a:ext uri="{FF2B5EF4-FFF2-40B4-BE49-F238E27FC236}">
                <a16:creationId xmlns:a16="http://schemas.microsoft.com/office/drawing/2014/main" id="{EF53045B-041A-2D41-8397-EC5702FE6F0C}"/>
              </a:ext>
            </a:extLst>
          </p:cNvPr>
          <p:cNvSpPr txBox="1"/>
          <p:nvPr/>
        </p:nvSpPr>
        <p:spPr>
          <a:xfrm>
            <a:off x="4953000" y="3860800"/>
            <a:ext cx="6375400" cy="812800"/>
          </a:xfrm>
          <a:prstGeom prst="rect">
            <a:avLst/>
          </a:prstGeom>
          <a:noFill/>
        </p:spPr>
        <p:txBody>
          <a:bodyPr vertOverflow="overflow" vert="horz" wrap="square" rtlCol="0" anchor="t">
            <a:noAutofit/>
          </a:bodyPr>
          <a:lstStyle/>
          <a:p>
            <a:pPr algn="l"/>
            <a:r>
              <a:rPr lang="en-GB" sz="2000" dirty="0" err="1">
                <a:solidFill>
                  <a:srgbClr val="1A1A1A"/>
                </a:solidFill>
                <a:latin typeface="Segoe UI"/>
                <a:cs typeface="Segoe UI"/>
              </a:rPr>
              <a:t>ce</a:t>
            </a:r>
            <a:r>
              <a:rPr lang="en-GB" sz="2000" dirty="0">
                <a:solidFill>
                  <a:srgbClr val="1A1A1A"/>
                </a:solidFill>
                <a:latin typeface="Segoe UI"/>
                <a:cs typeface="Segoe UI"/>
              </a:rPr>
              <a:t> </a:t>
            </a:r>
            <a:r>
              <a:rPr lang="en-GB" sz="2000" dirty="0" err="1">
                <a:solidFill>
                  <a:srgbClr val="1A1A1A"/>
                </a:solidFill>
                <a:latin typeface="Segoe UI"/>
                <a:cs typeface="Segoe UI"/>
              </a:rPr>
              <a:t>que</a:t>
            </a:r>
            <a:r>
              <a:rPr lang="en-GB" sz="2000" dirty="0">
                <a:solidFill>
                  <a:srgbClr val="1A1A1A"/>
                </a:solidFill>
                <a:latin typeface="Segoe UI"/>
                <a:cs typeface="Segoe UI"/>
              </a:rPr>
              <a:t> la </a:t>
            </a:r>
            <a:r>
              <a:rPr lang="en-GB" sz="2000" dirty="0" err="1">
                <a:solidFill>
                  <a:srgbClr val="1A1A1A"/>
                </a:solidFill>
                <a:latin typeface="Segoe UI"/>
                <a:cs typeface="Segoe UI"/>
              </a:rPr>
              <a:t>même</a:t>
            </a:r>
            <a:r>
              <a:rPr lang="en-GB" sz="2000" dirty="0">
                <a:solidFill>
                  <a:srgbClr val="1A1A1A"/>
                </a:solidFill>
                <a:latin typeface="Segoe UI"/>
                <a:cs typeface="Segoe UI"/>
              </a:rPr>
              <a:t> situation a </a:t>
            </a:r>
            <a:r>
              <a:rPr lang="en-GB" sz="2000" dirty="0" err="1">
                <a:solidFill>
                  <a:srgbClr val="1A1A1A"/>
                </a:solidFill>
                <a:latin typeface="Segoe UI"/>
                <a:cs typeface="Segoe UI"/>
              </a:rPr>
              <a:t>coûté</a:t>
            </a:r>
            <a:r>
              <a:rPr lang="en-GB" sz="2000" dirty="0">
                <a:solidFill>
                  <a:srgbClr val="1A1A1A"/>
                </a:solidFill>
                <a:latin typeface="Segoe UI"/>
                <a:cs typeface="Segoe UI"/>
              </a:rPr>
              <a:t> à un </a:t>
            </a:r>
            <a:r>
              <a:rPr lang="en-GB" sz="2000" dirty="0" err="1">
                <a:solidFill>
                  <a:srgbClr val="1A1A1A"/>
                </a:solidFill>
                <a:latin typeface="Segoe UI"/>
                <a:cs typeface="Segoe UI"/>
              </a:rPr>
              <a:t>transporteur</a:t>
            </a:r>
            <a:r>
              <a:rPr lang="en-GB" sz="2000" dirty="0">
                <a:solidFill>
                  <a:srgbClr val="1A1A1A"/>
                </a:solidFill>
                <a:latin typeface="Segoe UI"/>
                <a:cs typeface="Segoe UI"/>
              </a:rPr>
              <a:t> </a:t>
            </a:r>
            <a:r>
              <a:rPr lang="en-GB" sz="2000" dirty="0" err="1">
                <a:solidFill>
                  <a:srgbClr val="1A1A1A"/>
                </a:solidFill>
                <a:latin typeface="Segoe UI"/>
                <a:cs typeface="Segoe UI"/>
              </a:rPr>
              <a:t>européen</a:t>
            </a:r>
            <a:r>
              <a:rPr lang="en-GB" sz="2000" dirty="0">
                <a:solidFill>
                  <a:srgbClr val="1A1A1A"/>
                </a:solidFill>
                <a:latin typeface="Segoe UI"/>
                <a:cs typeface="Segoe UI"/>
              </a:rPr>
              <a:t> </a:t>
            </a:r>
            <a:r>
              <a:rPr lang="en-GB" sz="2000" dirty="0" err="1">
                <a:solidFill>
                  <a:srgbClr val="1A1A1A"/>
                </a:solidFill>
                <a:latin typeface="Segoe UI"/>
                <a:cs typeface="Segoe UI"/>
              </a:rPr>
              <a:t>en</a:t>
            </a:r>
            <a:r>
              <a:rPr lang="en-GB" sz="2000" dirty="0">
                <a:solidFill>
                  <a:srgbClr val="1A1A1A"/>
                </a:solidFill>
                <a:latin typeface="Segoe UI"/>
                <a:cs typeface="Segoe UI"/>
              </a:rPr>
              <a:t> 2017</a:t>
            </a:r>
            <a:endParaRPr lang="en-FR" sz="2000" dirty="0">
              <a:solidFill>
                <a:srgbClr val="1A1A1A"/>
              </a:solidFill>
              <a:latin typeface="Segoe UI"/>
              <a:cs typeface="Segoe UI"/>
            </a:endParaRPr>
          </a:p>
        </p:txBody>
      </p:sp>
      <p:sp>
        <p:nvSpPr>
          <p:cNvPr id="10" name="TextBox 9">
            <a:extLst>
              <a:ext uri="{FF2B5EF4-FFF2-40B4-BE49-F238E27FC236}">
                <a16:creationId xmlns:a16="http://schemas.microsoft.com/office/drawing/2014/main" id="{F36C64FF-196A-8D45-8DA4-591393691181}"/>
              </a:ext>
            </a:extLst>
          </p:cNvPr>
          <p:cNvSpPr txBox="1"/>
          <p:nvPr/>
        </p:nvSpPr>
        <p:spPr>
          <a:xfrm>
            <a:off x="914400" y="4876800"/>
            <a:ext cx="3683000" cy="660400"/>
          </a:xfrm>
          <a:prstGeom prst="rect">
            <a:avLst/>
          </a:prstGeom>
          <a:noFill/>
        </p:spPr>
        <p:txBody>
          <a:bodyPr vertOverflow="overflow" vert="horz" wrap="square" rtlCol="0" anchor="t">
            <a:noAutofit/>
          </a:bodyPr>
          <a:lstStyle/>
          <a:p>
            <a:pPr algn="l"/>
            <a:r>
              <a:rPr lang="en-GB" sz="4000" b="1" dirty="0">
                <a:solidFill>
                  <a:srgbClr val="1F4E79"/>
                </a:solidFill>
                <a:latin typeface="Segoe UI Semibold"/>
                <a:cs typeface="Segoe UI Semibold"/>
              </a:rPr>
              <a:t>82 000 €/an</a:t>
            </a:r>
            <a:endParaRPr lang="en-FR" sz="4000" b="1" dirty="0">
              <a:solidFill>
                <a:srgbClr val="1F4E79"/>
              </a:solidFill>
              <a:latin typeface="Segoe UI Semibold"/>
              <a:cs typeface="Segoe UI Semibold"/>
            </a:endParaRPr>
          </a:p>
        </p:txBody>
      </p:sp>
      <p:sp>
        <p:nvSpPr>
          <p:cNvPr id="11" name="TextBox 10">
            <a:extLst>
              <a:ext uri="{FF2B5EF4-FFF2-40B4-BE49-F238E27FC236}">
                <a16:creationId xmlns:a16="http://schemas.microsoft.com/office/drawing/2014/main" id="{DA99FC1C-916A-4D45-9433-C5998D7A9C43}"/>
              </a:ext>
            </a:extLst>
          </p:cNvPr>
          <p:cNvSpPr txBox="1"/>
          <p:nvPr/>
        </p:nvSpPr>
        <p:spPr>
          <a:xfrm>
            <a:off x="4953000" y="5003800"/>
            <a:ext cx="6375400" cy="812800"/>
          </a:xfrm>
          <a:prstGeom prst="rect">
            <a:avLst/>
          </a:prstGeom>
          <a:noFill/>
        </p:spPr>
        <p:txBody>
          <a:bodyPr vertOverflow="overflow" vert="horz" wrap="square" rtlCol="0" anchor="t">
            <a:noAutofit/>
          </a:bodyPr>
          <a:lstStyle/>
          <a:p>
            <a:pPr algn="l"/>
            <a:r>
              <a:rPr lang="en-GB" sz="2000" dirty="0" err="1">
                <a:solidFill>
                  <a:srgbClr val="1A1A1A"/>
                </a:solidFill>
                <a:latin typeface="Segoe UI"/>
                <a:cs typeface="Segoe UI"/>
              </a:rPr>
              <a:t>ce</a:t>
            </a:r>
            <a:r>
              <a:rPr lang="en-GB" sz="2000" dirty="0">
                <a:solidFill>
                  <a:srgbClr val="1A1A1A"/>
                </a:solidFill>
                <a:latin typeface="Segoe UI"/>
                <a:cs typeface="Segoe UI"/>
              </a:rPr>
              <a:t> </a:t>
            </a:r>
            <a:r>
              <a:rPr lang="en-GB" sz="2000" dirty="0" err="1">
                <a:solidFill>
                  <a:srgbClr val="1A1A1A"/>
                </a:solidFill>
                <a:latin typeface="Segoe UI"/>
                <a:cs typeface="Segoe UI"/>
              </a:rPr>
              <a:t>que</a:t>
            </a:r>
            <a:r>
              <a:rPr lang="en-GB" sz="2000" dirty="0">
                <a:solidFill>
                  <a:srgbClr val="1A1A1A"/>
                </a:solidFill>
                <a:latin typeface="Segoe UI"/>
                <a:cs typeface="Segoe UI"/>
              </a:rPr>
              <a:t> nous </a:t>
            </a:r>
            <a:r>
              <a:rPr lang="en-GB" sz="2000" dirty="0" err="1">
                <a:solidFill>
                  <a:srgbClr val="1A1A1A"/>
                </a:solidFill>
                <a:latin typeface="Segoe UI"/>
                <a:cs typeface="Segoe UI"/>
              </a:rPr>
              <a:t>venons</a:t>
            </a:r>
            <a:r>
              <a:rPr lang="en-GB" sz="2000" dirty="0">
                <a:solidFill>
                  <a:srgbClr val="1A1A1A"/>
                </a:solidFill>
                <a:latin typeface="Segoe UI"/>
                <a:cs typeface="Segoe UI"/>
              </a:rPr>
              <a:t> vous demander</a:t>
            </a:r>
            <a:endParaRPr lang="en-FR" sz="2000" dirty="0">
              <a:solidFill>
                <a:srgbClr val="1A1A1A"/>
              </a:solidFill>
              <a:latin typeface="Segoe UI"/>
              <a:cs typeface="Segoe UI"/>
            </a:endParaRPr>
          </a:p>
        </p:txBody>
      </p:sp>
    </p:spTree>
    <p:extLst>
      <p:ext uri="{BB962C8B-B14F-4D97-AF65-F5344CB8AC3E}">
        <p14:creationId xmlns:p14="http://schemas.microsoft.com/office/powerpoint/2010/main" val="4769136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844C66D-EB2B-504E-943A-9F072B1D5790}"/>
              </a:ext>
            </a:extLst>
          </p:cNvPr>
          <p:cNvSpPr/>
          <p:nvPr/>
        </p:nvSpPr>
        <p:spPr>
          <a:xfrm>
            <a:off x="914400" y="3276600"/>
            <a:ext cx="10414000" cy="533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 name="TextBox 1">
            <a:extLst>
              <a:ext uri="{FF2B5EF4-FFF2-40B4-BE49-F238E27FC236}">
                <a16:creationId xmlns:a16="http://schemas.microsoft.com/office/drawing/2014/main" id="{24389341-958A-ED43-9357-423B17125D7C}"/>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Semibold"/>
                <a:cs typeface="Segoe UI Semibold"/>
              </a:rPr>
              <a:t>Ce que nous protégeons — les cinq actifs critiques</a:t>
            </a:r>
            <a:endParaRPr lang="en-FR" sz="3200" b="1">
              <a:solidFill>
                <a:srgbClr val="1F4E79"/>
              </a:solidFill>
              <a:latin typeface="Segoe UI Semibold"/>
              <a:cs typeface="Segoe UI Semibold"/>
            </a:endParaRPr>
          </a:p>
        </p:txBody>
      </p:sp>
      <p:sp>
        <p:nvSpPr>
          <p:cNvPr id="3" name="Rectangle 2">
            <a:extLst>
              <a:ext uri="{FF2B5EF4-FFF2-40B4-BE49-F238E27FC236}">
                <a16:creationId xmlns:a16="http://schemas.microsoft.com/office/drawing/2014/main" id="{0958806D-BEB6-C549-85D8-0ECAAA69D474}"/>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D0493E5-E34E-B448-AF84-DB9DCC622566}"/>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Quatre activités, treize supports, cinq actifs critiques — classés sur un critère écrit </a:t>
            </a:r>
            <a:r>
              <a:rPr lang="en-GB" b="1">
                <a:solidFill>
                  <a:srgbClr val="8A8F98"/>
                </a:solidFill>
                <a:latin typeface="Segoe UI"/>
                <a:cs typeface="Segoe UI"/>
              </a:rPr>
              <a:t>avant</a:t>
            </a:r>
            <a:r>
              <a:rPr lang="en-GB">
                <a:solidFill>
                  <a:srgbClr val="8A8F98"/>
                </a:solidFill>
                <a:latin typeface="Segoe UI"/>
                <a:cs typeface="Segoe UI"/>
              </a:rPr>
              <a:t> le classement</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F11260E-FCD9-8B44-B8BC-428ED9313094}"/>
              </a:ext>
            </a:extLst>
          </p:cNvPr>
          <p:cNvSpPr txBox="1"/>
          <p:nvPr/>
        </p:nvSpPr>
        <p:spPr>
          <a:xfrm>
            <a:off x="914400" y="19050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1</a:t>
            </a:r>
          </a:p>
        </p:txBody>
      </p:sp>
      <p:sp>
        <p:nvSpPr>
          <p:cNvPr id="6" name="TextBox 5">
            <a:extLst>
              <a:ext uri="{FF2B5EF4-FFF2-40B4-BE49-F238E27FC236}">
                <a16:creationId xmlns:a16="http://schemas.microsoft.com/office/drawing/2014/main" id="{5E8429BA-384B-E74F-AD81-A1D2EAB0481B}"/>
              </a:ext>
            </a:extLst>
          </p:cNvPr>
          <p:cNvSpPr txBox="1"/>
          <p:nvPr/>
        </p:nvSpPr>
        <p:spPr>
          <a:xfrm>
            <a:off x="1320800" y="19050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Système de gestion d'entrepôt</a:t>
            </a:r>
            <a:endParaRPr lang="en-FR" sz="2000" b="1">
              <a:solidFill>
                <a:srgbClr val="1A1A1A"/>
              </a:solidFill>
              <a:latin typeface="Segoe UI"/>
              <a:cs typeface="Segoe UI"/>
            </a:endParaRPr>
          </a:p>
        </p:txBody>
      </p:sp>
      <p:sp>
        <p:nvSpPr>
          <p:cNvPr id="7" name="TextBox 6">
            <a:extLst>
              <a:ext uri="{FF2B5EF4-FFF2-40B4-BE49-F238E27FC236}">
                <a16:creationId xmlns:a16="http://schemas.microsoft.com/office/drawing/2014/main" id="{B13600F4-C0C0-F64D-B0E6-7F253CA7836C}"/>
              </a:ext>
            </a:extLst>
          </p:cNvPr>
          <p:cNvSpPr txBox="1"/>
          <p:nvPr/>
        </p:nvSpPr>
        <p:spPr>
          <a:xfrm>
            <a:off x="5130800" y="19304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arrêt &gt; 6 h = 40 % du volume du groupe · reprise jamais démontrée</a:t>
            </a:r>
            <a:endParaRPr lang="en-FR">
              <a:solidFill>
                <a:srgbClr val="3C3C3C"/>
              </a:solidFill>
              <a:latin typeface="Segoe UI"/>
              <a:cs typeface="Segoe UI"/>
            </a:endParaRPr>
          </a:p>
        </p:txBody>
      </p:sp>
      <p:sp>
        <p:nvSpPr>
          <p:cNvPr id="8" name="TextBox 7">
            <a:extLst>
              <a:ext uri="{FF2B5EF4-FFF2-40B4-BE49-F238E27FC236}">
                <a16:creationId xmlns:a16="http://schemas.microsoft.com/office/drawing/2014/main" id="{5E5A6E9A-3C58-BC4A-AB9F-75D2A58EC663}"/>
              </a:ext>
            </a:extLst>
          </p:cNvPr>
          <p:cNvSpPr txBox="1"/>
          <p:nvPr/>
        </p:nvSpPr>
        <p:spPr>
          <a:xfrm>
            <a:off x="914400" y="25908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2</a:t>
            </a:r>
          </a:p>
        </p:txBody>
      </p:sp>
      <p:sp>
        <p:nvSpPr>
          <p:cNvPr id="9" name="TextBox 8">
            <a:extLst>
              <a:ext uri="{FF2B5EF4-FFF2-40B4-BE49-F238E27FC236}">
                <a16:creationId xmlns:a16="http://schemas.microsoft.com/office/drawing/2014/main" id="{88003978-8E4D-ED4F-9D7B-299412E7A438}"/>
              </a:ext>
            </a:extLst>
          </p:cNvPr>
          <p:cNvSpPr txBox="1"/>
          <p:nvPr/>
        </p:nvSpPr>
        <p:spPr>
          <a:xfrm>
            <a:off x="1320800" y="25908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Compte technique des automates</a:t>
            </a:r>
            <a:endParaRPr lang="en-FR" sz="2000" b="1">
              <a:solidFill>
                <a:srgbClr val="1A1A1A"/>
              </a:solidFill>
              <a:latin typeface="Segoe UI"/>
              <a:cs typeface="Segoe UI"/>
            </a:endParaRPr>
          </a:p>
        </p:txBody>
      </p:sp>
      <p:sp>
        <p:nvSpPr>
          <p:cNvPr id="10" name="TextBox 9">
            <a:extLst>
              <a:ext uri="{FF2B5EF4-FFF2-40B4-BE49-F238E27FC236}">
                <a16:creationId xmlns:a16="http://schemas.microsoft.com/office/drawing/2014/main" id="{7190EF5F-C0FD-DB4C-A51B-5DDD1867DC1A}"/>
              </a:ext>
            </a:extLst>
          </p:cNvPr>
          <p:cNvSpPr txBox="1"/>
          <p:nvPr/>
        </p:nvSpPr>
        <p:spPr>
          <a:xfrm>
            <a:off x="5130800" y="26162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même mot de passe sur les six sites depuis 2019</a:t>
            </a:r>
            <a:endParaRPr lang="en-FR">
              <a:solidFill>
                <a:srgbClr val="3C3C3C"/>
              </a:solidFill>
              <a:latin typeface="Segoe UI"/>
              <a:cs typeface="Segoe UI"/>
            </a:endParaRPr>
          </a:p>
        </p:txBody>
      </p:sp>
      <p:sp>
        <p:nvSpPr>
          <p:cNvPr id="12" name="TextBox 11">
            <a:extLst>
              <a:ext uri="{FF2B5EF4-FFF2-40B4-BE49-F238E27FC236}">
                <a16:creationId xmlns:a16="http://schemas.microsoft.com/office/drawing/2014/main" id="{50F59710-6222-A94F-9B97-39961000EFA5}"/>
              </a:ext>
            </a:extLst>
          </p:cNvPr>
          <p:cNvSpPr txBox="1"/>
          <p:nvPr/>
        </p:nvSpPr>
        <p:spPr>
          <a:xfrm>
            <a:off x="914400" y="33528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3</a:t>
            </a:r>
          </a:p>
        </p:txBody>
      </p:sp>
      <p:sp>
        <p:nvSpPr>
          <p:cNvPr id="13" name="TextBox 12">
            <a:extLst>
              <a:ext uri="{FF2B5EF4-FFF2-40B4-BE49-F238E27FC236}">
                <a16:creationId xmlns:a16="http://schemas.microsoft.com/office/drawing/2014/main" id="{11F05920-75AD-8544-96FA-8A82A5DE5CB8}"/>
              </a:ext>
            </a:extLst>
          </p:cNvPr>
          <p:cNvSpPr txBox="1"/>
          <p:nvPr/>
        </p:nvSpPr>
        <p:spPr>
          <a:xfrm>
            <a:off x="1320800" y="3352800"/>
            <a:ext cx="3810000" cy="381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Le Responsable Exploitation</a:t>
            </a:r>
            <a:endParaRPr lang="en-FR" sz="2000" b="1">
              <a:solidFill>
                <a:srgbClr val="1F4E79"/>
              </a:solidFill>
              <a:latin typeface="Segoe UI"/>
              <a:cs typeface="Segoe UI"/>
            </a:endParaRPr>
          </a:p>
        </p:txBody>
      </p:sp>
      <p:sp>
        <p:nvSpPr>
          <p:cNvPr id="14" name="TextBox 13">
            <a:extLst>
              <a:ext uri="{FF2B5EF4-FFF2-40B4-BE49-F238E27FC236}">
                <a16:creationId xmlns:a16="http://schemas.microsoft.com/office/drawing/2014/main" id="{6C74870C-3EC8-0F4A-A4E6-CB0C4A0FBB08}"/>
              </a:ext>
            </a:extLst>
          </p:cNvPr>
          <p:cNvSpPr txBox="1"/>
          <p:nvPr/>
        </p:nvSpPr>
        <p:spPr>
          <a:xfrm>
            <a:off x="5130800" y="33782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seul détenteur du savoir des six entrepôts — écrit nulle part</a:t>
            </a:r>
            <a:endParaRPr lang="en-FR">
              <a:solidFill>
                <a:srgbClr val="3C3C3C"/>
              </a:solidFill>
              <a:latin typeface="Segoe UI"/>
              <a:cs typeface="Segoe UI"/>
            </a:endParaRPr>
          </a:p>
        </p:txBody>
      </p:sp>
      <p:sp>
        <p:nvSpPr>
          <p:cNvPr id="15" name="TextBox 14">
            <a:extLst>
              <a:ext uri="{FF2B5EF4-FFF2-40B4-BE49-F238E27FC236}">
                <a16:creationId xmlns:a16="http://schemas.microsoft.com/office/drawing/2014/main" id="{8E12D24C-C113-D549-AE04-CD32F85F2C5B}"/>
              </a:ext>
            </a:extLst>
          </p:cNvPr>
          <p:cNvSpPr txBox="1"/>
          <p:nvPr/>
        </p:nvSpPr>
        <p:spPr>
          <a:xfrm>
            <a:off x="914400" y="39624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4</a:t>
            </a:r>
          </a:p>
        </p:txBody>
      </p:sp>
      <p:sp>
        <p:nvSpPr>
          <p:cNvPr id="16" name="TextBox 15">
            <a:extLst>
              <a:ext uri="{FF2B5EF4-FFF2-40B4-BE49-F238E27FC236}">
                <a16:creationId xmlns:a16="http://schemas.microsoft.com/office/drawing/2014/main" id="{00E77890-5422-A243-B29D-BB94B17F6E1D}"/>
              </a:ext>
            </a:extLst>
          </p:cNvPr>
          <p:cNvSpPr txBox="1"/>
          <p:nvPr/>
        </p:nvSpPr>
        <p:spPr>
          <a:xfrm>
            <a:off x="1320800" y="39624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Logiciel des sondes de température</a:t>
            </a:r>
            <a:endParaRPr lang="en-FR" sz="2000" b="1">
              <a:solidFill>
                <a:srgbClr val="1A1A1A"/>
              </a:solidFill>
              <a:latin typeface="Segoe UI"/>
              <a:cs typeface="Segoe UI"/>
            </a:endParaRPr>
          </a:p>
        </p:txBody>
      </p:sp>
      <p:sp>
        <p:nvSpPr>
          <p:cNvPr id="17" name="TextBox 16">
            <a:extLst>
              <a:ext uri="{FF2B5EF4-FFF2-40B4-BE49-F238E27FC236}">
                <a16:creationId xmlns:a16="http://schemas.microsoft.com/office/drawing/2014/main" id="{C7C9BA1F-73A9-A243-A417-107A4F3CC559}"/>
              </a:ext>
            </a:extLst>
          </p:cNvPr>
          <p:cNvSpPr txBox="1"/>
          <p:nvPr/>
        </p:nvSpPr>
        <p:spPr>
          <a:xfrm>
            <a:off x="5130800" y="39878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porte la chaîne du froid ET la preuve due au client — 12 000 €/j</a:t>
            </a:r>
            <a:endParaRPr lang="en-FR">
              <a:solidFill>
                <a:srgbClr val="3C3C3C"/>
              </a:solidFill>
              <a:latin typeface="Segoe UI"/>
              <a:cs typeface="Segoe UI"/>
            </a:endParaRPr>
          </a:p>
        </p:txBody>
      </p:sp>
      <p:sp>
        <p:nvSpPr>
          <p:cNvPr id="18" name="TextBox 17">
            <a:extLst>
              <a:ext uri="{FF2B5EF4-FFF2-40B4-BE49-F238E27FC236}">
                <a16:creationId xmlns:a16="http://schemas.microsoft.com/office/drawing/2014/main" id="{1D1A07C1-BBB5-D948-9F81-C88EB0338E61}"/>
              </a:ext>
            </a:extLst>
          </p:cNvPr>
          <p:cNvSpPr txBox="1"/>
          <p:nvPr/>
        </p:nvSpPr>
        <p:spPr>
          <a:xfrm>
            <a:off x="914400" y="46482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5</a:t>
            </a:r>
          </a:p>
        </p:txBody>
      </p:sp>
      <p:sp>
        <p:nvSpPr>
          <p:cNvPr id="19" name="TextBox 18">
            <a:extLst>
              <a:ext uri="{FF2B5EF4-FFF2-40B4-BE49-F238E27FC236}">
                <a16:creationId xmlns:a16="http://schemas.microsoft.com/office/drawing/2014/main" id="{29D1FA32-2347-BE4F-90ED-6F6B34B78210}"/>
              </a:ext>
            </a:extLst>
          </p:cNvPr>
          <p:cNvSpPr txBox="1"/>
          <p:nvPr/>
        </p:nvSpPr>
        <p:spPr>
          <a:xfrm>
            <a:off x="1320800" y="46482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Automates de tri</a:t>
            </a:r>
            <a:endParaRPr lang="en-FR" sz="2000" b="1">
              <a:solidFill>
                <a:srgbClr val="1A1A1A"/>
              </a:solidFill>
              <a:latin typeface="Segoe UI"/>
              <a:cs typeface="Segoe UI"/>
            </a:endParaRPr>
          </a:p>
        </p:txBody>
      </p:sp>
      <p:sp>
        <p:nvSpPr>
          <p:cNvPr id="20" name="TextBox 19">
            <a:extLst>
              <a:ext uri="{FF2B5EF4-FFF2-40B4-BE49-F238E27FC236}">
                <a16:creationId xmlns:a16="http://schemas.microsoft.com/office/drawing/2014/main" id="{48CEACEA-9D2E-1243-9022-3CA06443C67F}"/>
              </a:ext>
            </a:extLst>
          </p:cNvPr>
          <p:cNvSpPr txBox="1"/>
          <p:nvPr/>
        </p:nvSpPr>
        <p:spPr>
          <a:xfrm>
            <a:off x="5130800" y="46736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réseaux bureautique et industriel non séparés, aucun journal</a:t>
            </a:r>
            <a:endParaRPr lang="en-FR">
              <a:solidFill>
                <a:srgbClr val="3C3C3C"/>
              </a:solidFill>
              <a:latin typeface="Segoe UI"/>
              <a:cs typeface="Segoe UI"/>
            </a:endParaRPr>
          </a:p>
        </p:txBody>
      </p:sp>
      <p:sp>
        <p:nvSpPr>
          <p:cNvPr id="21" name="Rectangle 20">
            <a:extLst>
              <a:ext uri="{FF2B5EF4-FFF2-40B4-BE49-F238E27FC236}">
                <a16:creationId xmlns:a16="http://schemas.microsoft.com/office/drawing/2014/main" id="{2E27D2D5-2965-D040-B2B8-2411AB065811}"/>
              </a:ext>
            </a:extLst>
          </p:cNvPr>
          <p:cNvSpPr/>
          <p:nvPr/>
        </p:nvSpPr>
        <p:spPr>
          <a:xfrm>
            <a:off x="914400" y="5232400"/>
            <a:ext cx="1879600" cy="8128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sz="1400">
              <a:solidFill>
                <a:srgbClr val="3C3C3C"/>
              </a:solidFill>
            </a:endParaRPr>
          </a:p>
        </p:txBody>
      </p:sp>
      <p:sp>
        <p:nvSpPr>
          <p:cNvPr id="22" name="TextBox 21">
            <a:extLst>
              <a:ext uri="{FF2B5EF4-FFF2-40B4-BE49-F238E27FC236}">
                <a16:creationId xmlns:a16="http://schemas.microsoft.com/office/drawing/2014/main" id="{8F3B1789-8675-C148-B562-20F08FF5FAC4}"/>
              </a:ext>
            </a:extLst>
          </p:cNvPr>
          <p:cNvSpPr txBox="1"/>
          <p:nvPr/>
        </p:nvSpPr>
        <p:spPr>
          <a:xfrm>
            <a:off x="2971800" y="5384800"/>
            <a:ext cx="8356600" cy="558800"/>
          </a:xfrm>
          <a:prstGeom prst="rect">
            <a:avLst/>
          </a:prstGeom>
          <a:noFill/>
        </p:spPr>
        <p:txBody>
          <a:bodyPr vertOverflow="overflow" vert="horz" wrap="square" rtlCol="0" anchor="t">
            <a:noAutofit/>
          </a:bodyPr>
          <a:lstStyle/>
          <a:p>
            <a:pPr algn="l"/>
            <a:r>
              <a:rPr lang="en-GB" sz="1400">
                <a:solidFill>
                  <a:srgbClr val="8A8F98"/>
                </a:solidFill>
                <a:latin typeface="Segoe UI"/>
                <a:cs typeface="Segoe UI"/>
              </a:rPr>
              <a:t>Preuve : S2-05bis-assets-list-Top5-page1-of-3.jpg — recadrée sur la colonne LABELS, étiquette « Top5 » lisible</a:t>
            </a:r>
            <a:endParaRPr lang="en-FR" sz="1400">
              <a:solidFill>
                <a:srgbClr val="8A8F98"/>
              </a:solidFill>
              <a:latin typeface="Segoe UI"/>
              <a:cs typeface="Segoe UI"/>
            </a:endParaRPr>
          </a:p>
        </p:txBody>
      </p:sp>
      <p:pic>
        <p:nvPicPr>
          <p:cNvPr id="23" name="Picture 22">
            <a:extLst>
              <a:ext uri="{FF2B5EF4-FFF2-40B4-BE49-F238E27FC236}">
                <a16:creationId xmlns:a16="http://schemas.microsoft.com/office/drawing/2014/main" id="{97F5A7C9-6C6F-8A8E-9C73-F096B32EE085}"/>
              </a:ext>
            </a:extLst>
          </p:cNvPr>
          <p:cNvPicPr>
            <a:picLocks noChangeAspect="1"/>
          </p:cNvPicPr>
          <p:nvPr/>
        </p:nvPicPr>
        <p:blipFill>
          <a:blip r:embed="rId3"/>
          <a:stretch>
            <a:fillRect/>
          </a:stretch>
        </p:blipFill>
        <p:spPr>
          <a:xfrm>
            <a:off x="1192223" y="5257800"/>
            <a:ext cx="1323952" cy="762000"/>
          </a:xfrm>
          <a:prstGeom prst="rect">
            <a:avLst/>
          </a:prstGeom>
        </p:spPr>
      </p:pic>
    </p:spTree>
    <p:extLst>
      <p:ext uri="{BB962C8B-B14F-4D97-AF65-F5344CB8AC3E}">
        <p14:creationId xmlns:p14="http://schemas.microsoft.com/office/powerpoint/2010/main" val="503697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38109368-F140-D44F-81DF-DF2E14AD5847}"/>
              </a:ext>
            </a:extLst>
          </p:cNvPr>
          <p:cNvSpPr/>
          <p:nvPr/>
        </p:nvSpPr>
        <p:spPr>
          <a:xfrm>
            <a:off x="711200" y="3543300"/>
            <a:ext cx="10617200" cy="5588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6" name="TextBox 25">
            <a:extLst>
              <a:ext uri="{FF2B5EF4-FFF2-40B4-BE49-F238E27FC236}">
                <a16:creationId xmlns:a16="http://schemas.microsoft.com/office/drawing/2014/main" id="{1666EB64-C190-DF45-849C-1B1332F9DFE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que la mesure a donné — et l'angle mort</a:t>
            </a:r>
            <a:endParaRPr lang="en-FR" sz="3200" b="1">
              <a:solidFill>
                <a:srgbClr val="1F4E79"/>
              </a:solidFill>
              <a:latin typeface="Segoe UI"/>
              <a:cs typeface="Segoe UI"/>
            </a:endParaRPr>
          </a:p>
        </p:txBody>
      </p:sp>
      <p:sp>
        <p:nvSpPr>
          <p:cNvPr id="27" name="Rectangle 26">
            <a:extLst>
              <a:ext uri="{FF2B5EF4-FFF2-40B4-BE49-F238E27FC236}">
                <a16:creationId xmlns:a16="http://schemas.microsoft.com/office/drawing/2014/main" id="{EF87D9AA-767C-9B40-A4D2-1B08F40C45A0}"/>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8" name="TextBox 27">
            <a:extLst>
              <a:ext uri="{FF2B5EF4-FFF2-40B4-BE49-F238E27FC236}">
                <a16:creationId xmlns:a16="http://schemas.microsoft.com/office/drawing/2014/main" id="{9997A9DE-F684-C049-B21D-877945C9465B}"/>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Fondations documentées, application non prouvée, angles morts nommés.</a:t>
            </a:r>
            <a:endParaRPr lang="en-FR">
              <a:solidFill>
                <a:srgbClr val="3C3C3C"/>
              </a:solidFill>
              <a:latin typeface="Segoe UI"/>
              <a:cs typeface="Segoe UI"/>
            </a:endParaRPr>
          </a:p>
        </p:txBody>
      </p:sp>
      <p:sp>
        <p:nvSpPr>
          <p:cNvPr id="29" name="TextBox 28">
            <a:extLst>
              <a:ext uri="{FF2B5EF4-FFF2-40B4-BE49-F238E27FC236}">
                <a16:creationId xmlns:a16="http://schemas.microsoft.com/office/drawing/2014/main" id="{C4C48C79-B926-2F4E-85BA-8349864BA4C5}"/>
              </a:ext>
            </a:extLst>
          </p:cNvPr>
          <p:cNvSpPr txBox="1"/>
          <p:nvPr/>
        </p:nvSpPr>
        <p:spPr>
          <a:xfrm>
            <a:off x="914400" y="1955800"/>
            <a:ext cx="3048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Thème</a:t>
            </a:r>
            <a:endParaRPr lang="en-FR" sz="1600" b="1">
              <a:solidFill>
                <a:srgbClr val="3C3C3C"/>
              </a:solidFill>
              <a:latin typeface="Segoe UI"/>
              <a:cs typeface="Segoe UI"/>
            </a:endParaRPr>
          </a:p>
        </p:txBody>
      </p:sp>
      <p:sp>
        <p:nvSpPr>
          <p:cNvPr id="30" name="TextBox 29">
            <a:extLst>
              <a:ext uri="{FF2B5EF4-FFF2-40B4-BE49-F238E27FC236}">
                <a16:creationId xmlns:a16="http://schemas.microsoft.com/office/drawing/2014/main" id="{E86A68C5-C611-4C48-8096-35E3E6F6EF54}"/>
              </a:ext>
            </a:extLst>
          </p:cNvPr>
          <p:cNvSpPr txBox="1"/>
          <p:nvPr/>
        </p:nvSpPr>
        <p:spPr>
          <a:xfrm>
            <a:off x="4191000" y="1955800"/>
            <a:ext cx="1651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regardé</a:t>
            </a:r>
            <a:endParaRPr lang="en-FR" sz="1600" b="1">
              <a:solidFill>
                <a:srgbClr val="3C3C3C"/>
              </a:solidFill>
              <a:latin typeface="Segoe UI"/>
              <a:cs typeface="Segoe UI"/>
            </a:endParaRPr>
          </a:p>
        </p:txBody>
      </p:sp>
      <p:sp>
        <p:nvSpPr>
          <p:cNvPr id="31" name="TextBox 30">
            <a:extLst>
              <a:ext uri="{FF2B5EF4-FFF2-40B4-BE49-F238E27FC236}">
                <a16:creationId xmlns:a16="http://schemas.microsoft.com/office/drawing/2014/main" id="{B3C825F4-5FA9-2545-A72A-FC64B8D774C7}"/>
              </a:ext>
            </a:extLst>
          </p:cNvPr>
          <p:cNvSpPr txBox="1"/>
          <p:nvPr/>
        </p:nvSpPr>
        <p:spPr>
          <a:xfrm>
            <a:off x="6121400" y="1955800"/>
            <a:ext cx="1651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en place</a:t>
            </a:r>
            <a:endParaRPr lang="en-FR" sz="1600" b="1">
              <a:solidFill>
                <a:srgbClr val="3C3C3C"/>
              </a:solidFill>
              <a:latin typeface="Segoe UI"/>
              <a:cs typeface="Segoe UI"/>
            </a:endParaRPr>
          </a:p>
        </p:txBody>
      </p:sp>
      <p:sp>
        <p:nvSpPr>
          <p:cNvPr id="32" name="Rectangle 31">
            <a:extLst>
              <a:ext uri="{FF2B5EF4-FFF2-40B4-BE49-F238E27FC236}">
                <a16:creationId xmlns:a16="http://schemas.microsoft.com/office/drawing/2014/main" id="{CE3F1A3B-92AE-4E45-BF4C-9DC933AA0F49}"/>
              </a:ext>
            </a:extLst>
          </p:cNvPr>
          <p:cNvSpPr/>
          <p:nvPr/>
        </p:nvSpPr>
        <p:spPr>
          <a:xfrm>
            <a:off x="914400" y="2311400"/>
            <a:ext cx="10414000" cy="254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TextBox 32">
            <a:extLst>
              <a:ext uri="{FF2B5EF4-FFF2-40B4-BE49-F238E27FC236}">
                <a16:creationId xmlns:a16="http://schemas.microsoft.com/office/drawing/2014/main" id="{29154BB4-1437-7041-AD3C-011F4DB48BCA}"/>
              </a:ext>
            </a:extLst>
          </p:cNvPr>
          <p:cNvSpPr txBox="1"/>
          <p:nvPr/>
        </p:nvSpPr>
        <p:spPr>
          <a:xfrm>
            <a:off x="914400" y="24892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Organisationnel</a:t>
            </a:r>
            <a:endParaRPr lang="en-FR" sz="2000">
              <a:solidFill>
                <a:srgbClr val="1A1A1A"/>
              </a:solidFill>
              <a:latin typeface="Segoe UI"/>
              <a:cs typeface="Segoe UI"/>
            </a:endParaRPr>
          </a:p>
        </p:txBody>
      </p:sp>
      <p:sp>
        <p:nvSpPr>
          <p:cNvPr id="34" name="TextBox 33">
            <a:extLst>
              <a:ext uri="{FF2B5EF4-FFF2-40B4-BE49-F238E27FC236}">
                <a16:creationId xmlns:a16="http://schemas.microsoft.com/office/drawing/2014/main" id="{C7B40C0E-EF4D-4747-B26F-E0C102B9B15C}"/>
              </a:ext>
            </a:extLst>
          </p:cNvPr>
          <p:cNvSpPr txBox="1"/>
          <p:nvPr/>
        </p:nvSpPr>
        <p:spPr>
          <a:xfrm>
            <a:off x="4191000" y="24892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6 sur 37</a:t>
            </a:r>
            <a:endParaRPr lang="en-FR" sz="2000">
              <a:solidFill>
                <a:srgbClr val="1A1A1A"/>
              </a:solidFill>
              <a:latin typeface="Segoe UI"/>
              <a:cs typeface="Segoe UI"/>
            </a:endParaRPr>
          </a:p>
        </p:txBody>
      </p:sp>
      <p:sp>
        <p:nvSpPr>
          <p:cNvPr id="35" name="TextBox 34">
            <a:extLst>
              <a:ext uri="{FF2B5EF4-FFF2-40B4-BE49-F238E27FC236}">
                <a16:creationId xmlns:a16="http://schemas.microsoft.com/office/drawing/2014/main" id="{4250F5FA-5C16-BC4F-BE71-1CEBF4CF81BA}"/>
              </a:ext>
            </a:extLst>
          </p:cNvPr>
          <p:cNvSpPr txBox="1"/>
          <p:nvPr/>
        </p:nvSpPr>
        <p:spPr>
          <a:xfrm>
            <a:off x="6121400" y="2489200"/>
            <a:ext cx="1651000" cy="355600"/>
          </a:xfrm>
          <a:prstGeom prst="rect">
            <a:avLst/>
          </a:prstGeom>
          <a:noFill/>
        </p:spPr>
        <p:txBody>
          <a:bodyPr vertOverflow="overflow" vert="horz" wrap="square" rtlCol="0" anchor="t">
            <a:noAutofit/>
          </a:bodyPr>
          <a:lstStyle/>
          <a:p>
            <a:pPr algn="l"/>
            <a:r>
              <a:rPr lang="en-FR" sz="2000">
                <a:solidFill>
                  <a:srgbClr val="1A1A1A"/>
                </a:solidFill>
                <a:latin typeface="Segoe UI"/>
                <a:cs typeface="Segoe UI"/>
              </a:rPr>
              <a:t>8 %</a:t>
            </a:r>
          </a:p>
        </p:txBody>
      </p:sp>
      <p:sp>
        <p:nvSpPr>
          <p:cNvPr id="36" name="TextBox 35">
            <a:extLst>
              <a:ext uri="{FF2B5EF4-FFF2-40B4-BE49-F238E27FC236}">
                <a16:creationId xmlns:a16="http://schemas.microsoft.com/office/drawing/2014/main" id="{9CC5AE85-96D3-3944-B654-7864391524B0}"/>
              </a:ext>
            </a:extLst>
          </p:cNvPr>
          <p:cNvSpPr txBox="1"/>
          <p:nvPr/>
        </p:nvSpPr>
        <p:spPr>
          <a:xfrm>
            <a:off x="914400" y="30734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Personnes</a:t>
            </a:r>
            <a:endParaRPr lang="en-FR" sz="2000">
              <a:solidFill>
                <a:srgbClr val="1A1A1A"/>
              </a:solidFill>
              <a:latin typeface="Segoe UI"/>
              <a:cs typeface="Segoe UI"/>
            </a:endParaRPr>
          </a:p>
        </p:txBody>
      </p:sp>
      <p:sp>
        <p:nvSpPr>
          <p:cNvPr id="37" name="TextBox 36">
            <a:extLst>
              <a:ext uri="{FF2B5EF4-FFF2-40B4-BE49-F238E27FC236}">
                <a16:creationId xmlns:a16="http://schemas.microsoft.com/office/drawing/2014/main" id="{034FBFC0-341B-2340-B111-816461B6D092}"/>
              </a:ext>
            </a:extLst>
          </p:cNvPr>
          <p:cNvSpPr txBox="1"/>
          <p:nvPr/>
        </p:nvSpPr>
        <p:spPr>
          <a:xfrm>
            <a:off x="4191000" y="30734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1 sur 8</a:t>
            </a:r>
            <a:endParaRPr lang="en-FR" sz="2000">
              <a:solidFill>
                <a:srgbClr val="1A1A1A"/>
              </a:solidFill>
              <a:latin typeface="Segoe UI"/>
              <a:cs typeface="Segoe UI"/>
            </a:endParaRPr>
          </a:p>
        </p:txBody>
      </p:sp>
      <p:sp>
        <p:nvSpPr>
          <p:cNvPr id="38" name="TextBox 37">
            <a:extLst>
              <a:ext uri="{FF2B5EF4-FFF2-40B4-BE49-F238E27FC236}">
                <a16:creationId xmlns:a16="http://schemas.microsoft.com/office/drawing/2014/main" id="{869B0772-A733-6449-BE06-6B4EEEF6ED68}"/>
              </a:ext>
            </a:extLst>
          </p:cNvPr>
          <p:cNvSpPr txBox="1"/>
          <p:nvPr/>
        </p:nvSpPr>
        <p:spPr>
          <a:xfrm>
            <a:off x="6121400" y="30734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non statuée</a:t>
            </a:r>
            <a:endParaRPr lang="en-FR" sz="2000">
              <a:solidFill>
                <a:srgbClr val="1A1A1A"/>
              </a:solidFill>
              <a:latin typeface="Segoe UI"/>
              <a:cs typeface="Segoe UI"/>
            </a:endParaRPr>
          </a:p>
        </p:txBody>
      </p:sp>
      <p:sp>
        <p:nvSpPr>
          <p:cNvPr id="40" name="TextBox 39">
            <a:extLst>
              <a:ext uri="{FF2B5EF4-FFF2-40B4-BE49-F238E27FC236}">
                <a16:creationId xmlns:a16="http://schemas.microsoft.com/office/drawing/2014/main" id="{48991EFA-CBA2-8E40-8035-A5815A6AF328}"/>
              </a:ext>
            </a:extLst>
          </p:cNvPr>
          <p:cNvSpPr txBox="1"/>
          <p:nvPr/>
        </p:nvSpPr>
        <p:spPr>
          <a:xfrm>
            <a:off x="914400" y="3657600"/>
            <a:ext cx="3048000" cy="3556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Physique</a:t>
            </a:r>
            <a:endParaRPr lang="en-FR" sz="2000" b="1">
              <a:solidFill>
                <a:srgbClr val="1F4E79"/>
              </a:solidFill>
              <a:latin typeface="Segoe UI"/>
              <a:cs typeface="Segoe UI"/>
            </a:endParaRPr>
          </a:p>
        </p:txBody>
      </p:sp>
      <p:sp>
        <p:nvSpPr>
          <p:cNvPr id="41" name="TextBox 40">
            <a:extLst>
              <a:ext uri="{FF2B5EF4-FFF2-40B4-BE49-F238E27FC236}">
                <a16:creationId xmlns:a16="http://schemas.microsoft.com/office/drawing/2014/main" id="{6589CDE6-E2C2-314D-87E6-029E1F662D6E}"/>
              </a:ext>
            </a:extLst>
          </p:cNvPr>
          <p:cNvSpPr txBox="1"/>
          <p:nvPr/>
        </p:nvSpPr>
        <p:spPr>
          <a:xfrm>
            <a:off x="4191000" y="36576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0 sur 14</a:t>
            </a:r>
            <a:endParaRPr lang="en-FR" sz="2000">
              <a:solidFill>
                <a:srgbClr val="1A1A1A"/>
              </a:solidFill>
              <a:latin typeface="Segoe UI"/>
              <a:cs typeface="Segoe UI"/>
            </a:endParaRPr>
          </a:p>
        </p:txBody>
      </p:sp>
      <p:sp>
        <p:nvSpPr>
          <p:cNvPr id="42" name="TextBox 41">
            <a:extLst>
              <a:ext uri="{FF2B5EF4-FFF2-40B4-BE49-F238E27FC236}">
                <a16:creationId xmlns:a16="http://schemas.microsoft.com/office/drawing/2014/main" id="{241DFBC2-FA97-CD43-9EB6-EFF7536D9EF6}"/>
              </a:ext>
            </a:extLst>
          </p:cNvPr>
          <p:cNvSpPr txBox="1"/>
          <p:nvPr/>
        </p:nvSpPr>
        <p:spPr>
          <a:xfrm>
            <a:off x="6121400" y="3657600"/>
            <a:ext cx="16510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a:t>
            </a:r>
          </a:p>
        </p:txBody>
      </p:sp>
      <p:sp>
        <p:nvSpPr>
          <p:cNvPr id="43" name="TextBox 42">
            <a:extLst>
              <a:ext uri="{FF2B5EF4-FFF2-40B4-BE49-F238E27FC236}">
                <a16:creationId xmlns:a16="http://schemas.microsoft.com/office/drawing/2014/main" id="{C9D2B6F9-1540-4C4B-B668-6BFFBF6463FD}"/>
              </a:ext>
            </a:extLst>
          </p:cNvPr>
          <p:cNvSpPr txBox="1"/>
          <p:nvPr/>
        </p:nvSpPr>
        <p:spPr>
          <a:xfrm>
            <a:off x="8077200" y="3683000"/>
            <a:ext cx="3251200" cy="330200"/>
          </a:xfrm>
          <a:prstGeom prst="rect">
            <a:avLst/>
          </a:prstGeom>
          <a:noFill/>
        </p:spPr>
        <p:txBody>
          <a:bodyPr vertOverflow="overflow" vert="horz" wrap="square" rtlCol="0" anchor="t">
            <a:noAutofit/>
          </a:bodyPr>
          <a:lstStyle/>
          <a:p>
            <a:pPr algn="l"/>
            <a:r>
              <a:rPr lang="en-GB" sz="1600">
                <a:solidFill>
                  <a:srgbClr val="1F4E79"/>
                </a:solidFill>
                <a:latin typeface="Segoe UI"/>
                <a:cs typeface="Segoe UI"/>
              </a:rPr>
              <a:t>← six entrepôts, chambres froides</a:t>
            </a:r>
            <a:endParaRPr lang="en-FR" sz="1600">
              <a:solidFill>
                <a:srgbClr val="1F4E79"/>
              </a:solidFill>
              <a:latin typeface="Segoe UI"/>
              <a:cs typeface="Segoe UI"/>
            </a:endParaRPr>
          </a:p>
        </p:txBody>
      </p:sp>
      <p:sp>
        <p:nvSpPr>
          <p:cNvPr id="44" name="TextBox 43">
            <a:extLst>
              <a:ext uri="{FF2B5EF4-FFF2-40B4-BE49-F238E27FC236}">
                <a16:creationId xmlns:a16="http://schemas.microsoft.com/office/drawing/2014/main" id="{975878C6-C20A-4B4F-BBCE-8BE11760C746}"/>
              </a:ext>
            </a:extLst>
          </p:cNvPr>
          <p:cNvSpPr txBox="1"/>
          <p:nvPr/>
        </p:nvSpPr>
        <p:spPr>
          <a:xfrm>
            <a:off x="914400" y="42418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Technologique</a:t>
            </a:r>
            <a:endParaRPr lang="en-FR" sz="2000">
              <a:solidFill>
                <a:srgbClr val="1A1A1A"/>
              </a:solidFill>
              <a:latin typeface="Segoe UI"/>
              <a:cs typeface="Segoe UI"/>
            </a:endParaRPr>
          </a:p>
        </p:txBody>
      </p:sp>
      <p:sp>
        <p:nvSpPr>
          <p:cNvPr id="45" name="TextBox 44">
            <a:extLst>
              <a:ext uri="{FF2B5EF4-FFF2-40B4-BE49-F238E27FC236}">
                <a16:creationId xmlns:a16="http://schemas.microsoft.com/office/drawing/2014/main" id="{6F9752D0-2EE8-C340-9DF1-BB5FC25B3B83}"/>
              </a:ext>
            </a:extLst>
          </p:cNvPr>
          <p:cNvSpPr txBox="1"/>
          <p:nvPr/>
        </p:nvSpPr>
        <p:spPr>
          <a:xfrm>
            <a:off x="4191000" y="42418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5 sur 34</a:t>
            </a:r>
            <a:endParaRPr lang="en-FR" sz="2000">
              <a:solidFill>
                <a:srgbClr val="1A1A1A"/>
              </a:solidFill>
              <a:latin typeface="Segoe UI"/>
              <a:cs typeface="Segoe UI"/>
            </a:endParaRPr>
          </a:p>
        </p:txBody>
      </p:sp>
      <p:sp>
        <p:nvSpPr>
          <p:cNvPr id="46" name="TextBox 45">
            <a:extLst>
              <a:ext uri="{FF2B5EF4-FFF2-40B4-BE49-F238E27FC236}">
                <a16:creationId xmlns:a16="http://schemas.microsoft.com/office/drawing/2014/main" id="{63CBBE72-73D4-E14B-9207-37DAD8C33EA9}"/>
              </a:ext>
            </a:extLst>
          </p:cNvPr>
          <p:cNvSpPr txBox="1"/>
          <p:nvPr/>
        </p:nvSpPr>
        <p:spPr>
          <a:xfrm>
            <a:off x="6121400" y="4241800"/>
            <a:ext cx="1651000" cy="355600"/>
          </a:xfrm>
          <a:prstGeom prst="rect">
            <a:avLst/>
          </a:prstGeom>
          <a:noFill/>
        </p:spPr>
        <p:txBody>
          <a:bodyPr vertOverflow="overflow" vert="horz" wrap="square" rtlCol="0" anchor="t">
            <a:noAutofit/>
          </a:bodyPr>
          <a:lstStyle/>
          <a:p>
            <a:pPr algn="l"/>
            <a:r>
              <a:rPr lang="en-FR" sz="2000">
                <a:solidFill>
                  <a:srgbClr val="1A1A1A"/>
                </a:solidFill>
                <a:latin typeface="Segoe UI"/>
                <a:cs typeface="Segoe UI"/>
              </a:rPr>
              <a:t>10 %</a:t>
            </a:r>
          </a:p>
        </p:txBody>
      </p:sp>
      <p:sp>
        <p:nvSpPr>
          <p:cNvPr id="47" name="TextBox 46">
            <a:extLst>
              <a:ext uri="{FF2B5EF4-FFF2-40B4-BE49-F238E27FC236}">
                <a16:creationId xmlns:a16="http://schemas.microsoft.com/office/drawing/2014/main" id="{B2DCFBA9-1CF7-5D40-866D-C54314D054D0}"/>
              </a:ext>
            </a:extLst>
          </p:cNvPr>
          <p:cNvSpPr txBox="1"/>
          <p:nvPr/>
        </p:nvSpPr>
        <p:spPr>
          <a:xfrm>
            <a:off x="4191000" y="4851400"/>
            <a:ext cx="71374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Aucune exigence pleinement couverte.</a:t>
            </a:r>
            <a:endParaRPr lang="en-FR" sz="1900" b="1">
              <a:solidFill>
                <a:srgbClr val="1F4E79"/>
              </a:solidFill>
              <a:latin typeface="Segoe UI"/>
              <a:cs typeface="Segoe UI"/>
            </a:endParaRPr>
          </a:p>
        </p:txBody>
      </p:sp>
      <p:sp>
        <p:nvSpPr>
          <p:cNvPr id="48" name="TextBox 47">
            <a:extLst>
              <a:ext uri="{FF2B5EF4-FFF2-40B4-BE49-F238E27FC236}">
                <a16:creationId xmlns:a16="http://schemas.microsoft.com/office/drawing/2014/main" id="{CD9D2960-A52E-2E44-93CA-BEEB011D8751}"/>
              </a:ext>
            </a:extLst>
          </p:cNvPr>
          <p:cNvSpPr txBox="1"/>
          <p:nvPr/>
        </p:nvSpPr>
        <p:spPr>
          <a:xfrm>
            <a:off x="914400" y="5359400"/>
            <a:ext cx="10414000" cy="355600"/>
          </a:xfrm>
          <a:prstGeom prst="rect">
            <a:avLst/>
          </a:prstGeom>
          <a:noFill/>
        </p:spPr>
        <p:txBody>
          <a:bodyPr vertOverflow="overflow" vert="horz" wrap="square" rtlCol="0" anchor="t">
            <a:noAutofit/>
          </a:bodyPr>
          <a:lstStyle/>
          <a:p>
            <a:pPr algn="l"/>
            <a:r>
              <a:rPr lang="en-GB" i="1">
                <a:solidFill>
                  <a:srgbClr val="1A1A1A"/>
                </a:solidFill>
                <a:latin typeface="Segoe UI"/>
                <a:cs typeface="Segoe UI"/>
              </a:rPr>
              <a:t>Limite : c'est une auto-évaluation, pas un audit indépendant. Notre rapport le dit.</a:t>
            </a:r>
            <a:endParaRPr lang="en-FR" i="1">
              <a:solidFill>
                <a:srgbClr val="1A1A1A"/>
              </a:solidFill>
              <a:latin typeface="Segoe UI"/>
              <a:cs typeface="Segoe UI"/>
            </a:endParaRPr>
          </a:p>
        </p:txBody>
      </p:sp>
      <p:sp>
        <p:nvSpPr>
          <p:cNvPr id="49" name="TextBox 48">
            <a:extLst>
              <a:ext uri="{FF2B5EF4-FFF2-40B4-BE49-F238E27FC236}">
                <a16:creationId xmlns:a16="http://schemas.microsoft.com/office/drawing/2014/main" id="{F10A6646-37FE-6E4D-B47E-852ED1E507E5}"/>
              </a:ext>
            </a:extLst>
          </p:cNvPr>
          <p:cNvSpPr txBox="1"/>
          <p:nvPr/>
        </p:nvSpPr>
        <p:spPr>
          <a:xfrm>
            <a:off x="914400" y="5765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S4-05-taux-de-conformite-apres-saisie.jpg · en réserve S4-06-ex2-follow-up-findings-C3-C4-C7.png</a:t>
            </a:r>
            <a:endParaRPr lang="en-FR" sz="1500">
              <a:solidFill>
                <a:srgbClr val="3C3C3C"/>
              </a:solidFill>
              <a:latin typeface="Segoe UI"/>
              <a:cs typeface="Segoe UI"/>
            </a:endParaRPr>
          </a:p>
        </p:txBody>
      </p:sp>
    </p:spTree>
    <p:extLst>
      <p:ext uri="{BB962C8B-B14F-4D97-AF65-F5344CB8AC3E}">
        <p14:creationId xmlns:p14="http://schemas.microsoft.com/office/powerpoint/2010/main" val="4011929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35F2339-4DDC-914F-8249-11A5541A859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Qui nous menace — trois acteurs, trois actifs</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C7E0CAF1-A6B4-9D44-A1CA-31266A09A073}"/>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B552F101-B7F8-134C-BF4E-5EF6EE136053}"/>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Trois scénarios retenus sur cinq examinés. Chacun vise l'un des cinq actifs.</a:t>
            </a:r>
            <a:endParaRPr lang="en-FR">
              <a:solidFill>
                <a:srgbClr val="8A8F98"/>
              </a:solidFill>
              <a:latin typeface="Segoe UI"/>
              <a:cs typeface="Segoe UI"/>
            </a:endParaRPr>
          </a:p>
        </p:txBody>
      </p:sp>
      <p:sp>
        <p:nvSpPr>
          <p:cNvPr id="5" name="Rectangle 4">
            <a:extLst>
              <a:ext uri="{FF2B5EF4-FFF2-40B4-BE49-F238E27FC236}">
                <a16:creationId xmlns:a16="http://schemas.microsoft.com/office/drawing/2014/main" id="{AC557673-7EDB-7942-8E33-285E33F21CC2}"/>
              </a:ext>
            </a:extLst>
          </p:cNvPr>
          <p:cNvSpPr/>
          <p:nvPr/>
        </p:nvSpPr>
        <p:spPr>
          <a:xfrm>
            <a:off x="914400" y="20066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 name="TextBox 5">
            <a:extLst>
              <a:ext uri="{FF2B5EF4-FFF2-40B4-BE49-F238E27FC236}">
                <a16:creationId xmlns:a16="http://schemas.microsoft.com/office/drawing/2014/main" id="{29CF6B15-C0A4-6E48-AC88-41ED038C89BD}"/>
              </a:ext>
            </a:extLst>
          </p:cNvPr>
          <p:cNvSpPr txBox="1"/>
          <p:nvPr/>
        </p:nvSpPr>
        <p:spPr>
          <a:xfrm>
            <a:off x="1219200" y="20320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Groupe cybercriminel</a:t>
            </a:r>
            <a:endParaRPr lang="en-FR" sz="2200" b="1">
              <a:solidFill>
                <a:srgbClr val="1F4E79"/>
              </a:solidFill>
              <a:latin typeface="Segoe UI"/>
              <a:cs typeface="Segoe UI"/>
            </a:endParaRPr>
          </a:p>
        </p:txBody>
      </p:sp>
      <p:sp>
        <p:nvSpPr>
          <p:cNvPr id="7" name="TextBox 6">
            <a:extLst>
              <a:ext uri="{FF2B5EF4-FFF2-40B4-BE49-F238E27FC236}">
                <a16:creationId xmlns:a16="http://schemas.microsoft.com/office/drawing/2014/main" id="{9E9D07F9-24AE-4549-8D4B-1A9E65245E07}"/>
              </a:ext>
            </a:extLst>
          </p:cNvPr>
          <p:cNvSpPr txBox="1"/>
          <p:nvPr/>
        </p:nvSpPr>
        <p:spPr>
          <a:xfrm>
            <a:off x="1219200" y="24384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chiffrer le système de gestion d'entrepôt, arrêter l'expédition,
demander une rançon</a:t>
            </a:r>
            <a:endParaRPr lang="en-FR" sz="2000">
              <a:solidFill>
                <a:srgbClr val="1A1A1A"/>
              </a:solidFill>
              <a:latin typeface="Segoe UI"/>
              <a:cs typeface="Segoe UI"/>
            </a:endParaRPr>
          </a:p>
        </p:txBody>
      </p:sp>
      <p:sp>
        <p:nvSpPr>
          <p:cNvPr id="8" name="Rectangle 7">
            <a:extLst>
              <a:ext uri="{FF2B5EF4-FFF2-40B4-BE49-F238E27FC236}">
                <a16:creationId xmlns:a16="http://schemas.microsoft.com/office/drawing/2014/main" id="{EAFDAA9E-09E8-6D4A-9041-EA82A2AD4DF8}"/>
              </a:ext>
            </a:extLst>
          </p:cNvPr>
          <p:cNvSpPr/>
          <p:nvPr/>
        </p:nvSpPr>
        <p:spPr>
          <a:xfrm>
            <a:off x="914400" y="32004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9" name="TextBox 8">
            <a:extLst>
              <a:ext uri="{FF2B5EF4-FFF2-40B4-BE49-F238E27FC236}">
                <a16:creationId xmlns:a16="http://schemas.microsoft.com/office/drawing/2014/main" id="{19FEF5FB-6DF9-6D47-BF66-085D41DDC265}"/>
              </a:ext>
            </a:extLst>
          </p:cNvPr>
          <p:cNvSpPr txBox="1"/>
          <p:nvPr/>
        </p:nvSpPr>
        <p:spPr>
          <a:xfrm>
            <a:off x="1219200" y="32258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Agent interne</a:t>
            </a:r>
            <a:endParaRPr lang="en-FR" sz="2200" b="1">
              <a:solidFill>
                <a:srgbClr val="1F4E79"/>
              </a:solidFill>
              <a:latin typeface="Segoe UI"/>
              <a:cs typeface="Segoe UI"/>
            </a:endParaRPr>
          </a:p>
        </p:txBody>
      </p:sp>
      <p:sp>
        <p:nvSpPr>
          <p:cNvPr id="10" name="TextBox 9">
            <a:extLst>
              <a:ext uri="{FF2B5EF4-FFF2-40B4-BE49-F238E27FC236}">
                <a16:creationId xmlns:a16="http://schemas.microsoft.com/office/drawing/2014/main" id="{EB589D5E-D134-BA4B-90E2-B5B060070365}"/>
              </a:ext>
            </a:extLst>
          </p:cNvPr>
          <p:cNvSpPr txBox="1"/>
          <p:nvPr/>
        </p:nvSpPr>
        <p:spPr>
          <a:xfrm>
            <a:off x="1219200" y="36322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fausser les données de préparation, emporter le savoir-faire des six sites</a:t>
            </a:r>
            <a:endParaRPr lang="en-FR" sz="2000">
              <a:solidFill>
                <a:srgbClr val="1A1A1A"/>
              </a:solidFill>
              <a:latin typeface="Segoe UI"/>
              <a:cs typeface="Segoe UI"/>
            </a:endParaRPr>
          </a:p>
        </p:txBody>
      </p:sp>
      <p:sp>
        <p:nvSpPr>
          <p:cNvPr id="11" name="Rectangle 10">
            <a:extLst>
              <a:ext uri="{FF2B5EF4-FFF2-40B4-BE49-F238E27FC236}">
                <a16:creationId xmlns:a16="http://schemas.microsoft.com/office/drawing/2014/main" id="{132A7571-4AD3-E84A-A77C-2601550DCE23}"/>
              </a:ext>
            </a:extLst>
          </p:cNvPr>
          <p:cNvSpPr/>
          <p:nvPr/>
        </p:nvSpPr>
        <p:spPr>
          <a:xfrm>
            <a:off x="914400" y="43942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2" name="TextBox 11">
            <a:extLst>
              <a:ext uri="{FF2B5EF4-FFF2-40B4-BE49-F238E27FC236}">
                <a16:creationId xmlns:a16="http://schemas.microsoft.com/office/drawing/2014/main" id="{6FBAB1BB-CFF0-0B46-A6C1-26969A85869E}"/>
              </a:ext>
            </a:extLst>
          </p:cNvPr>
          <p:cNvSpPr txBox="1"/>
          <p:nvPr/>
        </p:nvSpPr>
        <p:spPr>
          <a:xfrm>
            <a:off x="1219200" y="44196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Concurrent</a:t>
            </a:r>
            <a:endParaRPr lang="en-FR" sz="2200" b="1">
              <a:solidFill>
                <a:srgbClr val="1F4E79"/>
              </a:solidFill>
              <a:latin typeface="Segoe UI"/>
              <a:cs typeface="Segoe UI"/>
            </a:endParaRPr>
          </a:p>
        </p:txBody>
      </p:sp>
      <p:sp>
        <p:nvSpPr>
          <p:cNvPr id="13" name="TextBox 12">
            <a:extLst>
              <a:ext uri="{FF2B5EF4-FFF2-40B4-BE49-F238E27FC236}">
                <a16:creationId xmlns:a16="http://schemas.microsoft.com/office/drawing/2014/main" id="{F636FA8D-5A79-ED48-BE5F-7E347E19EFF9}"/>
              </a:ext>
            </a:extLst>
          </p:cNvPr>
          <p:cNvSpPr txBox="1"/>
          <p:nvPr/>
        </p:nvSpPr>
        <p:spPr>
          <a:xfrm>
            <a:off x="1219200" y="48260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capter les données d'exploitation et celles du client pharmaceutique</a:t>
            </a:r>
            <a:endParaRPr lang="en-FR" sz="2000">
              <a:solidFill>
                <a:srgbClr val="1A1A1A"/>
              </a:solidFill>
              <a:latin typeface="Segoe UI"/>
              <a:cs typeface="Segoe UI"/>
            </a:endParaRPr>
          </a:p>
        </p:txBody>
      </p:sp>
      <p:sp>
        <p:nvSpPr>
          <p:cNvPr id="14" name="TextBox 13">
            <a:extLst>
              <a:ext uri="{FF2B5EF4-FFF2-40B4-BE49-F238E27FC236}">
                <a16:creationId xmlns:a16="http://schemas.microsoft.com/office/drawing/2014/main" id="{774D8727-AEC2-C74D-929D-941A52076AEA}"/>
              </a:ext>
            </a:extLst>
          </p:cNvPr>
          <p:cNvSpPr txBox="1"/>
          <p:nvPr/>
        </p:nvSpPr>
        <p:spPr>
          <a:xfrm>
            <a:off x="1219200" y="5537200"/>
            <a:ext cx="10160000" cy="330200"/>
          </a:xfrm>
          <a:prstGeom prst="rect">
            <a:avLst/>
          </a:prstGeom>
          <a:noFill/>
        </p:spPr>
        <p:txBody>
          <a:bodyPr vertOverflow="overflow" vert="horz" wrap="square" rtlCol="0" anchor="t">
            <a:noAutofit/>
          </a:bodyPr>
          <a:lstStyle/>
          <a:p>
            <a:pPr algn="l"/>
            <a:r>
              <a:rPr lang="en-GB" i="1">
                <a:solidFill>
                  <a:srgbClr val="8A8F98"/>
                </a:solidFill>
                <a:latin typeface="Segoe UI"/>
                <a:cs typeface="Segoe UI"/>
              </a:rPr>
              <a:t>Un quatrième — le prestataire des automates — est traité à part : slide suivante.</a:t>
            </a:r>
            <a:endParaRPr lang="en-FR" i="1">
              <a:solidFill>
                <a:srgbClr val="8A8F98"/>
              </a:solidFill>
              <a:latin typeface="Segoe UI"/>
              <a:cs typeface="Segoe UI"/>
            </a:endParaRPr>
          </a:p>
        </p:txBody>
      </p:sp>
      <p:sp>
        <p:nvSpPr>
          <p:cNvPr id="15" name="TextBox 14">
            <a:extLst>
              <a:ext uri="{FF2B5EF4-FFF2-40B4-BE49-F238E27FC236}">
                <a16:creationId xmlns:a16="http://schemas.microsoft.com/office/drawing/2014/main" id="{597D652E-22AA-D047-8F06-BF744CB82D1D}"/>
              </a:ext>
            </a:extLst>
          </p:cNvPr>
          <p:cNvSpPr txBox="1"/>
          <p:nvPr/>
        </p:nvSpPr>
        <p:spPr>
          <a:xfrm>
            <a:off x="1219200" y="5867400"/>
            <a:ext cx="10160000" cy="279400"/>
          </a:xfrm>
          <a:prstGeom prst="rect">
            <a:avLst/>
          </a:prstGeom>
          <a:noFill/>
        </p:spPr>
        <p:txBody>
          <a:bodyPr vertOverflow="overflow" vert="horz" wrap="square" rtlCol="0" anchor="t">
            <a:noAutofit/>
          </a:bodyPr>
          <a:lstStyle/>
          <a:p>
            <a:pPr algn="l"/>
            <a:r>
              <a:rPr lang="en-GB" sz="1400" dirty="0" err="1">
                <a:solidFill>
                  <a:srgbClr val="8A8F98"/>
                </a:solidFill>
                <a:latin typeface="Segoe UI"/>
                <a:cs typeface="Segoe UI"/>
              </a:rPr>
              <a:t>Preuve</a:t>
            </a:r>
            <a:r>
              <a:rPr lang="en-GB" sz="1400" dirty="0">
                <a:solidFill>
                  <a:srgbClr val="8A8F98"/>
                </a:solidFill>
                <a:latin typeface="Segoe UI"/>
                <a:cs typeface="Segoe UI"/>
              </a:rPr>
              <a:t> : S5-05-ex5-5-couples-liste-pertinence.jpg — </a:t>
            </a:r>
            <a:r>
              <a:rPr lang="en-GB" sz="1400" dirty="0" err="1">
                <a:solidFill>
                  <a:srgbClr val="8A8F98"/>
                </a:solidFill>
                <a:latin typeface="Segoe UI"/>
                <a:cs typeface="Segoe UI"/>
              </a:rPr>
              <a:t>colonne</a:t>
            </a:r>
            <a:r>
              <a:rPr lang="en-GB" sz="1400" dirty="0">
                <a:solidFill>
                  <a:srgbClr val="8A8F98"/>
                </a:solidFill>
                <a:latin typeface="Segoe UI"/>
                <a:cs typeface="Segoe UI"/>
              </a:rPr>
              <a:t> « Pertinence », les deux écartés</a:t>
            </a:r>
            <a:endParaRPr lang="en-FR" sz="1400" dirty="0">
              <a:solidFill>
                <a:srgbClr val="8A8F98"/>
              </a:solidFill>
              <a:latin typeface="Segoe UI"/>
              <a:cs typeface="Segoe UI"/>
            </a:endParaRPr>
          </a:p>
        </p:txBody>
      </p:sp>
    </p:spTree>
    <p:extLst>
      <p:ext uri="{BB962C8B-B14F-4D97-AF65-F5344CB8AC3E}">
        <p14:creationId xmlns:p14="http://schemas.microsoft.com/office/powerpoint/2010/main" val="29899410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EAB17E-44B2-4145-8BC2-144A2DFA7092}"/>
              </a:ext>
            </a:extLst>
          </p:cNvPr>
          <p:cNvSpPr txBox="1"/>
          <p:nvPr/>
        </p:nvSpPr>
        <p:spPr>
          <a:xfrm>
            <a:off x="914400" y="533400"/>
            <a:ext cx="10414000" cy="508000"/>
          </a:xfrm>
          <a:prstGeom prst="rect">
            <a:avLst/>
          </a:prstGeom>
          <a:noFill/>
        </p:spPr>
        <p:txBody>
          <a:bodyPr vertOverflow="overflow" vert="horz" wrap="square" rtlCol="0" anchor="t">
            <a:noAutofit/>
          </a:bodyPr>
          <a:lstStyle/>
          <a:p>
            <a:pPr algn="l"/>
            <a:r>
              <a:rPr lang="en-GB" sz="2800" b="1">
                <a:solidFill>
                  <a:srgbClr val="1F4E79"/>
                </a:solidFill>
                <a:latin typeface="Segoe UI"/>
                <a:cs typeface="Segoe UI"/>
              </a:rPr>
              <a:t>L'événement le plus grave — et pourquoi il est crédible</a:t>
            </a:r>
            <a:endParaRPr lang="en-FR" sz="2800" b="1">
              <a:solidFill>
                <a:srgbClr val="1F4E79"/>
              </a:solidFill>
              <a:latin typeface="Segoe UI"/>
              <a:cs typeface="Segoe UI"/>
            </a:endParaRPr>
          </a:p>
        </p:txBody>
      </p:sp>
      <p:sp>
        <p:nvSpPr>
          <p:cNvPr id="13" name="Rectangle 12">
            <a:extLst>
              <a:ext uri="{FF2B5EF4-FFF2-40B4-BE49-F238E27FC236}">
                <a16:creationId xmlns:a16="http://schemas.microsoft.com/office/drawing/2014/main" id="{21B41EA4-A7D3-7E42-99D1-0133D47CF5EA}"/>
              </a:ext>
            </a:extLst>
          </p:cNvPr>
          <p:cNvSpPr/>
          <p:nvPr/>
        </p:nvSpPr>
        <p:spPr>
          <a:xfrm>
            <a:off x="914400" y="11176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4" name="TextBox 13">
            <a:extLst>
              <a:ext uri="{FF2B5EF4-FFF2-40B4-BE49-F238E27FC236}">
                <a16:creationId xmlns:a16="http://schemas.microsoft.com/office/drawing/2014/main" id="{9CCA0CE4-D5A4-164E-AD27-2C924867DE60}"/>
              </a:ext>
            </a:extLst>
          </p:cNvPr>
          <p:cNvSpPr txBox="1"/>
          <p:nvPr/>
        </p:nvSpPr>
        <p:spPr>
          <a:xfrm>
            <a:off x="914400" y="1295400"/>
            <a:ext cx="10414000" cy="431800"/>
          </a:xfrm>
          <a:prstGeom prst="rect">
            <a:avLst/>
          </a:prstGeom>
          <a:noFill/>
        </p:spPr>
        <p:txBody>
          <a:bodyPr vertOverflow="overflow" vert="horz" wrap="square" rtlCol="0" anchor="t">
            <a:noAutofit/>
          </a:bodyPr>
          <a:lstStyle/>
          <a:p>
            <a:pPr algn="l"/>
            <a:r>
              <a:rPr lang="en-GB" sz="2400" b="1" dirty="0" err="1">
                <a:solidFill>
                  <a:srgbClr val="1A1A1A"/>
                </a:solidFill>
                <a:latin typeface="Segoe UI"/>
                <a:cs typeface="Segoe UI"/>
              </a:rPr>
              <a:t>L'arrêt</a:t>
            </a:r>
            <a:r>
              <a:rPr lang="en-GB" sz="2400" b="1" dirty="0">
                <a:solidFill>
                  <a:srgbClr val="1A1A1A"/>
                </a:solidFill>
                <a:latin typeface="Segoe UI"/>
                <a:cs typeface="Segoe UI"/>
              </a:rPr>
              <a:t> non </a:t>
            </a:r>
            <a:r>
              <a:rPr lang="en-GB" sz="2400" b="1" dirty="0" err="1">
                <a:solidFill>
                  <a:srgbClr val="1A1A1A"/>
                </a:solidFill>
                <a:latin typeface="Segoe UI"/>
                <a:cs typeface="Segoe UI"/>
              </a:rPr>
              <a:t>planifié</a:t>
            </a:r>
            <a:r>
              <a:rPr lang="en-GB" sz="2400" b="1" dirty="0">
                <a:solidFill>
                  <a:srgbClr val="1A1A1A"/>
                </a:solidFill>
                <a:latin typeface="Segoe UI"/>
                <a:cs typeface="Segoe UI"/>
              </a:rPr>
              <a:t> de </a:t>
            </a:r>
            <a:r>
              <a:rPr lang="en-GB" sz="2400" b="1" dirty="0" err="1">
                <a:solidFill>
                  <a:srgbClr val="1A1A1A"/>
                </a:solidFill>
                <a:latin typeface="Segoe UI"/>
                <a:cs typeface="Segoe UI"/>
              </a:rPr>
              <a:t>l'expédition</a:t>
            </a:r>
            <a:r>
              <a:rPr lang="en-GB" sz="2400" b="1" dirty="0">
                <a:solidFill>
                  <a:srgbClr val="1A1A1A"/>
                </a:solidFill>
                <a:latin typeface="Segoe UI"/>
                <a:cs typeface="Segoe UI"/>
              </a:rPr>
              <a:t> au-</a:t>
            </a:r>
            <a:r>
              <a:rPr lang="en-GB" sz="2400" b="1" dirty="0" err="1">
                <a:solidFill>
                  <a:srgbClr val="1A1A1A"/>
                </a:solidFill>
                <a:latin typeface="Segoe UI"/>
                <a:cs typeface="Segoe UI"/>
              </a:rPr>
              <a:t>delà</a:t>
            </a:r>
            <a:r>
              <a:rPr lang="en-GB" sz="2400" b="1" dirty="0">
                <a:solidFill>
                  <a:srgbClr val="1A1A1A"/>
                </a:solidFill>
                <a:latin typeface="Segoe UI"/>
                <a:cs typeface="Segoe UI"/>
              </a:rPr>
              <a:t> de six </a:t>
            </a:r>
            <a:r>
              <a:rPr lang="en-GB" sz="2400" b="1" dirty="0" err="1">
                <a:solidFill>
                  <a:srgbClr val="1A1A1A"/>
                </a:solidFill>
                <a:latin typeface="Segoe UI"/>
                <a:cs typeface="Segoe UI"/>
              </a:rPr>
              <a:t>heures</a:t>
            </a:r>
            <a:endParaRPr lang="en-FR" sz="2400" b="1" dirty="0">
              <a:solidFill>
                <a:srgbClr val="1A1A1A"/>
              </a:solidFill>
              <a:latin typeface="Segoe UI"/>
              <a:cs typeface="Segoe UI"/>
            </a:endParaRPr>
          </a:p>
        </p:txBody>
      </p:sp>
      <p:sp>
        <p:nvSpPr>
          <p:cNvPr id="15" name="Rectangle 14">
            <a:extLst>
              <a:ext uri="{FF2B5EF4-FFF2-40B4-BE49-F238E27FC236}">
                <a16:creationId xmlns:a16="http://schemas.microsoft.com/office/drawing/2014/main" id="{9E855444-B55D-6F47-8C20-757D5BCE2CDA}"/>
              </a:ext>
            </a:extLst>
          </p:cNvPr>
          <p:cNvSpPr/>
          <p:nvPr/>
        </p:nvSpPr>
        <p:spPr>
          <a:xfrm>
            <a:off x="914400" y="1930400"/>
            <a:ext cx="4724400" cy="35306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6" name="Rectangle 15">
            <a:extLst>
              <a:ext uri="{FF2B5EF4-FFF2-40B4-BE49-F238E27FC236}">
                <a16:creationId xmlns:a16="http://schemas.microsoft.com/office/drawing/2014/main" id="{6C5FB2A1-EFC6-6249-BDFD-7AFECB2071AB}"/>
              </a:ext>
            </a:extLst>
          </p:cNvPr>
          <p:cNvSpPr/>
          <p:nvPr/>
        </p:nvSpPr>
        <p:spPr>
          <a:xfrm>
            <a:off x="5892800" y="1930400"/>
            <a:ext cx="5435600" cy="35306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7" name="TextBox 16">
            <a:extLst>
              <a:ext uri="{FF2B5EF4-FFF2-40B4-BE49-F238E27FC236}">
                <a16:creationId xmlns:a16="http://schemas.microsoft.com/office/drawing/2014/main" id="{6A427C3F-DE60-A344-910B-16A597BB3DE6}"/>
              </a:ext>
            </a:extLst>
          </p:cNvPr>
          <p:cNvSpPr txBox="1"/>
          <p:nvPr/>
        </p:nvSpPr>
        <p:spPr>
          <a:xfrm>
            <a:off x="1270000" y="2209800"/>
            <a:ext cx="4064000" cy="406400"/>
          </a:xfrm>
          <a:prstGeom prst="rect">
            <a:avLst/>
          </a:prstGeom>
          <a:noFill/>
        </p:spPr>
        <p:txBody>
          <a:bodyPr vertOverflow="overflow" vert="horz" wrap="square" rtlCol="0" anchor="t">
            <a:noAutofit/>
          </a:bodyPr>
          <a:lstStyle/>
          <a:p>
            <a:pPr algn="l"/>
            <a:r>
              <a:rPr lang="en-GB" sz="2200" b="1" dirty="0">
                <a:solidFill>
                  <a:srgbClr val="1F4E79"/>
                </a:solidFill>
                <a:latin typeface="Segoe UI"/>
                <a:cs typeface="Segoe UI"/>
              </a:rPr>
              <a:t>GRAVE</a:t>
            </a:r>
            <a:endParaRPr lang="en-FR" sz="2200" b="1" dirty="0">
              <a:solidFill>
                <a:srgbClr val="1F4E79"/>
              </a:solidFill>
              <a:latin typeface="Segoe UI"/>
              <a:cs typeface="Segoe UI"/>
            </a:endParaRPr>
          </a:p>
        </p:txBody>
      </p:sp>
      <p:sp>
        <p:nvSpPr>
          <p:cNvPr id="18" name="TextBox 17">
            <a:extLst>
              <a:ext uri="{FF2B5EF4-FFF2-40B4-BE49-F238E27FC236}">
                <a16:creationId xmlns:a16="http://schemas.microsoft.com/office/drawing/2014/main" id="{A5D8634A-B497-A844-B8C8-BFE4F1426527}"/>
              </a:ext>
            </a:extLst>
          </p:cNvPr>
          <p:cNvSpPr txBox="1"/>
          <p:nvPr/>
        </p:nvSpPr>
        <p:spPr>
          <a:xfrm>
            <a:off x="1270000" y="2819400"/>
            <a:ext cx="4064000" cy="558800"/>
          </a:xfrm>
          <a:prstGeom prst="rect">
            <a:avLst/>
          </a:prstGeom>
          <a:noFill/>
        </p:spPr>
        <p:txBody>
          <a:bodyPr vertOverflow="overflow" vert="horz" wrap="square" rtlCol="0" anchor="t">
            <a:noAutofit/>
          </a:bodyPr>
          <a:lstStyle/>
          <a:p>
            <a:pPr algn="l"/>
            <a:r>
              <a:rPr lang="en-FR" sz="3400" b="1" dirty="0">
                <a:solidFill>
                  <a:srgbClr val="1A1A1A"/>
                </a:solidFill>
                <a:latin typeface="Segoe UI"/>
                <a:cs typeface="Segoe UI"/>
              </a:rPr>
              <a:t>40 %</a:t>
            </a:r>
          </a:p>
        </p:txBody>
      </p:sp>
      <p:sp>
        <p:nvSpPr>
          <p:cNvPr id="19" name="TextBox 18">
            <a:extLst>
              <a:ext uri="{FF2B5EF4-FFF2-40B4-BE49-F238E27FC236}">
                <a16:creationId xmlns:a16="http://schemas.microsoft.com/office/drawing/2014/main" id="{2D5031ED-2AAE-E345-8581-FDF7A722EB1F}"/>
              </a:ext>
            </a:extLst>
          </p:cNvPr>
          <p:cNvSpPr txBox="1"/>
          <p:nvPr/>
        </p:nvSpPr>
        <p:spPr>
          <a:xfrm>
            <a:off x="1270000" y="3403600"/>
            <a:ext cx="4064000" cy="330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du volume expédié du groupe</a:t>
            </a:r>
            <a:endParaRPr lang="en-FR" sz="1700">
              <a:solidFill>
                <a:srgbClr val="3C3C3C"/>
              </a:solidFill>
              <a:latin typeface="Segoe UI"/>
              <a:cs typeface="Segoe UI"/>
            </a:endParaRPr>
          </a:p>
        </p:txBody>
      </p:sp>
      <p:sp>
        <p:nvSpPr>
          <p:cNvPr id="20" name="TextBox 19">
            <a:extLst>
              <a:ext uri="{FF2B5EF4-FFF2-40B4-BE49-F238E27FC236}">
                <a16:creationId xmlns:a16="http://schemas.microsoft.com/office/drawing/2014/main" id="{F04ED05D-0CBA-EA4D-9B3B-7E9B135C07A1}"/>
              </a:ext>
            </a:extLst>
          </p:cNvPr>
          <p:cNvSpPr txBox="1"/>
          <p:nvPr/>
        </p:nvSpPr>
        <p:spPr>
          <a:xfrm>
            <a:off x="1270000" y="4013200"/>
            <a:ext cx="4064000" cy="558800"/>
          </a:xfrm>
          <a:prstGeom prst="rect">
            <a:avLst/>
          </a:prstGeom>
          <a:noFill/>
        </p:spPr>
        <p:txBody>
          <a:bodyPr vertOverflow="overflow" vert="horz" wrap="square" rtlCol="0" anchor="t">
            <a:noAutofit/>
          </a:bodyPr>
          <a:lstStyle/>
          <a:p>
            <a:pPr algn="l"/>
            <a:r>
              <a:rPr lang="en-FR" sz="3400" b="1">
                <a:solidFill>
                  <a:srgbClr val="1A1A1A"/>
                </a:solidFill>
                <a:latin typeface="Segoe UI"/>
                <a:cs typeface="Segoe UI"/>
              </a:rPr>
              <a:t>12 000 €</a:t>
            </a:r>
          </a:p>
        </p:txBody>
      </p:sp>
      <p:sp>
        <p:nvSpPr>
          <p:cNvPr id="21" name="TextBox 20">
            <a:extLst>
              <a:ext uri="{FF2B5EF4-FFF2-40B4-BE49-F238E27FC236}">
                <a16:creationId xmlns:a16="http://schemas.microsoft.com/office/drawing/2014/main" id="{A6E8B760-ED0D-4842-8A50-03853041A826}"/>
              </a:ext>
            </a:extLst>
          </p:cNvPr>
          <p:cNvSpPr txBox="1"/>
          <p:nvPr/>
        </p:nvSpPr>
        <p:spPr>
          <a:xfrm>
            <a:off x="1270000" y="4597400"/>
            <a:ext cx="4064000" cy="330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par jour de pénalités contractuelles</a:t>
            </a:r>
            <a:endParaRPr lang="en-FR" sz="1700">
              <a:solidFill>
                <a:srgbClr val="3C3C3C"/>
              </a:solidFill>
              <a:latin typeface="Segoe UI"/>
              <a:cs typeface="Segoe UI"/>
            </a:endParaRPr>
          </a:p>
        </p:txBody>
      </p:sp>
      <p:sp>
        <p:nvSpPr>
          <p:cNvPr id="22" name="TextBox 21">
            <a:extLst>
              <a:ext uri="{FF2B5EF4-FFF2-40B4-BE49-F238E27FC236}">
                <a16:creationId xmlns:a16="http://schemas.microsoft.com/office/drawing/2014/main" id="{B074A865-B8C0-2F48-8783-1869859378B0}"/>
              </a:ext>
            </a:extLst>
          </p:cNvPr>
          <p:cNvSpPr txBox="1"/>
          <p:nvPr/>
        </p:nvSpPr>
        <p:spPr>
          <a:xfrm>
            <a:off x="6248400" y="2209800"/>
            <a:ext cx="47752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CRÉDIBLE</a:t>
            </a:r>
            <a:endParaRPr lang="en-FR" sz="2200" b="1">
              <a:solidFill>
                <a:srgbClr val="1F4E79"/>
              </a:solidFill>
              <a:latin typeface="Segoe UI"/>
              <a:cs typeface="Segoe UI"/>
            </a:endParaRPr>
          </a:p>
        </p:txBody>
      </p:sp>
      <p:sp>
        <p:nvSpPr>
          <p:cNvPr id="23" name="TextBox 22">
            <a:extLst>
              <a:ext uri="{FF2B5EF4-FFF2-40B4-BE49-F238E27FC236}">
                <a16:creationId xmlns:a16="http://schemas.microsoft.com/office/drawing/2014/main" id="{7C2B36DA-B118-2348-85C5-19152DEDE966}"/>
              </a:ext>
            </a:extLst>
          </p:cNvPr>
          <p:cNvSpPr txBox="1"/>
          <p:nvPr/>
        </p:nvSpPr>
        <p:spPr>
          <a:xfrm>
            <a:off x="6248400" y="2819400"/>
            <a:ext cx="4775200" cy="3302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un seul site, aucun secours</a:t>
            </a:r>
            <a:endParaRPr lang="en-FR">
              <a:solidFill>
                <a:srgbClr val="1A1A1A"/>
              </a:solidFill>
              <a:latin typeface="Segoe UI"/>
              <a:cs typeface="Segoe UI"/>
            </a:endParaRPr>
          </a:p>
        </p:txBody>
      </p:sp>
      <p:sp>
        <p:nvSpPr>
          <p:cNvPr id="24" name="TextBox 23">
            <a:extLst>
              <a:ext uri="{FF2B5EF4-FFF2-40B4-BE49-F238E27FC236}">
                <a16:creationId xmlns:a16="http://schemas.microsoft.com/office/drawing/2014/main" id="{9F372654-A09C-7B46-A45D-2C9ABCDA330F}"/>
              </a:ext>
            </a:extLst>
          </p:cNvPr>
          <p:cNvSpPr txBox="1"/>
          <p:nvPr/>
        </p:nvSpPr>
        <p:spPr>
          <a:xfrm>
            <a:off x="6248400" y="3378200"/>
            <a:ext cx="4775200" cy="6604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des sauvegardes quotidiennes jamais restaurées depuis la mise en service</a:t>
            </a:r>
            <a:endParaRPr lang="en-FR">
              <a:solidFill>
                <a:srgbClr val="1A1A1A"/>
              </a:solidFill>
              <a:latin typeface="Segoe UI"/>
              <a:cs typeface="Segoe UI"/>
            </a:endParaRPr>
          </a:p>
        </p:txBody>
      </p:sp>
      <p:sp>
        <p:nvSpPr>
          <p:cNvPr id="25" name="TextBox 24">
            <a:extLst>
              <a:ext uri="{FF2B5EF4-FFF2-40B4-BE49-F238E27FC236}">
                <a16:creationId xmlns:a16="http://schemas.microsoft.com/office/drawing/2014/main" id="{02415662-ED98-0D4D-9250-99B339BC057B}"/>
              </a:ext>
            </a:extLst>
          </p:cNvPr>
          <p:cNvSpPr txBox="1"/>
          <p:nvPr/>
        </p:nvSpPr>
        <p:spPr>
          <a:xfrm>
            <a:off x="6248400" y="4241800"/>
            <a:ext cx="4775200" cy="9906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un arrêt de ce type a déjà eu lieu en avril — sans que personne ne puisse en tenir la chronologie</a:t>
            </a:r>
            <a:endParaRPr lang="en-FR">
              <a:solidFill>
                <a:srgbClr val="1A1A1A"/>
              </a:solidFill>
              <a:latin typeface="Segoe UI"/>
              <a:cs typeface="Segoe UI"/>
            </a:endParaRPr>
          </a:p>
        </p:txBody>
      </p:sp>
      <p:sp>
        <p:nvSpPr>
          <p:cNvPr id="26" name="TextBox 25">
            <a:extLst>
              <a:ext uri="{FF2B5EF4-FFF2-40B4-BE49-F238E27FC236}">
                <a16:creationId xmlns:a16="http://schemas.microsoft.com/office/drawing/2014/main" id="{6ECFAC86-0DAE-2243-AFB2-0AE9F8D38BDD}"/>
              </a:ext>
            </a:extLst>
          </p:cNvPr>
          <p:cNvSpPr txBox="1"/>
          <p:nvPr/>
        </p:nvSpPr>
        <p:spPr>
          <a:xfrm>
            <a:off x="914400" y="5638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S5-06-etude-summary-compteurs-7-ER.jpg · en annexe A2, la matrice 4×4</a:t>
            </a:r>
            <a:endParaRPr lang="en-FR" sz="1500">
              <a:solidFill>
                <a:srgbClr val="3C3C3C"/>
              </a:solidFill>
              <a:latin typeface="Segoe UI"/>
              <a:cs typeface="Segoe UI"/>
            </a:endParaRPr>
          </a:p>
        </p:txBody>
      </p:sp>
    </p:spTree>
    <p:extLst>
      <p:ext uri="{BB962C8B-B14F-4D97-AF65-F5344CB8AC3E}">
        <p14:creationId xmlns:p14="http://schemas.microsoft.com/office/powerpoint/2010/main" val="691444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EA6D5FFE-2854-DC40-B18D-2D41F666C5B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Le risque entre par le contrat</a:t>
            </a:r>
            <a:endParaRPr lang="en-FR" sz="3200" b="1">
              <a:solidFill>
                <a:srgbClr val="1F4E79"/>
              </a:solidFill>
              <a:latin typeface="Segoe UI"/>
              <a:cs typeface="Segoe UI"/>
            </a:endParaRPr>
          </a:p>
        </p:txBody>
      </p:sp>
      <p:sp>
        <p:nvSpPr>
          <p:cNvPr id="20" name="Rectangle 19">
            <a:extLst>
              <a:ext uri="{FF2B5EF4-FFF2-40B4-BE49-F238E27FC236}">
                <a16:creationId xmlns:a16="http://schemas.microsoft.com/office/drawing/2014/main" id="{EDC8FA3C-4405-3C4F-BCBA-272E0F3F107A}"/>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1" name="TextBox 20">
            <a:extLst>
              <a:ext uri="{FF2B5EF4-FFF2-40B4-BE49-F238E27FC236}">
                <a16:creationId xmlns:a16="http://schemas.microsoft.com/office/drawing/2014/main" id="{F98D957A-176F-CE48-8E82-E79CA83B47C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Cinq partenaires cotés sur leur dépendance et leur fiabilité. Deux dépassent le seuil.</a:t>
            </a:r>
            <a:endParaRPr lang="en-FR">
              <a:solidFill>
                <a:srgbClr val="3C3C3C"/>
              </a:solidFill>
              <a:latin typeface="Segoe UI"/>
              <a:cs typeface="Segoe UI"/>
            </a:endParaRPr>
          </a:p>
        </p:txBody>
      </p:sp>
      <p:sp>
        <p:nvSpPr>
          <p:cNvPr id="22" name="TextBox 21">
            <a:extLst>
              <a:ext uri="{FF2B5EF4-FFF2-40B4-BE49-F238E27FC236}">
                <a16:creationId xmlns:a16="http://schemas.microsoft.com/office/drawing/2014/main" id="{0B540FF3-239E-8C4A-A55A-308F860890BF}"/>
              </a:ext>
            </a:extLst>
          </p:cNvPr>
          <p:cNvSpPr txBox="1"/>
          <p:nvPr/>
        </p:nvSpPr>
        <p:spPr>
          <a:xfrm>
            <a:off x="914400" y="1905000"/>
            <a:ext cx="4572000" cy="3556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Intégrateur des automates</a:t>
            </a:r>
            <a:endParaRPr lang="en-FR" sz="1900" b="1">
              <a:solidFill>
                <a:srgbClr val="1A1A1A"/>
              </a:solidFill>
              <a:latin typeface="Segoe UI"/>
              <a:cs typeface="Segoe UI"/>
            </a:endParaRPr>
          </a:p>
        </p:txBody>
      </p:sp>
      <p:sp>
        <p:nvSpPr>
          <p:cNvPr id="23" name="TextBox 22">
            <a:extLst>
              <a:ext uri="{FF2B5EF4-FFF2-40B4-BE49-F238E27FC236}">
                <a16:creationId xmlns:a16="http://schemas.microsoft.com/office/drawing/2014/main" id="{6F5A0F15-05EA-2E4A-A7E7-34A3BDF24662}"/>
              </a:ext>
            </a:extLst>
          </p:cNvPr>
          <p:cNvSpPr txBox="1"/>
          <p:nvPr/>
        </p:nvSpPr>
        <p:spPr>
          <a:xfrm>
            <a:off x="5588000" y="1905000"/>
            <a:ext cx="762000" cy="355600"/>
          </a:xfrm>
          <a:prstGeom prst="rect">
            <a:avLst/>
          </a:prstGeom>
          <a:noFill/>
        </p:spPr>
        <p:txBody>
          <a:bodyPr vertOverflow="overflow" vert="horz" wrap="square" rtlCol="0" anchor="t">
            <a:noAutofit/>
          </a:bodyPr>
          <a:lstStyle/>
          <a:p>
            <a:pPr algn="l"/>
            <a:r>
              <a:rPr lang="en-FR" sz="1900" b="1">
                <a:solidFill>
                  <a:srgbClr val="1F4E79"/>
                </a:solidFill>
                <a:latin typeface="Segoe UI"/>
                <a:cs typeface="Segoe UI"/>
              </a:rPr>
              <a:t>12,0</a:t>
            </a:r>
          </a:p>
        </p:txBody>
      </p:sp>
      <p:sp>
        <p:nvSpPr>
          <p:cNvPr id="24" name="TextBox 23">
            <a:extLst>
              <a:ext uri="{FF2B5EF4-FFF2-40B4-BE49-F238E27FC236}">
                <a16:creationId xmlns:a16="http://schemas.microsoft.com/office/drawing/2014/main" id="{84031F7B-6DBD-A948-A618-17D899C2D87D}"/>
              </a:ext>
            </a:extLst>
          </p:cNvPr>
          <p:cNvSpPr txBox="1"/>
          <p:nvPr/>
        </p:nvSpPr>
        <p:spPr>
          <a:xfrm>
            <a:off x="6654800" y="1930400"/>
            <a:ext cx="4673600" cy="5588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accès permanent, hors de notre réseau supervisé</a:t>
            </a:r>
            <a:endParaRPr lang="en-FR" sz="1700">
              <a:solidFill>
                <a:srgbClr val="3C3C3C"/>
              </a:solidFill>
              <a:latin typeface="Segoe UI"/>
              <a:cs typeface="Segoe UI"/>
            </a:endParaRPr>
          </a:p>
        </p:txBody>
      </p:sp>
      <p:sp>
        <p:nvSpPr>
          <p:cNvPr id="25" name="TextBox 24">
            <a:extLst>
              <a:ext uri="{FF2B5EF4-FFF2-40B4-BE49-F238E27FC236}">
                <a16:creationId xmlns:a16="http://schemas.microsoft.com/office/drawing/2014/main" id="{EF0412D6-C0F0-2C46-8409-46220E5439A1}"/>
              </a:ext>
            </a:extLst>
          </p:cNvPr>
          <p:cNvSpPr txBox="1"/>
          <p:nvPr/>
        </p:nvSpPr>
        <p:spPr>
          <a:xfrm>
            <a:off x="914400" y="2540000"/>
            <a:ext cx="4572000" cy="3556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Maintenance du système d'entrepôt</a:t>
            </a:r>
            <a:endParaRPr lang="en-FR" sz="1900" b="1">
              <a:solidFill>
                <a:srgbClr val="1A1A1A"/>
              </a:solidFill>
              <a:latin typeface="Segoe UI"/>
              <a:cs typeface="Segoe UI"/>
            </a:endParaRPr>
          </a:p>
        </p:txBody>
      </p:sp>
      <p:sp>
        <p:nvSpPr>
          <p:cNvPr id="26" name="TextBox 25">
            <a:extLst>
              <a:ext uri="{FF2B5EF4-FFF2-40B4-BE49-F238E27FC236}">
                <a16:creationId xmlns:a16="http://schemas.microsoft.com/office/drawing/2014/main" id="{C4A2E692-4705-3048-A6CD-502942B08484}"/>
              </a:ext>
            </a:extLst>
          </p:cNvPr>
          <p:cNvSpPr txBox="1"/>
          <p:nvPr/>
        </p:nvSpPr>
        <p:spPr>
          <a:xfrm>
            <a:off x="5588000" y="2540000"/>
            <a:ext cx="762000" cy="355600"/>
          </a:xfrm>
          <a:prstGeom prst="rect">
            <a:avLst/>
          </a:prstGeom>
          <a:noFill/>
        </p:spPr>
        <p:txBody>
          <a:bodyPr vertOverflow="overflow" vert="horz" wrap="square" rtlCol="0" anchor="t">
            <a:noAutofit/>
          </a:bodyPr>
          <a:lstStyle/>
          <a:p>
            <a:pPr algn="l"/>
            <a:r>
              <a:rPr lang="en-FR" sz="1900" b="1">
                <a:solidFill>
                  <a:srgbClr val="1F4E79"/>
                </a:solidFill>
                <a:latin typeface="Segoe UI"/>
                <a:cs typeface="Segoe UI"/>
              </a:rPr>
              <a:t>8,0</a:t>
            </a:r>
          </a:p>
        </p:txBody>
      </p:sp>
      <p:sp>
        <p:nvSpPr>
          <p:cNvPr id="27" name="TextBox 26">
            <a:extLst>
              <a:ext uri="{FF2B5EF4-FFF2-40B4-BE49-F238E27FC236}">
                <a16:creationId xmlns:a16="http://schemas.microsoft.com/office/drawing/2014/main" id="{3083F7AD-0C79-AB40-84AA-41BC1C37B04F}"/>
              </a:ext>
            </a:extLst>
          </p:cNvPr>
          <p:cNvSpPr txBox="1"/>
          <p:nvPr/>
        </p:nvSpPr>
        <p:spPr>
          <a:xfrm>
            <a:off x="6654800" y="2565400"/>
            <a:ext cx="4673600" cy="5588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compte partagé, porteurs inconnus</a:t>
            </a:r>
            <a:endParaRPr lang="en-FR" sz="1700">
              <a:solidFill>
                <a:srgbClr val="3C3C3C"/>
              </a:solidFill>
              <a:latin typeface="Segoe UI"/>
              <a:cs typeface="Segoe UI"/>
            </a:endParaRPr>
          </a:p>
        </p:txBody>
      </p:sp>
      <p:sp>
        <p:nvSpPr>
          <p:cNvPr id="28" name="TextBox 27">
            <a:extLst>
              <a:ext uri="{FF2B5EF4-FFF2-40B4-BE49-F238E27FC236}">
                <a16:creationId xmlns:a16="http://schemas.microsoft.com/office/drawing/2014/main" id="{E7AF145F-A0DE-8A49-9134-708F7F749AE9}"/>
              </a:ext>
            </a:extLst>
          </p:cNvPr>
          <p:cNvSpPr txBox="1"/>
          <p:nvPr/>
        </p:nvSpPr>
        <p:spPr>
          <a:xfrm>
            <a:off x="914400" y="3022600"/>
            <a:ext cx="3810000" cy="304800"/>
          </a:xfrm>
          <a:prstGeom prst="rect">
            <a:avLst/>
          </a:prstGeom>
          <a:noFill/>
        </p:spPr>
        <p:txBody>
          <a:bodyPr vertOverflow="overflow" vert="horz" wrap="square" rtlCol="0" anchor="t">
            <a:noAutofit/>
          </a:bodyPr>
          <a:lstStyle/>
          <a:p>
            <a:pPr algn="l"/>
            <a:r>
              <a:rPr lang="en-GB" sz="1500" b="1">
                <a:solidFill>
                  <a:srgbClr val="1F4E79"/>
                </a:solidFill>
                <a:latin typeface="Segoe UI"/>
                <a:cs typeface="Segoe UI"/>
              </a:rPr>
              <a:t>seuil écrit : 4,0</a:t>
            </a:r>
            <a:endParaRPr lang="en-FR" sz="1500" b="1">
              <a:solidFill>
                <a:srgbClr val="1F4E79"/>
              </a:solidFill>
              <a:latin typeface="Segoe UI"/>
              <a:cs typeface="Segoe UI"/>
            </a:endParaRPr>
          </a:p>
        </p:txBody>
      </p:sp>
      <p:sp>
        <p:nvSpPr>
          <p:cNvPr id="29" name="Rectangle 28">
            <a:extLst>
              <a:ext uri="{FF2B5EF4-FFF2-40B4-BE49-F238E27FC236}">
                <a16:creationId xmlns:a16="http://schemas.microsoft.com/office/drawing/2014/main" id="{961B3DAE-D54E-B645-B259-EED5C0CA69A9}"/>
              </a:ext>
            </a:extLst>
          </p:cNvPr>
          <p:cNvSpPr/>
          <p:nvPr/>
        </p:nvSpPr>
        <p:spPr>
          <a:xfrm>
            <a:off x="914400" y="3352800"/>
            <a:ext cx="10414000" cy="254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0" name="TextBox 29">
            <a:extLst>
              <a:ext uri="{FF2B5EF4-FFF2-40B4-BE49-F238E27FC236}">
                <a16:creationId xmlns:a16="http://schemas.microsoft.com/office/drawing/2014/main" id="{AF16BC22-BCD7-3D41-813A-F819BF6368F3}"/>
              </a:ext>
            </a:extLst>
          </p:cNvPr>
          <p:cNvSpPr txBox="1"/>
          <p:nvPr/>
        </p:nvSpPr>
        <p:spPr>
          <a:xfrm>
            <a:off x="914400" y="3505200"/>
            <a:ext cx="4572000" cy="355600"/>
          </a:xfrm>
          <a:prstGeom prst="rect">
            <a:avLst/>
          </a:prstGeom>
          <a:noFill/>
        </p:spPr>
        <p:txBody>
          <a:bodyPr vertOverflow="overflow" vert="horz" wrap="square" rtlCol="0" anchor="t">
            <a:noAutofit/>
          </a:bodyPr>
          <a:lstStyle/>
          <a:p>
            <a:pPr algn="l"/>
            <a:r>
              <a:rPr lang="en-GB" sz="1900">
                <a:solidFill>
                  <a:srgbClr val="3C3C3C"/>
                </a:solidFill>
                <a:latin typeface="Segoe UI"/>
                <a:cs typeface="Segoe UI"/>
              </a:rPr>
              <a:t>Trois autres</a:t>
            </a:r>
            <a:endParaRPr lang="en-FR" sz="1900">
              <a:solidFill>
                <a:srgbClr val="3C3C3C"/>
              </a:solidFill>
              <a:latin typeface="Segoe UI"/>
              <a:cs typeface="Segoe UI"/>
            </a:endParaRPr>
          </a:p>
        </p:txBody>
      </p:sp>
      <p:sp>
        <p:nvSpPr>
          <p:cNvPr id="31" name="TextBox 30">
            <a:extLst>
              <a:ext uri="{FF2B5EF4-FFF2-40B4-BE49-F238E27FC236}">
                <a16:creationId xmlns:a16="http://schemas.microsoft.com/office/drawing/2014/main" id="{117A4B51-024E-2146-9BDF-42ED737B7725}"/>
              </a:ext>
            </a:extLst>
          </p:cNvPr>
          <p:cNvSpPr txBox="1"/>
          <p:nvPr/>
        </p:nvSpPr>
        <p:spPr>
          <a:xfrm>
            <a:off x="5588000" y="3505200"/>
            <a:ext cx="762000" cy="355600"/>
          </a:xfrm>
          <a:prstGeom prst="rect">
            <a:avLst/>
          </a:prstGeom>
          <a:noFill/>
        </p:spPr>
        <p:txBody>
          <a:bodyPr vertOverflow="overflow" vert="horz" wrap="square" rtlCol="0" anchor="t">
            <a:noAutofit/>
          </a:bodyPr>
          <a:lstStyle/>
          <a:p>
            <a:pPr algn="l"/>
            <a:r>
              <a:rPr lang="en-FR" sz="1900">
                <a:solidFill>
                  <a:srgbClr val="3C3C3C"/>
                </a:solidFill>
                <a:latin typeface="Segoe UI"/>
                <a:cs typeface="Segoe UI"/>
              </a:rPr>
              <a:t>≤ 1,0</a:t>
            </a:r>
          </a:p>
        </p:txBody>
      </p:sp>
      <p:sp>
        <p:nvSpPr>
          <p:cNvPr id="32" name="Rectangle 31">
            <a:extLst>
              <a:ext uri="{FF2B5EF4-FFF2-40B4-BE49-F238E27FC236}">
                <a16:creationId xmlns:a16="http://schemas.microsoft.com/office/drawing/2014/main" id="{FCFC9218-3F05-EA45-A795-6F9110449559}"/>
              </a:ext>
            </a:extLst>
          </p:cNvPr>
          <p:cNvSpPr/>
          <p:nvPr/>
        </p:nvSpPr>
        <p:spPr>
          <a:xfrm>
            <a:off x="914400" y="4165600"/>
            <a:ext cx="10414000" cy="12700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TextBox 32">
            <a:extLst>
              <a:ext uri="{FF2B5EF4-FFF2-40B4-BE49-F238E27FC236}">
                <a16:creationId xmlns:a16="http://schemas.microsoft.com/office/drawing/2014/main" id="{0139590C-5092-734A-8940-2A678889DB05}"/>
              </a:ext>
            </a:extLst>
          </p:cNvPr>
          <p:cNvSpPr txBox="1"/>
          <p:nvPr/>
        </p:nvSpPr>
        <p:spPr>
          <a:xfrm>
            <a:off x="1270000" y="4419600"/>
            <a:ext cx="7366000" cy="7112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2017 — un transporteur européen, non visé, non piraté, installe de bonne foi la mise à jour d'un fournisseur compromis.</a:t>
            </a:r>
            <a:endParaRPr lang="en-FR">
              <a:solidFill>
                <a:srgbClr val="1A1A1A"/>
              </a:solidFill>
              <a:latin typeface="Segoe UI"/>
              <a:cs typeface="Segoe UI"/>
            </a:endParaRPr>
          </a:p>
        </p:txBody>
      </p:sp>
      <p:sp>
        <p:nvSpPr>
          <p:cNvPr id="34" name="TextBox 33">
            <a:extLst>
              <a:ext uri="{FF2B5EF4-FFF2-40B4-BE49-F238E27FC236}">
                <a16:creationId xmlns:a16="http://schemas.microsoft.com/office/drawing/2014/main" id="{6B2DB7E8-F9AD-1E4C-9990-371CA609D43F}"/>
              </a:ext>
            </a:extLst>
          </p:cNvPr>
          <p:cNvSpPr txBox="1"/>
          <p:nvPr/>
        </p:nvSpPr>
        <p:spPr>
          <a:xfrm>
            <a:off x="8890000" y="4419600"/>
            <a:ext cx="2133600" cy="762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250–300 M$
en un trimestre</a:t>
            </a:r>
            <a:endParaRPr lang="en-FR" sz="2000" b="1">
              <a:solidFill>
                <a:srgbClr val="1F4E79"/>
              </a:solidFill>
              <a:latin typeface="Segoe UI"/>
              <a:cs typeface="Segoe UI"/>
            </a:endParaRPr>
          </a:p>
        </p:txBody>
      </p:sp>
      <p:sp>
        <p:nvSpPr>
          <p:cNvPr id="35" name="TextBox 34">
            <a:extLst>
              <a:ext uri="{FF2B5EF4-FFF2-40B4-BE49-F238E27FC236}">
                <a16:creationId xmlns:a16="http://schemas.microsoft.com/office/drawing/2014/main" id="{EC019669-50A4-8C4C-B698-9F52724B0049}"/>
              </a:ext>
            </a:extLst>
          </p:cNvPr>
          <p:cNvSpPr txBox="1"/>
          <p:nvPr/>
        </p:nvSpPr>
        <p:spPr>
          <a:xfrm>
            <a:off x="914400" y="5638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S6-06-ecosystem-criticites-5PP-2-selected.jpg · en annexe A4, la carte de dangerosité</a:t>
            </a:r>
            <a:endParaRPr lang="en-FR" sz="1500">
              <a:solidFill>
                <a:srgbClr val="3C3C3C"/>
              </a:solidFill>
              <a:latin typeface="Segoe UI"/>
              <a:cs typeface="Segoe UI"/>
            </a:endParaRPr>
          </a:p>
        </p:txBody>
      </p:sp>
    </p:spTree>
    <p:extLst>
      <p:ext uri="{BB962C8B-B14F-4D97-AF65-F5344CB8AC3E}">
        <p14:creationId xmlns:p14="http://schemas.microsoft.com/office/powerpoint/2010/main" val="320752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707172-664B-B546-8549-F5A9C215FA0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 règle que le groupe se donne</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49FAAFDF-0A7A-CC48-B098-64049034169A}"/>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AD1E337D-F6FA-C443-A03B-03D746B9CA27}"/>
              </a:ext>
            </a:extLst>
          </p:cNvPr>
          <p:cNvSpPr txBox="1"/>
          <p:nvPr/>
        </p:nvSpPr>
        <p:spPr>
          <a:xfrm>
            <a:off x="914400" y="1371600"/>
            <a:ext cx="10414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Aucun contrat donnant accès à un actif critique n'est signé ni renouvelé sans trois exigences :</a:t>
            </a:r>
            <a:endParaRPr lang="en-FR" sz="2000">
              <a:solidFill>
                <a:srgbClr val="1A1A1A"/>
              </a:solidFill>
              <a:latin typeface="Segoe UI"/>
              <a:cs typeface="Segoe UI"/>
            </a:endParaRPr>
          </a:p>
        </p:txBody>
      </p:sp>
      <p:sp>
        <p:nvSpPr>
          <p:cNvPr id="5" name="Oval 4">
            <a:extLst>
              <a:ext uri="{FF2B5EF4-FFF2-40B4-BE49-F238E27FC236}">
                <a16:creationId xmlns:a16="http://schemas.microsoft.com/office/drawing/2014/main" id="{12692621-B8E9-E74E-A45F-82E5EDC8D6D5}"/>
              </a:ext>
            </a:extLst>
          </p:cNvPr>
          <p:cNvSpPr/>
          <p:nvPr/>
        </p:nvSpPr>
        <p:spPr>
          <a:xfrm>
            <a:off x="965200" y="20066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1</a:t>
            </a:r>
          </a:p>
        </p:txBody>
      </p:sp>
      <p:sp>
        <p:nvSpPr>
          <p:cNvPr id="6" name="TextBox 5">
            <a:extLst>
              <a:ext uri="{FF2B5EF4-FFF2-40B4-BE49-F238E27FC236}">
                <a16:creationId xmlns:a16="http://schemas.microsoft.com/office/drawing/2014/main" id="{DF92322D-5100-0A4A-847F-CAE8D1FDB628}"/>
              </a:ext>
            </a:extLst>
          </p:cNvPr>
          <p:cNvSpPr txBox="1"/>
          <p:nvPr/>
        </p:nvSpPr>
        <p:spPr>
          <a:xfrm>
            <a:off x="1727200" y="20828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journalisation par utilisateur nommé — savoir qui a fait quoi</a:t>
            </a:r>
            <a:endParaRPr lang="en-FR" sz="2200">
              <a:solidFill>
                <a:srgbClr val="1A1A1A"/>
              </a:solidFill>
              <a:latin typeface="Segoe UI"/>
              <a:cs typeface="Segoe UI"/>
            </a:endParaRPr>
          </a:p>
        </p:txBody>
      </p:sp>
      <p:sp>
        <p:nvSpPr>
          <p:cNvPr id="7" name="Oval 6">
            <a:extLst>
              <a:ext uri="{FF2B5EF4-FFF2-40B4-BE49-F238E27FC236}">
                <a16:creationId xmlns:a16="http://schemas.microsoft.com/office/drawing/2014/main" id="{DC64C3F5-822A-A042-8AB7-48D62CFE8222}"/>
              </a:ext>
            </a:extLst>
          </p:cNvPr>
          <p:cNvSpPr/>
          <p:nvPr/>
        </p:nvSpPr>
        <p:spPr>
          <a:xfrm>
            <a:off x="965200" y="27432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2</a:t>
            </a:r>
          </a:p>
        </p:txBody>
      </p:sp>
      <p:sp>
        <p:nvSpPr>
          <p:cNvPr id="8" name="TextBox 7">
            <a:extLst>
              <a:ext uri="{FF2B5EF4-FFF2-40B4-BE49-F238E27FC236}">
                <a16:creationId xmlns:a16="http://schemas.microsoft.com/office/drawing/2014/main" id="{0BDB12CC-8EF6-6C4B-A858-4959BF5F72DA}"/>
              </a:ext>
            </a:extLst>
          </p:cNvPr>
          <p:cNvSpPr txBox="1"/>
          <p:nvPr/>
        </p:nvSpPr>
        <p:spPr>
          <a:xfrm>
            <a:off x="1727200" y="28194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notification sous 24 heures d'une compromission chez le prestataire</a:t>
            </a:r>
            <a:endParaRPr lang="en-FR" sz="2200">
              <a:solidFill>
                <a:srgbClr val="1A1A1A"/>
              </a:solidFill>
              <a:latin typeface="Segoe UI"/>
              <a:cs typeface="Segoe UI"/>
            </a:endParaRPr>
          </a:p>
        </p:txBody>
      </p:sp>
      <p:sp>
        <p:nvSpPr>
          <p:cNvPr id="9" name="Oval 8">
            <a:extLst>
              <a:ext uri="{FF2B5EF4-FFF2-40B4-BE49-F238E27FC236}">
                <a16:creationId xmlns:a16="http://schemas.microsoft.com/office/drawing/2014/main" id="{6B00C311-0E6C-AA4E-A290-BF091227CBC4}"/>
              </a:ext>
            </a:extLst>
          </p:cNvPr>
          <p:cNvSpPr/>
          <p:nvPr/>
        </p:nvSpPr>
        <p:spPr>
          <a:xfrm>
            <a:off x="965200" y="34798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3</a:t>
            </a:r>
          </a:p>
        </p:txBody>
      </p:sp>
      <p:sp>
        <p:nvSpPr>
          <p:cNvPr id="10" name="TextBox 9">
            <a:extLst>
              <a:ext uri="{FF2B5EF4-FFF2-40B4-BE49-F238E27FC236}">
                <a16:creationId xmlns:a16="http://schemas.microsoft.com/office/drawing/2014/main" id="{981EB369-CB9D-DA4A-93D6-2CE1B053F1B3}"/>
              </a:ext>
            </a:extLst>
          </p:cNvPr>
          <p:cNvSpPr txBox="1"/>
          <p:nvPr/>
        </p:nvSpPr>
        <p:spPr>
          <a:xfrm>
            <a:off x="1727200" y="35560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réversibilité — pouvoir partir</a:t>
            </a:r>
            <a:endParaRPr lang="en-FR" sz="2200">
              <a:solidFill>
                <a:srgbClr val="1A1A1A"/>
              </a:solidFill>
              <a:latin typeface="Segoe UI"/>
              <a:cs typeface="Segoe UI"/>
            </a:endParaRPr>
          </a:p>
        </p:txBody>
      </p:sp>
      <p:sp>
        <p:nvSpPr>
          <p:cNvPr id="11" name="TextBox 10">
            <a:extLst>
              <a:ext uri="{FF2B5EF4-FFF2-40B4-BE49-F238E27FC236}">
                <a16:creationId xmlns:a16="http://schemas.microsoft.com/office/drawing/2014/main" id="{5A43774E-C15D-5C46-BA35-3BAC66EEF88B}"/>
              </a:ext>
            </a:extLst>
          </p:cNvPr>
          <p:cNvSpPr txBox="1"/>
          <p:nvPr/>
        </p:nvSpPr>
        <p:spPr>
          <a:xfrm>
            <a:off x="1727200" y="4292600"/>
            <a:ext cx="96012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Opposables par la Direction Juridique </a:t>
            </a:r>
            <a:r>
              <a:rPr lang="en-GB" sz="1900" b="1" i="1">
                <a:solidFill>
                  <a:srgbClr val="3C3C3C"/>
                </a:solidFill>
                <a:latin typeface="Segoe UI"/>
                <a:cs typeface="Segoe UI"/>
              </a:rPr>
              <a:t>avant</a:t>
            </a:r>
            <a:r>
              <a:rPr lang="en-GB" sz="1900" i="1">
                <a:solidFill>
                  <a:srgbClr val="3C3C3C"/>
                </a:solidFill>
                <a:latin typeface="Segoe UI"/>
                <a:cs typeface="Segoe UI"/>
              </a:rPr>
              <a:t> signature.</a:t>
            </a:r>
            <a:endParaRPr lang="en-FR" sz="1900" i="1">
              <a:solidFill>
                <a:srgbClr val="3C3C3C"/>
              </a:solidFill>
              <a:latin typeface="Segoe UI"/>
              <a:cs typeface="Segoe UI"/>
            </a:endParaRPr>
          </a:p>
        </p:txBody>
      </p:sp>
      <p:sp>
        <p:nvSpPr>
          <p:cNvPr id="12" name="Rectangle 11">
            <a:extLst>
              <a:ext uri="{FF2B5EF4-FFF2-40B4-BE49-F238E27FC236}">
                <a16:creationId xmlns:a16="http://schemas.microsoft.com/office/drawing/2014/main" id="{4A4733BD-7817-554A-8830-B40084C046F5}"/>
              </a:ext>
            </a:extLst>
          </p:cNvPr>
          <p:cNvSpPr/>
          <p:nvPr/>
        </p:nvSpPr>
        <p:spPr>
          <a:xfrm>
            <a:off x="914400" y="4876800"/>
            <a:ext cx="10414000" cy="10160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3" name="TextBox 12">
            <a:extLst>
              <a:ext uri="{FF2B5EF4-FFF2-40B4-BE49-F238E27FC236}">
                <a16:creationId xmlns:a16="http://schemas.microsoft.com/office/drawing/2014/main" id="{12D8B095-4C44-A142-93D3-D3E618B3C321}"/>
              </a:ext>
            </a:extLst>
          </p:cNvPr>
          <p:cNvSpPr txBox="1"/>
          <p:nvPr/>
        </p:nvSpPr>
        <p:spPr>
          <a:xfrm>
            <a:off x="1270000" y="4902200"/>
            <a:ext cx="9702800" cy="990600"/>
          </a:xfrm>
          <a:prstGeom prst="rect">
            <a:avLst/>
          </a:prstGeom>
          <a:noFill/>
        </p:spPr>
        <p:txBody>
          <a:bodyPr vertOverflow="overflow" vert="horz" wrap="square" rtlCol="0" anchor="t">
            <a:noAutofit/>
          </a:bodyPr>
          <a:lstStyle/>
          <a:p>
            <a:pPr algn="l"/>
            <a:r>
              <a:rPr lang="en-GB" sz="2000" b="1" dirty="0">
                <a:solidFill>
                  <a:srgbClr val="1F4E79"/>
                </a:solidFill>
                <a:latin typeface="Segoe UI"/>
                <a:cs typeface="Segoe UI"/>
              </a:rPr>
              <a:t>Première application : le </a:t>
            </a:r>
            <a:r>
              <a:rPr lang="en-GB" sz="2000" b="1" dirty="0" err="1">
                <a:solidFill>
                  <a:srgbClr val="1F4E79"/>
                </a:solidFill>
                <a:latin typeface="Segoe UI"/>
                <a:cs typeface="Segoe UI"/>
              </a:rPr>
              <a:t>contrat</a:t>
            </a:r>
            <a:r>
              <a:rPr lang="en-GB" sz="2000" b="1" dirty="0">
                <a:solidFill>
                  <a:srgbClr val="1F4E79"/>
                </a:solidFill>
                <a:latin typeface="Segoe UI"/>
                <a:cs typeface="Segoe UI"/>
              </a:rPr>
              <a:t> de maintenance du </a:t>
            </a:r>
            <a:r>
              <a:rPr lang="en-GB" sz="2000" b="1" dirty="0" err="1">
                <a:solidFill>
                  <a:srgbClr val="1F4E79"/>
                </a:solidFill>
                <a:latin typeface="Segoe UI"/>
                <a:cs typeface="Segoe UI"/>
              </a:rPr>
              <a:t>système</a:t>
            </a:r>
            <a:r>
              <a:rPr lang="en-GB" sz="2000" b="1" dirty="0">
                <a:solidFill>
                  <a:srgbClr val="1F4E79"/>
                </a:solidFill>
                <a:latin typeface="Segoe UI"/>
                <a:cs typeface="Segoe UI"/>
              </a:rPr>
              <a:t> de gestion </a:t>
            </a:r>
            <a:r>
              <a:rPr lang="en-GB" sz="2000" b="1" dirty="0" err="1">
                <a:solidFill>
                  <a:srgbClr val="1F4E79"/>
                </a:solidFill>
                <a:latin typeface="Segoe UI"/>
                <a:cs typeface="Segoe UI"/>
              </a:rPr>
              <a:t>d'entrepôt</a:t>
            </a:r>
            <a:r>
              <a:rPr lang="en-GB" sz="2000" b="1" dirty="0">
                <a:solidFill>
                  <a:srgbClr val="1F4E79"/>
                </a:solidFill>
                <a:latin typeface="Segoe UI"/>
                <a:cs typeface="Segoe UI"/>
              </a:rPr>
              <a:t>, à </a:t>
            </a:r>
            <a:r>
              <a:rPr lang="en-GB" sz="2000" b="1" dirty="0" err="1">
                <a:solidFill>
                  <a:srgbClr val="1F4E79"/>
                </a:solidFill>
                <a:latin typeface="Segoe UI"/>
                <a:cs typeface="Segoe UI"/>
              </a:rPr>
              <a:t>renouvellement</a:t>
            </a:r>
            <a:r>
              <a:rPr lang="en-GB" sz="2000" b="1" dirty="0">
                <a:solidFill>
                  <a:srgbClr val="1F4E79"/>
                </a:solidFill>
                <a:latin typeface="Segoe UI"/>
                <a:cs typeface="Segoe UI"/>
              </a:rPr>
              <a:t> </a:t>
            </a:r>
            <a:r>
              <a:rPr lang="en-GB" sz="2000" b="1" dirty="0" err="1">
                <a:solidFill>
                  <a:srgbClr val="1F4E79"/>
                </a:solidFill>
                <a:latin typeface="Segoe UI"/>
                <a:cs typeface="Segoe UI"/>
              </a:rPr>
              <a:t>en</a:t>
            </a:r>
            <a:r>
              <a:rPr lang="en-GB" sz="2000" b="1" dirty="0">
                <a:solidFill>
                  <a:srgbClr val="1F4E79"/>
                </a:solidFill>
                <a:latin typeface="Segoe UI"/>
                <a:cs typeface="Segoe UI"/>
              </a:rPr>
              <a:t> </a:t>
            </a:r>
            <a:r>
              <a:rPr lang="en-GB" sz="2000" b="1" dirty="0" err="1">
                <a:solidFill>
                  <a:srgbClr val="1F4E79"/>
                </a:solidFill>
                <a:latin typeface="Segoe UI"/>
                <a:cs typeface="Segoe UI"/>
              </a:rPr>
              <a:t>novembre</a:t>
            </a:r>
            <a:r>
              <a:rPr lang="en-GB" sz="2000" b="1" dirty="0">
                <a:solidFill>
                  <a:srgbClr val="1F4E79"/>
                </a:solidFill>
                <a:latin typeface="Segoe UI"/>
                <a:cs typeface="Segoe UI"/>
              </a:rPr>
              <a:t> 2026 — il </a:t>
            </a:r>
            <a:r>
              <a:rPr lang="en-GB" sz="2000" b="1" dirty="0" err="1">
                <a:solidFill>
                  <a:srgbClr val="1F4E79"/>
                </a:solidFill>
                <a:latin typeface="Segoe UI"/>
                <a:cs typeface="Segoe UI"/>
              </a:rPr>
              <a:t>n'en</a:t>
            </a:r>
            <a:r>
              <a:rPr lang="en-GB" sz="2000" b="1" dirty="0">
                <a:solidFill>
                  <a:srgbClr val="1F4E79"/>
                </a:solidFill>
                <a:latin typeface="Segoe UI"/>
                <a:cs typeface="Segoe UI"/>
              </a:rPr>
              <a:t> </a:t>
            </a:r>
            <a:r>
              <a:rPr lang="en-GB" sz="2000" b="1" dirty="0" err="1">
                <a:solidFill>
                  <a:srgbClr val="1F4E79"/>
                </a:solidFill>
                <a:latin typeface="Segoe UI"/>
                <a:cs typeface="Segoe UI"/>
              </a:rPr>
              <a:t>porte</a:t>
            </a:r>
            <a:r>
              <a:rPr lang="en-GB" sz="2000" b="1" dirty="0">
                <a:solidFill>
                  <a:srgbClr val="1F4E79"/>
                </a:solidFill>
                <a:latin typeface="Segoe UI"/>
                <a:cs typeface="Segoe UI"/>
              </a:rPr>
              <a:t> </a:t>
            </a:r>
            <a:r>
              <a:rPr lang="en-GB" sz="2000" b="1" dirty="0" err="1">
                <a:solidFill>
                  <a:srgbClr val="1F4E79"/>
                </a:solidFill>
                <a:latin typeface="Segoe UI"/>
                <a:cs typeface="Segoe UI"/>
              </a:rPr>
              <a:t>aujourd'hui</a:t>
            </a:r>
            <a:r>
              <a:rPr lang="en-GB" sz="2000" b="1" dirty="0">
                <a:solidFill>
                  <a:srgbClr val="1F4E79"/>
                </a:solidFill>
                <a:latin typeface="Segoe UI"/>
                <a:cs typeface="Segoe UI"/>
              </a:rPr>
              <a:t> </a:t>
            </a:r>
            <a:r>
              <a:rPr lang="en-GB" sz="2000" b="1" dirty="0" err="1">
                <a:solidFill>
                  <a:srgbClr val="1F4E79"/>
                </a:solidFill>
                <a:latin typeface="Segoe UI"/>
                <a:cs typeface="Segoe UI"/>
              </a:rPr>
              <a:t>aucune</a:t>
            </a:r>
            <a:r>
              <a:rPr lang="en-GB" sz="2000" b="1" dirty="0">
                <a:solidFill>
                  <a:srgbClr val="1F4E79"/>
                </a:solidFill>
                <a:latin typeface="Segoe UI"/>
                <a:cs typeface="Segoe UI"/>
              </a:rPr>
              <a:t> des trois.</a:t>
            </a:r>
            <a:endParaRPr lang="en-FR" sz="2000" b="1" dirty="0">
              <a:solidFill>
                <a:srgbClr val="1F4E79"/>
              </a:solidFill>
              <a:latin typeface="Segoe UI"/>
              <a:cs typeface="Segoe UI"/>
            </a:endParaRPr>
          </a:p>
        </p:txBody>
      </p:sp>
    </p:spTree>
    <p:extLst>
      <p:ext uri="{BB962C8B-B14F-4D97-AF65-F5344CB8AC3E}">
        <p14:creationId xmlns:p14="http://schemas.microsoft.com/office/powerpoint/2010/main" val="1502352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BD78AA-1CB0-D94E-9874-127B3AA1D256}"/>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Le registre après traitement</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DDB74797-04A1-7D43-801F-E4461E0D0211}"/>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F508B361-B078-5744-87E5-F7F9D3A39747}"/>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Huit scénarios au registre. Après traitement, aucun ne reste au-dessus de la ligne.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4D896AEF-6CFD-DF4B-BF3E-FF0E05333286}"/>
              </a:ext>
            </a:extLst>
          </p:cNvPr>
          <p:cNvSpPr txBox="1"/>
          <p:nvPr/>
        </p:nvSpPr>
        <p:spPr>
          <a:xfrm>
            <a:off x="6604000" y="2159000"/>
            <a:ext cx="47244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Nous ne fermons aucun risque.</a:t>
            </a:r>
            <a:endParaRPr lang="en-FR" sz="2200" b="1">
              <a:solidFill>
                <a:srgbClr val="1F4E79"/>
              </a:solidFill>
              <a:latin typeface="Segoe UI"/>
              <a:cs typeface="Segoe UI"/>
            </a:endParaRPr>
          </a:p>
        </p:txBody>
      </p:sp>
      <p:sp>
        <p:nvSpPr>
          <p:cNvPr id="6" name="TextBox 5">
            <a:extLst>
              <a:ext uri="{FF2B5EF4-FFF2-40B4-BE49-F238E27FC236}">
                <a16:creationId xmlns:a16="http://schemas.microsoft.com/office/drawing/2014/main" id="{612D8594-A029-0046-80F2-6E2CEBBF035B}"/>
              </a:ext>
            </a:extLst>
          </p:cNvPr>
          <p:cNvSpPr txBox="1"/>
          <p:nvPr/>
        </p:nvSpPr>
        <p:spPr>
          <a:xfrm>
            <a:off x="6604000" y="2667000"/>
            <a:ext cx="4724400" cy="965200"/>
          </a:xfrm>
          <a:prstGeom prst="rect">
            <a:avLst/>
          </a:prstGeom>
          <a:noFill/>
        </p:spPr>
        <p:txBody>
          <a:bodyPr vertOverflow="overflow" vert="horz" wrap="square" rtlCol="0" anchor="t">
            <a:noAutofit/>
          </a:bodyPr>
          <a:lstStyle/>
          <a:p>
            <a:pPr algn="l"/>
            <a:r>
              <a:rPr lang="en-GB" sz="1700">
                <a:solidFill>
                  <a:srgbClr val="1A1A1A"/>
                </a:solidFill>
                <a:latin typeface="Segoe UI"/>
                <a:cs typeface="Segoe UI"/>
              </a:rPr>
              <a:t>Nous les faisons tous passer d'inacceptable à
tolérable-formalisé : daté, surveillé, confié à un
propriétaire nommé.</a:t>
            </a:r>
            <a:endParaRPr lang="en-FR" sz="1700">
              <a:solidFill>
                <a:srgbClr val="1A1A1A"/>
              </a:solidFill>
              <a:latin typeface="Segoe UI"/>
              <a:cs typeface="Segoe UI"/>
            </a:endParaRPr>
          </a:p>
        </p:txBody>
      </p:sp>
      <p:sp>
        <p:nvSpPr>
          <p:cNvPr id="7" name="Rectangle 6">
            <a:extLst>
              <a:ext uri="{FF2B5EF4-FFF2-40B4-BE49-F238E27FC236}">
                <a16:creationId xmlns:a16="http://schemas.microsoft.com/office/drawing/2014/main" id="{B9A9F5EF-B931-9142-8D3F-D0D8815B4CD8}"/>
              </a:ext>
            </a:extLst>
          </p:cNvPr>
          <p:cNvSpPr/>
          <p:nvPr/>
        </p:nvSpPr>
        <p:spPr>
          <a:xfrm>
            <a:off x="6604000" y="3962400"/>
            <a:ext cx="4724400" cy="8890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 name="TextBox 7">
            <a:extLst>
              <a:ext uri="{FF2B5EF4-FFF2-40B4-BE49-F238E27FC236}">
                <a16:creationId xmlns:a16="http://schemas.microsoft.com/office/drawing/2014/main" id="{C58C52BD-F85E-EA4E-AA79-8561FFD6DD0B}"/>
              </a:ext>
            </a:extLst>
          </p:cNvPr>
          <p:cNvSpPr txBox="1"/>
          <p:nvPr/>
        </p:nvSpPr>
        <p:spPr>
          <a:xfrm>
            <a:off x="6908800" y="4140200"/>
            <a:ext cx="4191000" cy="635000"/>
          </a:xfrm>
          <a:prstGeom prst="rect">
            <a:avLst/>
          </a:prstGeom>
          <a:noFill/>
        </p:spPr>
        <p:txBody>
          <a:bodyPr vertOverflow="overflow" vert="horz" wrap="square" rtlCol="0" anchor="t">
            <a:noAutofit/>
          </a:bodyPr>
          <a:lstStyle/>
          <a:p>
            <a:pPr algn="l"/>
            <a:r>
              <a:rPr lang="en-GB" sz="2000" b="1" dirty="0">
                <a:solidFill>
                  <a:srgbClr val="1F4E79"/>
                </a:solidFill>
                <a:latin typeface="Segoe UI"/>
                <a:cs typeface="Segoe UI"/>
              </a:rPr>
              <a:t>Sept fiches </a:t>
            </a:r>
            <a:r>
              <a:rPr lang="en-GB" sz="2000" b="1" dirty="0" err="1">
                <a:solidFill>
                  <a:srgbClr val="1F4E79"/>
                </a:solidFill>
                <a:latin typeface="Segoe UI"/>
                <a:cs typeface="Segoe UI"/>
              </a:rPr>
              <a:t>d'acceptation</a:t>
            </a:r>
            <a:r>
              <a:rPr lang="en-GB" sz="2000" b="1" dirty="0">
                <a:solidFill>
                  <a:srgbClr val="1F4E79"/>
                </a:solidFill>
                <a:latin typeface="Segoe UI"/>
                <a:cs typeface="Segoe UI"/>
              </a:rPr>
              <a:t>.
</a:t>
            </a:r>
            <a:r>
              <a:rPr lang="en-GB" sz="2000" b="1" dirty="0" err="1">
                <a:solidFill>
                  <a:srgbClr val="1F4E79"/>
                </a:solidFill>
                <a:latin typeface="Segoe UI"/>
                <a:cs typeface="Segoe UI"/>
              </a:rPr>
              <a:t>Zéro</a:t>
            </a:r>
            <a:r>
              <a:rPr lang="en-GB" sz="2000" b="1" dirty="0">
                <a:solidFill>
                  <a:srgbClr val="1F4E79"/>
                </a:solidFill>
                <a:latin typeface="Segoe UI"/>
                <a:cs typeface="Segoe UI"/>
              </a:rPr>
              <a:t> </a:t>
            </a:r>
            <a:r>
              <a:rPr lang="en-GB" sz="2000" b="1" dirty="0" err="1">
                <a:solidFill>
                  <a:srgbClr val="1F4E79"/>
                </a:solidFill>
                <a:latin typeface="Segoe UI"/>
                <a:cs typeface="Segoe UI"/>
              </a:rPr>
              <a:t>dérogation</a:t>
            </a:r>
            <a:r>
              <a:rPr lang="en-GB" sz="2000" b="1" dirty="0">
                <a:solidFill>
                  <a:srgbClr val="1F4E79"/>
                </a:solidFill>
                <a:latin typeface="Segoe UI"/>
                <a:cs typeface="Segoe UI"/>
              </a:rPr>
              <a:t>.</a:t>
            </a:r>
            <a:endParaRPr lang="en-FR" sz="2000" b="1" dirty="0">
              <a:solidFill>
                <a:srgbClr val="1F4E79"/>
              </a:solidFill>
              <a:latin typeface="Segoe UI"/>
              <a:cs typeface="Segoe UI"/>
            </a:endParaRPr>
          </a:p>
        </p:txBody>
      </p:sp>
      <p:sp>
        <p:nvSpPr>
          <p:cNvPr id="9" name="TextBox 8">
            <a:extLst>
              <a:ext uri="{FF2B5EF4-FFF2-40B4-BE49-F238E27FC236}">
                <a16:creationId xmlns:a16="http://schemas.microsoft.com/office/drawing/2014/main" id="{D28C3747-85C6-8049-8C15-FC942D495F8C}"/>
              </a:ext>
            </a:extLst>
          </p:cNvPr>
          <p:cNvSpPr txBox="1"/>
          <p:nvPr/>
        </p:nvSpPr>
        <p:spPr>
          <a:xfrm>
            <a:off x="914400" y="5715000"/>
            <a:ext cx="10414000" cy="304800"/>
          </a:xfrm>
          <a:prstGeom prst="rect">
            <a:avLst/>
          </a:prstGeom>
          <a:noFill/>
        </p:spPr>
        <p:txBody>
          <a:bodyPr vertOverflow="overflow" vert="horz" wrap="square" rtlCol="0" anchor="t">
            <a:noAutofit/>
          </a:bodyPr>
          <a:lstStyle/>
          <a:p>
            <a:pPr algn="l"/>
            <a:r>
              <a:rPr lang="en-GB" sz="1400">
                <a:solidFill>
                  <a:srgbClr val="8A8F98"/>
                </a:solidFill>
                <a:latin typeface="Segoe UI"/>
                <a:cs typeface="Segoe UI"/>
              </a:rPr>
              <a:t>Preuve : S7-05-ex4-residuels-cotes.jpg · S7-05-ex3-controle-qualite-au-vert.jpg</a:t>
            </a:r>
            <a:endParaRPr lang="en-FR" sz="1400">
              <a:solidFill>
                <a:srgbClr val="8A8F98"/>
              </a:solidFill>
              <a:latin typeface="Segoe UI"/>
              <a:cs typeface="Segoe UI"/>
            </a:endParaRPr>
          </a:p>
        </p:txBody>
      </p:sp>
      <p:graphicFrame>
        <p:nvGraphicFramePr>
          <p:cNvPr id="10" name="Chart"/>
          <p:cNvGraphicFramePr/>
          <p:nvPr/>
        </p:nvGraphicFramePr>
        <p:xfrm>
          <a:off x="914400" y="1981200"/>
          <a:ext cx="5334000" cy="33528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127845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30D18C4A-1D33-244E-9D47-B18352F23594}"/>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Treize mesures, organisées par décision</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F045B6BE-F299-0745-8085-2CE7C7BC0E2E}"/>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6014D050-3653-EF45-ABBA-DE4CD427C4C9}"/>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Rangées par décision — pas par scénario. Vous ne signez pas un scénario.</a:t>
            </a:r>
            <a:endParaRPr lang="en-FR">
              <a:solidFill>
                <a:srgbClr val="3C3C3C"/>
              </a:solidFill>
              <a:latin typeface="Segoe UI"/>
              <a:cs typeface="Segoe UI"/>
            </a:endParaRPr>
          </a:p>
        </p:txBody>
      </p:sp>
      <p:sp>
        <p:nvSpPr>
          <p:cNvPr id="21" name="Rectangle 20">
            <a:extLst>
              <a:ext uri="{FF2B5EF4-FFF2-40B4-BE49-F238E27FC236}">
                <a16:creationId xmlns:a16="http://schemas.microsoft.com/office/drawing/2014/main" id="{3E3AACB4-CB36-FF4B-9FB2-0BC1E737DE58}"/>
              </a:ext>
            </a:extLst>
          </p:cNvPr>
          <p:cNvSpPr/>
          <p:nvPr/>
        </p:nvSpPr>
        <p:spPr>
          <a:xfrm>
            <a:off x="914400" y="1879600"/>
            <a:ext cx="5029200" cy="18542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2" name="TextBox 21">
            <a:extLst>
              <a:ext uri="{FF2B5EF4-FFF2-40B4-BE49-F238E27FC236}">
                <a16:creationId xmlns:a16="http://schemas.microsoft.com/office/drawing/2014/main" id="{565E4CFD-8065-7A40-8F56-8BF5A9A79A57}"/>
              </a:ext>
            </a:extLst>
          </p:cNvPr>
          <p:cNvSpPr txBox="1"/>
          <p:nvPr/>
        </p:nvSpPr>
        <p:spPr>
          <a:xfrm>
            <a:off x="1219200" y="2032000"/>
            <a:ext cx="711200" cy="660400"/>
          </a:xfrm>
          <a:prstGeom prst="rect">
            <a:avLst/>
          </a:prstGeom>
          <a:noFill/>
        </p:spPr>
        <p:txBody>
          <a:bodyPr vertOverflow="overflow" vert="horz" wrap="square" rtlCol="0" anchor="t">
            <a:noAutofit/>
          </a:bodyPr>
          <a:lstStyle/>
          <a:p>
            <a:pPr algn="l"/>
            <a:r>
              <a:rPr lang="en-FR" sz="4000" b="1">
                <a:solidFill>
                  <a:srgbClr val="1F4E79"/>
                </a:solidFill>
                <a:latin typeface="Segoe UI"/>
                <a:cs typeface="Segoe UI"/>
              </a:rPr>
              <a:t>5</a:t>
            </a:r>
          </a:p>
        </p:txBody>
      </p:sp>
      <p:sp>
        <p:nvSpPr>
          <p:cNvPr id="23" name="TextBox 22">
            <a:extLst>
              <a:ext uri="{FF2B5EF4-FFF2-40B4-BE49-F238E27FC236}">
                <a16:creationId xmlns:a16="http://schemas.microsoft.com/office/drawing/2014/main" id="{CD6E1F0F-66C6-D248-BDE8-324B70AD2629}"/>
              </a:ext>
            </a:extLst>
          </p:cNvPr>
          <p:cNvSpPr txBox="1"/>
          <p:nvPr/>
        </p:nvSpPr>
        <p:spPr>
          <a:xfrm>
            <a:off x="1981200" y="2184400"/>
            <a:ext cx="3657600" cy="381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engagent la Direction</a:t>
            </a:r>
            <a:endParaRPr lang="en-FR" sz="2000" b="1">
              <a:solidFill>
                <a:srgbClr val="1F4E79"/>
              </a:solidFill>
              <a:latin typeface="Segoe UI"/>
              <a:cs typeface="Segoe UI"/>
            </a:endParaRPr>
          </a:p>
        </p:txBody>
      </p:sp>
      <p:sp>
        <p:nvSpPr>
          <p:cNvPr id="24" name="TextBox 23">
            <a:extLst>
              <a:ext uri="{FF2B5EF4-FFF2-40B4-BE49-F238E27FC236}">
                <a16:creationId xmlns:a16="http://schemas.microsoft.com/office/drawing/2014/main" id="{7BFFD4CB-8122-8141-98D3-6BED692118FD}"/>
              </a:ext>
            </a:extLst>
          </p:cNvPr>
          <p:cNvSpPr txBox="1"/>
          <p:nvPr/>
        </p:nvSpPr>
        <p:spPr>
          <a:xfrm>
            <a:off x="1219200" y="2768600"/>
            <a:ext cx="4419600" cy="8128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deux avenants contractuels · une acceptation signée · une acceptation simple · le pilotage du projet Santé</a:t>
            </a:r>
            <a:endParaRPr lang="en-FR" sz="1600">
              <a:solidFill>
                <a:srgbClr val="1A1A1A"/>
              </a:solidFill>
              <a:latin typeface="Segoe UI"/>
              <a:cs typeface="Segoe UI"/>
            </a:endParaRPr>
          </a:p>
        </p:txBody>
      </p:sp>
      <p:sp>
        <p:nvSpPr>
          <p:cNvPr id="25" name="Rectangle 24">
            <a:extLst>
              <a:ext uri="{FF2B5EF4-FFF2-40B4-BE49-F238E27FC236}">
                <a16:creationId xmlns:a16="http://schemas.microsoft.com/office/drawing/2014/main" id="{94D2BEB4-0A01-8A4A-BDA6-FDB159829C0D}"/>
              </a:ext>
            </a:extLst>
          </p:cNvPr>
          <p:cNvSpPr/>
          <p:nvPr/>
        </p:nvSpPr>
        <p:spPr>
          <a:xfrm>
            <a:off x="6299200" y="1879600"/>
            <a:ext cx="5029200" cy="18542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6" name="TextBox 25">
            <a:extLst>
              <a:ext uri="{FF2B5EF4-FFF2-40B4-BE49-F238E27FC236}">
                <a16:creationId xmlns:a16="http://schemas.microsoft.com/office/drawing/2014/main" id="{A27287CE-5DEE-DF48-8476-845B86BCEB8A}"/>
              </a:ext>
            </a:extLst>
          </p:cNvPr>
          <p:cNvSpPr txBox="1"/>
          <p:nvPr/>
        </p:nvSpPr>
        <p:spPr>
          <a:xfrm>
            <a:off x="6604000" y="2032000"/>
            <a:ext cx="711200" cy="660400"/>
          </a:xfrm>
          <a:prstGeom prst="rect">
            <a:avLst/>
          </a:prstGeom>
          <a:noFill/>
        </p:spPr>
        <p:txBody>
          <a:bodyPr vertOverflow="overflow" vert="horz" wrap="square" rtlCol="0" anchor="t">
            <a:noAutofit/>
          </a:bodyPr>
          <a:lstStyle/>
          <a:p>
            <a:pPr algn="l"/>
            <a:r>
              <a:rPr lang="en-FR" sz="4000" b="1">
                <a:solidFill>
                  <a:srgbClr val="3C3C3C"/>
                </a:solidFill>
                <a:latin typeface="Segoe UI"/>
                <a:cs typeface="Segoe UI"/>
              </a:rPr>
              <a:t>8</a:t>
            </a:r>
          </a:p>
        </p:txBody>
      </p:sp>
      <p:sp>
        <p:nvSpPr>
          <p:cNvPr id="27" name="TextBox 26">
            <a:extLst>
              <a:ext uri="{FF2B5EF4-FFF2-40B4-BE49-F238E27FC236}">
                <a16:creationId xmlns:a16="http://schemas.microsoft.com/office/drawing/2014/main" id="{E434B503-6794-E84C-B425-5B9DEAA52A90}"/>
              </a:ext>
            </a:extLst>
          </p:cNvPr>
          <p:cNvSpPr txBox="1"/>
          <p:nvPr/>
        </p:nvSpPr>
        <p:spPr>
          <a:xfrm>
            <a:off x="7366000" y="2184400"/>
            <a:ext cx="3657600" cy="381000"/>
          </a:xfrm>
          <a:prstGeom prst="rect">
            <a:avLst/>
          </a:prstGeom>
          <a:noFill/>
        </p:spPr>
        <p:txBody>
          <a:bodyPr vertOverflow="overflow" vert="horz" wrap="square" rtlCol="0" anchor="t">
            <a:noAutofit/>
          </a:bodyPr>
          <a:lstStyle/>
          <a:p>
            <a:pPr algn="l"/>
            <a:r>
              <a:rPr lang="en-GB" sz="2000" b="1">
                <a:solidFill>
                  <a:srgbClr val="3C3C3C"/>
                </a:solidFill>
                <a:latin typeface="Segoe UI"/>
                <a:cs typeface="Segoe UI"/>
              </a:rPr>
              <a:t>relèvent de l'exécution</a:t>
            </a:r>
            <a:endParaRPr lang="en-FR" sz="2000" b="1">
              <a:solidFill>
                <a:srgbClr val="3C3C3C"/>
              </a:solidFill>
              <a:latin typeface="Segoe UI"/>
              <a:cs typeface="Segoe UI"/>
            </a:endParaRPr>
          </a:p>
        </p:txBody>
      </p:sp>
      <p:sp>
        <p:nvSpPr>
          <p:cNvPr id="28" name="TextBox 27">
            <a:extLst>
              <a:ext uri="{FF2B5EF4-FFF2-40B4-BE49-F238E27FC236}">
                <a16:creationId xmlns:a16="http://schemas.microsoft.com/office/drawing/2014/main" id="{E0D7EB16-8837-344A-AE19-1A92A5BDF293}"/>
              </a:ext>
            </a:extLst>
          </p:cNvPr>
          <p:cNvSpPr txBox="1"/>
          <p:nvPr/>
        </p:nvSpPr>
        <p:spPr>
          <a:xfrm>
            <a:off x="6604000" y="2768600"/>
            <a:ext cx="4419600" cy="8128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dont </a:t>
            </a:r>
            <a:r>
              <a:rPr lang="en-GB" sz="1600" b="1">
                <a:solidFill>
                  <a:srgbClr val="1A1A1A"/>
                </a:solidFill>
                <a:latin typeface="Segoe UI"/>
                <a:cs typeface="Segoe UI"/>
              </a:rPr>
              <a:t>deux</a:t>
            </a:r>
            <a:r>
              <a:rPr lang="en-GB" sz="1600">
                <a:solidFill>
                  <a:srgbClr val="1A1A1A"/>
                </a:solidFill>
                <a:latin typeface="Segoe UI"/>
                <a:cs typeface="Segoe UI"/>
              </a:rPr>
              <a:t> transversales, qui traitent plusieurs scénarios à la fois</a:t>
            </a:r>
            <a:endParaRPr lang="en-FR" sz="1600">
              <a:solidFill>
                <a:srgbClr val="1A1A1A"/>
              </a:solidFill>
              <a:latin typeface="Segoe UI"/>
              <a:cs typeface="Segoe UI"/>
            </a:endParaRPr>
          </a:p>
        </p:txBody>
      </p:sp>
      <p:sp>
        <p:nvSpPr>
          <p:cNvPr id="29" name="Rectangle 28">
            <a:extLst>
              <a:ext uri="{FF2B5EF4-FFF2-40B4-BE49-F238E27FC236}">
                <a16:creationId xmlns:a16="http://schemas.microsoft.com/office/drawing/2014/main" id="{2B24C363-EF1F-114F-9E44-79778D65EDC5}"/>
              </a:ext>
            </a:extLst>
          </p:cNvPr>
          <p:cNvSpPr/>
          <p:nvPr/>
        </p:nvSpPr>
        <p:spPr>
          <a:xfrm>
            <a:off x="914400" y="3962400"/>
            <a:ext cx="10414000" cy="1346200"/>
          </a:xfrm>
          <a:prstGeom prst="rect">
            <a:avLst/>
          </a:prstGeom>
          <a:solidFill>
            <a:srgbClr val="FFFFFF"/>
          </a:solidFill>
          <a:ln w="19050" cap="flat" cmpd="sng" algn="ctr">
            <a:solidFill>
              <a:srgbClr val="1F4E7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0" name="TextBox 29">
            <a:extLst>
              <a:ext uri="{FF2B5EF4-FFF2-40B4-BE49-F238E27FC236}">
                <a16:creationId xmlns:a16="http://schemas.microsoft.com/office/drawing/2014/main" id="{D03CF658-83CE-A54C-9DC2-C273895E20FB}"/>
              </a:ext>
            </a:extLst>
          </p:cNvPr>
          <p:cNvSpPr txBox="1"/>
          <p:nvPr/>
        </p:nvSpPr>
        <p:spPr>
          <a:xfrm>
            <a:off x="1219200" y="4114800"/>
            <a:ext cx="98044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Les deux mesures qui rapportent le plus par euro engagé</a:t>
            </a:r>
            <a:endParaRPr lang="en-FR" sz="1600" b="1">
              <a:solidFill>
                <a:srgbClr val="3C3C3C"/>
              </a:solidFill>
              <a:latin typeface="Segoe UI"/>
              <a:cs typeface="Segoe UI"/>
            </a:endParaRPr>
          </a:p>
        </p:txBody>
      </p:sp>
      <p:sp>
        <p:nvSpPr>
          <p:cNvPr id="31" name="TextBox 30">
            <a:extLst>
              <a:ext uri="{FF2B5EF4-FFF2-40B4-BE49-F238E27FC236}">
                <a16:creationId xmlns:a16="http://schemas.microsoft.com/office/drawing/2014/main" id="{098AC346-2304-9342-A9F3-7A664FEF944E}"/>
              </a:ext>
            </a:extLst>
          </p:cNvPr>
          <p:cNvSpPr txBox="1"/>
          <p:nvPr/>
        </p:nvSpPr>
        <p:spPr>
          <a:xfrm>
            <a:off x="1219200" y="4470400"/>
            <a:ext cx="9804400" cy="7112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   comptes nommés et authentification forte pour le prestataire
→   séparation des réseaux bureautique et industriel des six sites</a:t>
            </a:r>
            <a:endParaRPr lang="en-FR" sz="1900" b="1">
              <a:solidFill>
                <a:srgbClr val="1F4E79"/>
              </a:solidFill>
              <a:latin typeface="Segoe UI"/>
              <a:cs typeface="Segoe UI"/>
            </a:endParaRPr>
          </a:p>
        </p:txBody>
      </p:sp>
      <p:sp>
        <p:nvSpPr>
          <p:cNvPr id="32" name="TextBox 31">
            <a:extLst>
              <a:ext uri="{FF2B5EF4-FFF2-40B4-BE49-F238E27FC236}">
                <a16:creationId xmlns:a16="http://schemas.microsoft.com/office/drawing/2014/main" id="{6E8FEB7A-6EA5-AE47-9183-67B600C40868}"/>
              </a:ext>
            </a:extLst>
          </p:cNvPr>
          <p:cNvSpPr txBox="1"/>
          <p:nvPr/>
        </p:nvSpPr>
        <p:spPr>
          <a:xfrm>
            <a:off x="914400" y="5461000"/>
            <a:ext cx="10414000" cy="304800"/>
          </a:xfrm>
          <a:prstGeom prst="rect">
            <a:avLst/>
          </a:prstGeom>
          <a:noFill/>
        </p:spPr>
        <p:txBody>
          <a:bodyPr vertOverflow="overflow" vert="horz" wrap="square" rtlCol="0" anchor="t">
            <a:noAutofit/>
          </a:bodyPr>
          <a:lstStyle/>
          <a:p>
            <a:pPr algn="l"/>
            <a:r>
              <a:rPr lang="en-GB" sz="1600" i="1">
                <a:solidFill>
                  <a:srgbClr val="1A1A1A"/>
                </a:solidFill>
                <a:latin typeface="Segoe UI"/>
                <a:cs typeface="Segoe UI"/>
              </a:rPr>
              <a:t>Chaque mesure a un porteur nommé et une échéance — la plus proche en novembre 2026.</a:t>
            </a:r>
            <a:endParaRPr lang="en-FR" sz="1600" i="1">
              <a:solidFill>
                <a:srgbClr val="1A1A1A"/>
              </a:solidFill>
              <a:latin typeface="Segoe UI"/>
              <a:cs typeface="Segoe UI"/>
            </a:endParaRPr>
          </a:p>
        </p:txBody>
      </p:sp>
      <p:sp>
        <p:nvSpPr>
          <p:cNvPr id="33" name="TextBox 32">
            <a:extLst>
              <a:ext uri="{FF2B5EF4-FFF2-40B4-BE49-F238E27FC236}">
                <a16:creationId xmlns:a16="http://schemas.microsoft.com/office/drawing/2014/main" id="{9B6C32DC-9E6A-BA49-9A0A-CC3B4F2F6251}"/>
              </a:ext>
            </a:extLst>
          </p:cNvPr>
          <p:cNvSpPr txBox="1"/>
          <p:nvPr/>
        </p:nvSpPr>
        <p:spPr>
          <a:xfrm>
            <a:off x="914400" y="57912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S7-06-mesures-appliquees-couts-build-run.jpg · détail en annexe A6</a:t>
            </a:r>
            <a:endParaRPr lang="en-FR" sz="1500">
              <a:solidFill>
                <a:srgbClr val="3C3C3C"/>
              </a:solidFill>
              <a:latin typeface="Segoe UI"/>
              <a:cs typeface="Segoe UI"/>
            </a:endParaRPr>
          </a:p>
        </p:txBody>
      </p:sp>
    </p:spTree>
    <p:extLst>
      <p:ext uri="{BB962C8B-B14F-4D97-AF65-F5344CB8AC3E}">
        <p14:creationId xmlns:p14="http://schemas.microsoft.com/office/powerpoint/2010/main" val="812384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FC02E4BC-EFA9-2849-92DC-C5D34B84AEA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L'arbitrage — ce que cela coûte, contre quoi</a:t>
            </a:r>
            <a:endParaRPr lang="en-FR" sz="3200" b="1">
              <a:solidFill>
                <a:srgbClr val="1F4E79"/>
              </a:solidFill>
              <a:latin typeface="Segoe UI"/>
              <a:cs typeface="Segoe UI"/>
            </a:endParaRPr>
          </a:p>
        </p:txBody>
      </p:sp>
      <p:sp>
        <p:nvSpPr>
          <p:cNvPr id="18" name="Rectangle 17">
            <a:extLst>
              <a:ext uri="{FF2B5EF4-FFF2-40B4-BE49-F238E27FC236}">
                <a16:creationId xmlns:a16="http://schemas.microsoft.com/office/drawing/2014/main" id="{D0C08FF3-179B-D74F-A5C1-288C127AE40C}"/>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9" name="Rectangle 18">
            <a:extLst>
              <a:ext uri="{FF2B5EF4-FFF2-40B4-BE49-F238E27FC236}">
                <a16:creationId xmlns:a16="http://schemas.microsoft.com/office/drawing/2014/main" id="{65542AE0-7562-7F48-9AA2-8A3F76AE609E}"/>
              </a:ext>
            </a:extLst>
          </p:cNvPr>
          <p:cNvSpPr/>
          <p:nvPr/>
        </p:nvSpPr>
        <p:spPr>
          <a:xfrm>
            <a:off x="6083300" y="1651000"/>
            <a:ext cx="25400" cy="31750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5E1D248E-560E-3C4F-B6C2-4275BF4F2D37}"/>
              </a:ext>
            </a:extLst>
          </p:cNvPr>
          <p:cNvSpPr txBox="1"/>
          <p:nvPr/>
        </p:nvSpPr>
        <p:spPr>
          <a:xfrm>
            <a:off x="914400" y="1701800"/>
            <a:ext cx="4826000" cy="330200"/>
          </a:xfrm>
          <a:prstGeom prst="rect">
            <a:avLst/>
          </a:prstGeom>
          <a:noFill/>
        </p:spPr>
        <p:txBody>
          <a:bodyPr vertOverflow="overflow" vert="horz" wrap="square" rtlCol="0" anchor="t">
            <a:noAutofit/>
          </a:bodyPr>
          <a:lstStyle/>
          <a:p>
            <a:pPr algn="l"/>
            <a:r>
              <a:rPr lang="en-GB" sz="1700" b="1">
                <a:solidFill>
                  <a:srgbClr val="3C3C3C"/>
                </a:solidFill>
                <a:latin typeface="Segoe UI"/>
                <a:cs typeface="Segoe UI"/>
              </a:rPr>
              <a:t>CE QUE NOUS DEMANDONS</a:t>
            </a:r>
            <a:endParaRPr lang="en-FR" sz="1700" b="1">
              <a:solidFill>
                <a:srgbClr val="3C3C3C"/>
              </a:solidFill>
              <a:latin typeface="Segoe UI"/>
              <a:cs typeface="Segoe UI"/>
            </a:endParaRPr>
          </a:p>
        </p:txBody>
      </p:sp>
      <p:sp>
        <p:nvSpPr>
          <p:cNvPr id="21" name="TextBox 20">
            <a:extLst>
              <a:ext uri="{FF2B5EF4-FFF2-40B4-BE49-F238E27FC236}">
                <a16:creationId xmlns:a16="http://schemas.microsoft.com/office/drawing/2014/main" id="{A3DE3434-B070-2649-B3BE-0B63593A50E3}"/>
              </a:ext>
            </a:extLst>
          </p:cNvPr>
          <p:cNvSpPr txBox="1"/>
          <p:nvPr/>
        </p:nvSpPr>
        <p:spPr>
          <a:xfrm>
            <a:off x="914400" y="2133600"/>
            <a:ext cx="4826000" cy="762000"/>
          </a:xfrm>
          <a:prstGeom prst="rect">
            <a:avLst/>
          </a:prstGeom>
          <a:noFill/>
        </p:spPr>
        <p:txBody>
          <a:bodyPr vertOverflow="overflow" vert="horz" wrap="square" rtlCol="0" anchor="t">
            <a:noAutofit/>
          </a:bodyPr>
          <a:lstStyle/>
          <a:p>
            <a:pPr algn="l"/>
            <a:r>
              <a:rPr lang="en-GB" sz="4400" b="1">
                <a:solidFill>
                  <a:srgbClr val="1F4E79"/>
                </a:solidFill>
                <a:latin typeface="Segoe UI"/>
                <a:cs typeface="Segoe UI"/>
              </a:rPr>
              <a:t>82 000 € / an</a:t>
            </a:r>
            <a:endParaRPr lang="en-FR" sz="4400" b="1">
              <a:solidFill>
                <a:srgbClr val="1F4E79"/>
              </a:solidFill>
              <a:latin typeface="Segoe UI"/>
              <a:cs typeface="Segoe UI"/>
            </a:endParaRPr>
          </a:p>
        </p:txBody>
      </p:sp>
      <p:sp>
        <p:nvSpPr>
          <p:cNvPr id="22" name="TextBox 21">
            <a:extLst>
              <a:ext uri="{FF2B5EF4-FFF2-40B4-BE49-F238E27FC236}">
                <a16:creationId xmlns:a16="http://schemas.microsoft.com/office/drawing/2014/main" id="{7ED2E1AB-F39B-DC41-8528-253761464815}"/>
              </a:ext>
            </a:extLst>
          </p:cNvPr>
          <p:cNvSpPr txBox="1"/>
          <p:nvPr/>
        </p:nvSpPr>
        <p:spPr>
          <a:xfrm>
            <a:off x="914400" y="3022600"/>
            <a:ext cx="4826000" cy="3810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13 mesures</a:t>
            </a:r>
            <a:endParaRPr lang="en-FR" sz="2200">
              <a:solidFill>
                <a:srgbClr val="1A1A1A"/>
              </a:solidFill>
              <a:latin typeface="Segoe UI"/>
              <a:cs typeface="Segoe UI"/>
            </a:endParaRPr>
          </a:p>
        </p:txBody>
      </p:sp>
      <p:sp>
        <p:nvSpPr>
          <p:cNvPr id="23" name="TextBox 22">
            <a:extLst>
              <a:ext uri="{FF2B5EF4-FFF2-40B4-BE49-F238E27FC236}">
                <a16:creationId xmlns:a16="http://schemas.microsoft.com/office/drawing/2014/main" id="{61CF11AB-118B-2E48-AB6C-768C3963A286}"/>
              </a:ext>
            </a:extLst>
          </p:cNvPr>
          <p:cNvSpPr txBox="1"/>
          <p:nvPr/>
        </p:nvSpPr>
        <p:spPr>
          <a:xfrm>
            <a:off x="914400" y="3530600"/>
            <a:ext cx="48260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certain · annuel · borné</a:t>
            </a:r>
            <a:endParaRPr lang="en-FR" sz="1900" i="1">
              <a:solidFill>
                <a:srgbClr val="3C3C3C"/>
              </a:solidFill>
              <a:latin typeface="Segoe UI"/>
              <a:cs typeface="Segoe UI"/>
            </a:endParaRPr>
          </a:p>
        </p:txBody>
      </p:sp>
      <p:sp>
        <p:nvSpPr>
          <p:cNvPr id="24" name="TextBox 23">
            <a:extLst>
              <a:ext uri="{FF2B5EF4-FFF2-40B4-BE49-F238E27FC236}">
                <a16:creationId xmlns:a16="http://schemas.microsoft.com/office/drawing/2014/main" id="{3F48A59B-5DF1-D845-A811-54DA281429E3}"/>
              </a:ext>
            </a:extLst>
          </p:cNvPr>
          <p:cNvSpPr txBox="1"/>
          <p:nvPr/>
        </p:nvSpPr>
        <p:spPr>
          <a:xfrm>
            <a:off x="914400" y="4191000"/>
            <a:ext cx="4826000" cy="6350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Le plan complet coûte moins de sept jours d'arrêt.</a:t>
            </a:r>
            <a:endParaRPr lang="en-FR" sz="1900" b="1">
              <a:solidFill>
                <a:srgbClr val="1F4E79"/>
              </a:solidFill>
              <a:latin typeface="Segoe UI"/>
              <a:cs typeface="Segoe UI"/>
            </a:endParaRPr>
          </a:p>
        </p:txBody>
      </p:sp>
      <p:sp>
        <p:nvSpPr>
          <p:cNvPr id="25" name="TextBox 24">
            <a:extLst>
              <a:ext uri="{FF2B5EF4-FFF2-40B4-BE49-F238E27FC236}">
                <a16:creationId xmlns:a16="http://schemas.microsoft.com/office/drawing/2014/main" id="{FDA25259-FC1F-414F-8BE2-8674E2135F19}"/>
              </a:ext>
            </a:extLst>
          </p:cNvPr>
          <p:cNvSpPr txBox="1"/>
          <p:nvPr/>
        </p:nvSpPr>
        <p:spPr>
          <a:xfrm>
            <a:off x="6502400" y="1701800"/>
            <a:ext cx="4826000" cy="330200"/>
          </a:xfrm>
          <a:prstGeom prst="rect">
            <a:avLst/>
          </a:prstGeom>
          <a:noFill/>
        </p:spPr>
        <p:txBody>
          <a:bodyPr vertOverflow="overflow" vert="horz" wrap="square" rtlCol="0" anchor="t">
            <a:noAutofit/>
          </a:bodyPr>
          <a:lstStyle/>
          <a:p>
            <a:pPr algn="l"/>
            <a:r>
              <a:rPr lang="en-GB" sz="1700" b="1">
                <a:solidFill>
                  <a:srgbClr val="3C3C3C"/>
                </a:solidFill>
                <a:latin typeface="Segoe UI"/>
                <a:cs typeface="Segoe UI"/>
              </a:rPr>
              <a:t>CE QUE NOUS ÉVITONS</a:t>
            </a:r>
            <a:endParaRPr lang="en-FR" sz="1700" b="1">
              <a:solidFill>
                <a:srgbClr val="3C3C3C"/>
              </a:solidFill>
              <a:latin typeface="Segoe UI"/>
              <a:cs typeface="Segoe UI"/>
            </a:endParaRPr>
          </a:p>
        </p:txBody>
      </p:sp>
      <p:sp>
        <p:nvSpPr>
          <p:cNvPr id="26" name="TextBox 25">
            <a:extLst>
              <a:ext uri="{FF2B5EF4-FFF2-40B4-BE49-F238E27FC236}">
                <a16:creationId xmlns:a16="http://schemas.microsoft.com/office/drawing/2014/main" id="{C9EFDE57-0C1F-8D48-A46A-EE4B757F3B0D}"/>
              </a:ext>
            </a:extLst>
          </p:cNvPr>
          <p:cNvSpPr txBox="1"/>
          <p:nvPr/>
        </p:nvSpPr>
        <p:spPr>
          <a:xfrm>
            <a:off x="6502400" y="2133600"/>
            <a:ext cx="4826000" cy="533400"/>
          </a:xfrm>
          <a:prstGeom prst="rect">
            <a:avLst/>
          </a:prstGeom>
          <a:noFill/>
        </p:spPr>
        <p:txBody>
          <a:bodyPr vertOverflow="overflow" vert="horz" wrap="square" rtlCol="0" anchor="t">
            <a:noAutofit/>
          </a:bodyPr>
          <a:lstStyle/>
          <a:p>
            <a:pPr algn="l"/>
            <a:r>
              <a:rPr lang="en-FR" sz="3200" b="1">
                <a:solidFill>
                  <a:srgbClr val="1A1A1A"/>
                </a:solidFill>
                <a:latin typeface="Segoe UI"/>
                <a:cs typeface="Segoe UI"/>
              </a:rPr>
              <a:t>12 000 €</a:t>
            </a:r>
          </a:p>
        </p:txBody>
      </p:sp>
      <p:sp>
        <p:nvSpPr>
          <p:cNvPr id="27" name="TextBox 26">
            <a:extLst>
              <a:ext uri="{FF2B5EF4-FFF2-40B4-BE49-F238E27FC236}">
                <a16:creationId xmlns:a16="http://schemas.microsoft.com/office/drawing/2014/main" id="{9379B19F-AB14-B341-95F3-0CD376911AE8}"/>
              </a:ext>
            </a:extLst>
          </p:cNvPr>
          <p:cNvSpPr txBox="1"/>
          <p:nvPr/>
        </p:nvSpPr>
        <p:spPr>
          <a:xfrm>
            <a:off x="6502400" y="2692400"/>
            <a:ext cx="4826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une seule journée d'arrêt — le tiers du coût annuel du plan</a:t>
            </a:r>
            <a:endParaRPr lang="en-FR" sz="1600">
              <a:solidFill>
                <a:srgbClr val="3C3C3C"/>
              </a:solidFill>
              <a:latin typeface="Segoe UI"/>
              <a:cs typeface="Segoe UI"/>
            </a:endParaRPr>
          </a:p>
        </p:txBody>
      </p:sp>
      <p:sp>
        <p:nvSpPr>
          <p:cNvPr id="28" name="TextBox 27">
            <a:extLst>
              <a:ext uri="{FF2B5EF4-FFF2-40B4-BE49-F238E27FC236}">
                <a16:creationId xmlns:a16="http://schemas.microsoft.com/office/drawing/2014/main" id="{9EFA9CE3-6CDB-5642-BF64-12E29C1C02CD}"/>
              </a:ext>
            </a:extLst>
          </p:cNvPr>
          <p:cNvSpPr txBox="1"/>
          <p:nvPr/>
        </p:nvSpPr>
        <p:spPr>
          <a:xfrm>
            <a:off x="6502400" y="3581400"/>
            <a:ext cx="4826000" cy="533400"/>
          </a:xfrm>
          <a:prstGeom prst="rect">
            <a:avLst/>
          </a:prstGeom>
          <a:noFill/>
        </p:spPr>
        <p:txBody>
          <a:bodyPr vertOverflow="overflow" vert="horz" wrap="square" rtlCol="0" anchor="t">
            <a:noAutofit/>
          </a:bodyPr>
          <a:lstStyle/>
          <a:p>
            <a:pPr algn="l"/>
            <a:r>
              <a:rPr lang="en-GB" sz="3200" b="1">
                <a:solidFill>
                  <a:srgbClr val="1A1A1A"/>
                </a:solidFill>
                <a:latin typeface="Segoe UI"/>
                <a:cs typeface="Segoe UI"/>
              </a:rPr>
              <a:t>plusieurs M€</a:t>
            </a:r>
            <a:endParaRPr lang="en-FR" sz="3200" b="1">
              <a:solidFill>
                <a:srgbClr val="1A1A1A"/>
              </a:solidFill>
              <a:latin typeface="Segoe UI"/>
              <a:cs typeface="Segoe UI"/>
            </a:endParaRPr>
          </a:p>
        </p:txBody>
      </p:sp>
      <p:sp>
        <p:nvSpPr>
          <p:cNvPr id="29" name="TextBox 28">
            <a:extLst>
              <a:ext uri="{FF2B5EF4-FFF2-40B4-BE49-F238E27FC236}">
                <a16:creationId xmlns:a16="http://schemas.microsoft.com/office/drawing/2014/main" id="{FEEFA183-CB9C-794F-9AE3-B60F94F2ED32}"/>
              </a:ext>
            </a:extLst>
          </p:cNvPr>
          <p:cNvSpPr txBox="1"/>
          <p:nvPr/>
        </p:nvSpPr>
        <p:spPr>
          <a:xfrm>
            <a:off x="6502400" y="4140200"/>
            <a:ext cx="4826000" cy="3048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rançongiciel abouti — ordres de grandeur publics</a:t>
            </a:r>
            <a:endParaRPr lang="en-FR" sz="1600">
              <a:solidFill>
                <a:srgbClr val="3C3C3C"/>
              </a:solidFill>
              <a:latin typeface="Segoe UI"/>
              <a:cs typeface="Segoe UI"/>
            </a:endParaRPr>
          </a:p>
        </p:txBody>
      </p:sp>
      <p:sp>
        <p:nvSpPr>
          <p:cNvPr id="30" name="TextBox 29">
            <a:extLst>
              <a:ext uri="{FF2B5EF4-FFF2-40B4-BE49-F238E27FC236}">
                <a16:creationId xmlns:a16="http://schemas.microsoft.com/office/drawing/2014/main" id="{30FF2158-4A55-8941-891C-629E830D23A7}"/>
              </a:ext>
            </a:extLst>
          </p:cNvPr>
          <p:cNvSpPr txBox="1"/>
          <p:nvPr/>
        </p:nvSpPr>
        <p:spPr>
          <a:xfrm>
            <a:off x="6502400" y="4546600"/>
            <a:ext cx="48260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plausible · non borné</a:t>
            </a:r>
            <a:endParaRPr lang="en-FR" sz="1900" i="1">
              <a:solidFill>
                <a:srgbClr val="3C3C3C"/>
              </a:solidFill>
              <a:latin typeface="Segoe UI"/>
              <a:cs typeface="Segoe UI"/>
            </a:endParaRPr>
          </a:p>
        </p:txBody>
      </p:sp>
      <p:sp>
        <p:nvSpPr>
          <p:cNvPr id="31" name="Rectangle 30">
            <a:extLst>
              <a:ext uri="{FF2B5EF4-FFF2-40B4-BE49-F238E27FC236}">
                <a16:creationId xmlns:a16="http://schemas.microsoft.com/office/drawing/2014/main" id="{91F802DA-0161-1145-83B2-06E725B45D6F}"/>
              </a:ext>
            </a:extLst>
          </p:cNvPr>
          <p:cNvSpPr/>
          <p:nvPr/>
        </p:nvSpPr>
        <p:spPr>
          <a:xfrm>
            <a:off x="914400" y="5054600"/>
            <a:ext cx="10414000" cy="9906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2" name="TextBox 31">
            <a:extLst>
              <a:ext uri="{FF2B5EF4-FFF2-40B4-BE49-F238E27FC236}">
                <a16:creationId xmlns:a16="http://schemas.microsoft.com/office/drawing/2014/main" id="{726CC55E-E0FB-6540-AEB0-A3D7E089483D}"/>
              </a:ext>
            </a:extLst>
          </p:cNvPr>
          <p:cNvSpPr txBox="1"/>
          <p:nvPr/>
        </p:nvSpPr>
        <p:spPr>
          <a:xfrm>
            <a:off x="1219200" y="5232400"/>
            <a:ext cx="9804400" cy="6604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Un coût certain, annuel et borné, contre une perte plausible et non bornée — qui se réalise en un jour de plus que le plan n'en coûte en un an.</a:t>
            </a:r>
            <a:endParaRPr lang="en-FR" sz="1900" b="1">
              <a:solidFill>
                <a:srgbClr val="1F4E79"/>
              </a:solidFill>
              <a:latin typeface="Segoe UI"/>
              <a:cs typeface="Segoe UI"/>
            </a:endParaRPr>
          </a:p>
        </p:txBody>
      </p:sp>
    </p:spTree>
    <p:extLst>
      <p:ext uri="{BB962C8B-B14F-4D97-AF65-F5344CB8AC3E}">
        <p14:creationId xmlns:p14="http://schemas.microsoft.com/office/powerpoint/2010/main" val="4232317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464FB017-9FC9-A34C-B747-DFBB75696AB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qui reste ouvert — trois points, trois dates</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B1A223C4-B89F-9942-A368-9260C353CAD3}"/>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65ED9C32-6A27-0C43-8C82-B5BDE1B8FF5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Trois points sans réponse aujourd'hui. Chacun porte une date.</a:t>
            </a:r>
            <a:endParaRPr lang="en-FR">
              <a:solidFill>
                <a:srgbClr val="3C3C3C"/>
              </a:solidFill>
              <a:latin typeface="Segoe UI"/>
              <a:cs typeface="Segoe UI"/>
            </a:endParaRPr>
          </a:p>
        </p:txBody>
      </p:sp>
      <p:sp>
        <p:nvSpPr>
          <p:cNvPr id="21" name="TextBox 20">
            <a:extLst>
              <a:ext uri="{FF2B5EF4-FFF2-40B4-BE49-F238E27FC236}">
                <a16:creationId xmlns:a16="http://schemas.microsoft.com/office/drawing/2014/main" id="{2B9C7B56-369F-7042-91CC-086C6D591488}"/>
              </a:ext>
            </a:extLst>
          </p:cNvPr>
          <p:cNvSpPr txBox="1"/>
          <p:nvPr/>
        </p:nvSpPr>
        <p:spPr>
          <a:xfrm>
            <a:off x="914400" y="19304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Combien de temps pour repartir après un arrêt ?</a:t>
            </a:r>
            <a:endParaRPr lang="en-FR" sz="1900">
              <a:solidFill>
                <a:srgbClr val="1A1A1A"/>
              </a:solidFill>
              <a:latin typeface="Segoe UI"/>
              <a:cs typeface="Segoe UI"/>
            </a:endParaRPr>
          </a:p>
        </p:txBody>
      </p:sp>
      <p:sp>
        <p:nvSpPr>
          <p:cNvPr id="22" name="TextBox 21">
            <a:extLst>
              <a:ext uri="{FF2B5EF4-FFF2-40B4-BE49-F238E27FC236}">
                <a16:creationId xmlns:a16="http://schemas.microsoft.com/office/drawing/2014/main" id="{B7EC6D00-21FF-BA4C-A7A3-CFD62A9BED27}"/>
              </a:ext>
            </a:extLst>
          </p:cNvPr>
          <p:cNvSpPr txBox="1"/>
          <p:nvPr/>
        </p:nvSpPr>
        <p:spPr>
          <a:xfrm>
            <a:off x="6858000" y="19304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14 novembre 2026</a:t>
            </a:r>
            <a:endParaRPr lang="en-FR" sz="1900" b="1">
              <a:solidFill>
                <a:srgbClr val="1F4E79"/>
              </a:solidFill>
              <a:latin typeface="Segoe UI"/>
              <a:cs typeface="Segoe UI"/>
            </a:endParaRPr>
          </a:p>
        </p:txBody>
      </p:sp>
      <p:sp>
        <p:nvSpPr>
          <p:cNvPr id="23" name="TextBox 22">
            <a:extLst>
              <a:ext uri="{FF2B5EF4-FFF2-40B4-BE49-F238E27FC236}">
                <a16:creationId xmlns:a16="http://schemas.microsoft.com/office/drawing/2014/main" id="{1A669216-23FC-1544-B111-981479584E58}"/>
              </a:ext>
            </a:extLst>
          </p:cNvPr>
          <p:cNvSpPr txBox="1"/>
          <p:nvPr/>
        </p:nvSpPr>
        <p:spPr>
          <a:xfrm>
            <a:off x="9601200" y="19558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test de restauration</a:t>
            </a:r>
            <a:endParaRPr lang="en-FR" sz="1500">
              <a:solidFill>
                <a:srgbClr val="3C3C3C"/>
              </a:solidFill>
              <a:latin typeface="Segoe UI"/>
              <a:cs typeface="Segoe UI"/>
            </a:endParaRPr>
          </a:p>
        </p:txBody>
      </p:sp>
      <p:sp>
        <p:nvSpPr>
          <p:cNvPr id="24" name="Rectangle 23">
            <a:extLst>
              <a:ext uri="{FF2B5EF4-FFF2-40B4-BE49-F238E27FC236}">
                <a16:creationId xmlns:a16="http://schemas.microsoft.com/office/drawing/2014/main" id="{FCB8C2C5-3004-DF45-9F0E-02D8FD8648E7}"/>
              </a:ext>
            </a:extLst>
          </p:cNvPr>
          <p:cNvSpPr/>
          <p:nvPr/>
        </p:nvSpPr>
        <p:spPr>
          <a:xfrm>
            <a:off x="914400" y="27178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5" name="TextBox 24">
            <a:extLst>
              <a:ext uri="{FF2B5EF4-FFF2-40B4-BE49-F238E27FC236}">
                <a16:creationId xmlns:a16="http://schemas.microsoft.com/office/drawing/2014/main" id="{BB0C4A8F-9305-5545-9A01-CA8987217065}"/>
              </a:ext>
            </a:extLst>
          </p:cNvPr>
          <p:cNvSpPr txBox="1"/>
          <p:nvPr/>
        </p:nvSpPr>
        <p:spPr>
          <a:xfrm>
            <a:off x="914400" y="28956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 risque porté par l'intégrateur des automates ne descend pas plus bas — c'est un plancher</a:t>
            </a:r>
            <a:endParaRPr lang="en-FR" sz="1900">
              <a:solidFill>
                <a:srgbClr val="1A1A1A"/>
              </a:solidFill>
              <a:latin typeface="Segoe UI"/>
              <a:cs typeface="Segoe UI"/>
            </a:endParaRPr>
          </a:p>
        </p:txBody>
      </p:sp>
      <p:sp>
        <p:nvSpPr>
          <p:cNvPr id="26" name="TextBox 25">
            <a:extLst>
              <a:ext uri="{FF2B5EF4-FFF2-40B4-BE49-F238E27FC236}">
                <a16:creationId xmlns:a16="http://schemas.microsoft.com/office/drawing/2014/main" id="{01264745-15D3-FF46-B3A8-4A633F1BAE1A}"/>
              </a:ext>
            </a:extLst>
          </p:cNvPr>
          <p:cNvSpPr txBox="1"/>
          <p:nvPr/>
        </p:nvSpPr>
        <p:spPr>
          <a:xfrm>
            <a:off x="6858000" y="28956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sous 12 mois</a:t>
            </a:r>
            <a:endParaRPr lang="en-FR" sz="1900" b="1">
              <a:solidFill>
                <a:srgbClr val="1F4E79"/>
              </a:solidFill>
              <a:latin typeface="Segoe UI"/>
              <a:cs typeface="Segoe UI"/>
            </a:endParaRPr>
          </a:p>
        </p:txBody>
      </p:sp>
      <p:sp>
        <p:nvSpPr>
          <p:cNvPr id="27" name="TextBox 26">
            <a:extLst>
              <a:ext uri="{FF2B5EF4-FFF2-40B4-BE49-F238E27FC236}">
                <a16:creationId xmlns:a16="http://schemas.microsoft.com/office/drawing/2014/main" id="{5E6D1D1F-A2EC-224F-96F4-649EE74D618F}"/>
              </a:ext>
            </a:extLst>
          </p:cNvPr>
          <p:cNvSpPr txBox="1"/>
          <p:nvPr/>
        </p:nvSpPr>
        <p:spPr>
          <a:xfrm>
            <a:off x="9601200" y="29210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revue de l'écosystème</a:t>
            </a:r>
            <a:endParaRPr lang="en-FR" sz="1500">
              <a:solidFill>
                <a:srgbClr val="3C3C3C"/>
              </a:solidFill>
              <a:latin typeface="Segoe UI"/>
              <a:cs typeface="Segoe UI"/>
            </a:endParaRPr>
          </a:p>
        </p:txBody>
      </p:sp>
      <p:sp>
        <p:nvSpPr>
          <p:cNvPr id="28" name="Rectangle 27">
            <a:extLst>
              <a:ext uri="{FF2B5EF4-FFF2-40B4-BE49-F238E27FC236}">
                <a16:creationId xmlns:a16="http://schemas.microsoft.com/office/drawing/2014/main" id="{91CA35FF-3991-9248-AEC2-A956618BD168}"/>
              </a:ext>
            </a:extLst>
          </p:cNvPr>
          <p:cNvSpPr/>
          <p:nvPr/>
        </p:nvSpPr>
        <p:spPr>
          <a:xfrm>
            <a:off x="914400" y="36830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9" name="TextBox 28">
            <a:extLst>
              <a:ext uri="{FF2B5EF4-FFF2-40B4-BE49-F238E27FC236}">
                <a16:creationId xmlns:a16="http://schemas.microsoft.com/office/drawing/2014/main" id="{600B546C-FED6-5E4B-9AF6-9F235022E026}"/>
              </a:ext>
            </a:extLst>
          </p:cNvPr>
          <p:cNvSpPr txBox="1"/>
          <p:nvPr/>
        </p:nvSpPr>
        <p:spPr>
          <a:xfrm>
            <a:off x="914400" y="38608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La reprise du flux vers MERIDIAN Santé n'atteint sa cible qu'en fin de projet</a:t>
            </a:r>
            <a:endParaRPr lang="en-FR" sz="1900">
              <a:solidFill>
                <a:srgbClr val="1A1A1A"/>
              </a:solidFill>
              <a:latin typeface="Segoe UI"/>
              <a:cs typeface="Segoe UI"/>
            </a:endParaRPr>
          </a:p>
        </p:txBody>
      </p:sp>
      <p:sp>
        <p:nvSpPr>
          <p:cNvPr id="30" name="TextBox 29">
            <a:extLst>
              <a:ext uri="{FF2B5EF4-FFF2-40B4-BE49-F238E27FC236}">
                <a16:creationId xmlns:a16="http://schemas.microsoft.com/office/drawing/2014/main" id="{A588AFDC-6E61-034F-9180-3B0D56F8CF09}"/>
              </a:ext>
            </a:extLst>
          </p:cNvPr>
          <p:cNvSpPr txBox="1"/>
          <p:nvPr/>
        </p:nvSpPr>
        <p:spPr>
          <a:xfrm>
            <a:off x="6858000" y="38608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14 septembre 2027</a:t>
            </a:r>
            <a:endParaRPr lang="en-FR" sz="1900" b="1">
              <a:solidFill>
                <a:srgbClr val="1F4E79"/>
              </a:solidFill>
              <a:latin typeface="Segoe UI"/>
              <a:cs typeface="Segoe UI"/>
            </a:endParaRPr>
          </a:p>
        </p:txBody>
      </p:sp>
      <p:sp>
        <p:nvSpPr>
          <p:cNvPr id="31" name="TextBox 30">
            <a:extLst>
              <a:ext uri="{FF2B5EF4-FFF2-40B4-BE49-F238E27FC236}">
                <a16:creationId xmlns:a16="http://schemas.microsoft.com/office/drawing/2014/main" id="{6AFB7ED2-F58C-BD40-8A4C-396192DB5054}"/>
              </a:ext>
            </a:extLst>
          </p:cNvPr>
          <p:cNvSpPr txBox="1"/>
          <p:nvPr/>
        </p:nvSpPr>
        <p:spPr>
          <a:xfrm>
            <a:off x="9601200" y="38862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sixième jalon du projet</a:t>
            </a:r>
            <a:endParaRPr lang="en-FR" sz="1500">
              <a:solidFill>
                <a:srgbClr val="3C3C3C"/>
              </a:solidFill>
              <a:latin typeface="Segoe UI"/>
              <a:cs typeface="Segoe UI"/>
            </a:endParaRPr>
          </a:p>
        </p:txBody>
      </p:sp>
      <p:sp>
        <p:nvSpPr>
          <p:cNvPr id="32" name="Rectangle 31">
            <a:extLst>
              <a:ext uri="{FF2B5EF4-FFF2-40B4-BE49-F238E27FC236}">
                <a16:creationId xmlns:a16="http://schemas.microsoft.com/office/drawing/2014/main" id="{A18D7712-DC0F-6442-BE18-924B61F9FF3D}"/>
              </a:ext>
            </a:extLst>
          </p:cNvPr>
          <p:cNvSpPr/>
          <p:nvPr/>
        </p:nvSpPr>
        <p:spPr>
          <a:xfrm>
            <a:off x="914400" y="46482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Rectangle 32">
            <a:extLst>
              <a:ext uri="{FF2B5EF4-FFF2-40B4-BE49-F238E27FC236}">
                <a16:creationId xmlns:a16="http://schemas.microsoft.com/office/drawing/2014/main" id="{6C907773-45CE-5F47-9B30-128229E29C14}"/>
              </a:ext>
            </a:extLst>
          </p:cNvPr>
          <p:cNvSpPr/>
          <p:nvPr/>
        </p:nvSpPr>
        <p:spPr>
          <a:xfrm>
            <a:off x="914400" y="5003800"/>
            <a:ext cx="10414000" cy="1041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4" name="TextBox 33">
            <a:extLst>
              <a:ext uri="{FF2B5EF4-FFF2-40B4-BE49-F238E27FC236}">
                <a16:creationId xmlns:a16="http://schemas.microsoft.com/office/drawing/2014/main" id="{47221EB0-2CA3-1A48-8BD9-A79A842A8135}"/>
              </a:ext>
            </a:extLst>
          </p:cNvPr>
          <p:cNvSpPr txBox="1"/>
          <p:nvPr/>
        </p:nvSpPr>
        <p:spPr>
          <a:xfrm>
            <a:off x="1219200" y="5257800"/>
            <a:ext cx="9804400" cy="6604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Un comité fait confiance à qui lui donne les dates de ce qu'il ne sait pas encore. Voici les nôtres.</a:t>
            </a:r>
            <a:endParaRPr lang="en-FR" sz="1900" b="1">
              <a:solidFill>
                <a:srgbClr val="1F4E79"/>
              </a:solidFill>
              <a:latin typeface="Segoe UI"/>
              <a:cs typeface="Segoe UI"/>
            </a:endParaRPr>
          </a:p>
        </p:txBody>
      </p:sp>
    </p:spTree>
    <p:extLst>
      <p:ext uri="{BB962C8B-B14F-4D97-AF65-F5344CB8AC3E}">
        <p14:creationId xmlns:p14="http://schemas.microsoft.com/office/powerpoint/2010/main" val="3324562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402914-A558-5C4F-A66E-C0E7E7FE7BA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Deux périmètres — et comment vous le saurez</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2899A6C0-A7B5-7A4F-BE50-DCFD6B8CA36F}"/>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2D45A3AD-B63E-2E41-8CD7-69390FB0F44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b="1">
                <a:solidFill>
                  <a:srgbClr val="8A8F98"/>
                </a:solidFill>
                <a:latin typeface="Segoe UI"/>
                <a:cs typeface="Segoe UI"/>
              </a:rPr>
              <a:t>DEUX PÉRIMÈTRES, PAS UN</a:t>
            </a:r>
            <a:endParaRPr lang="en-FR" b="1">
              <a:solidFill>
                <a:srgbClr val="8A8F98"/>
              </a:solidFill>
              <a:latin typeface="Segoe UI"/>
              <a:cs typeface="Segoe UI"/>
            </a:endParaRPr>
          </a:p>
        </p:txBody>
      </p:sp>
      <p:sp>
        <p:nvSpPr>
          <p:cNvPr id="5" name="Rectangle 4">
            <a:extLst>
              <a:ext uri="{FF2B5EF4-FFF2-40B4-BE49-F238E27FC236}">
                <a16:creationId xmlns:a16="http://schemas.microsoft.com/office/drawing/2014/main" id="{3DC4AA0C-2B04-634C-B310-0E0E18BFEF4A}"/>
              </a:ext>
            </a:extLst>
          </p:cNvPr>
          <p:cNvSpPr/>
          <p:nvPr/>
        </p:nvSpPr>
        <p:spPr>
          <a:xfrm>
            <a:off x="914400" y="1752600"/>
            <a:ext cx="10414000" cy="2184400"/>
          </a:xfrm>
          <a:prstGeom prst="rect">
            <a:avLst/>
          </a:prstGeom>
          <a:solidFill>
            <a:srgbClr val="F2F3F5"/>
          </a:solidFill>
          <a:ln w="19050" cap="flat" cmpd="sng" algn="ctr">
            <a:solidFill>
              <a:srgbClr val="1F4E7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 name="TextBox 5">
            <a:extLst>
              <a:ext uri="{FF2B5EF4-FFF2-40B4-BE49-F238E27FC236}">
                <a16:creationId xmlns:a16="http://schemas.microsoft.com/office/drawing/2014/main" id="{4A7F2017-2675-E34F-8774-FE5A3CE3C230}"/>
              </a:ext>
            </a:extLst>
          </p:cNvPr>
          <p:cNvSpPr txBox="1"/>
          <p:nvPr/>
        </p:nvSpPr>
        <p:spPr>
          <a:xfrm>
            <a:off x="1168400" y="1879600"/>
            <a:ext cx="9906000" cy="3302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Le système de management  →  la filiale entière · 6 exclusions nommées · 4 interfaces déclarées</a:t>
            </a:r>
            <a:endParaRPr lang="en-FR" sz="1700" b="1">
              <a:solidFill>
                <a:srgbClr val="1F4E79"/>
              </a:solidFill>
              <a:latin typeface="Segoe UI"/>
              <a:cs typeface="Segoe UI"/>
            </a:endParaRPr>
          </a:p>
        </p:txBody>
      </p:sp>
      <p:sp>
        <p:nvSpPr>
          <p:cNvPr id="7" name="Rectangle 6">
            <a:extLst>
              <a:ext uri="{FF2B5EF4-FFF2-40B4-BE49-F238E27FC236}">
                <a16:creationId xmlns:a16="http://schemas.microsoft.com/office/drawing/2014/main" id="{E91E718F-3850-DA40-8164-7EEF99DBD9C3}"/>
              </a:ext>
            </a:extLst>
          </p:cNvPr>
          <p:cNvSpPr/>
          <p:nvPr/>
        </p:nvSpPr>
        <p:spPr>
          <a:xfrm>
            <a:off x="1270000" y="2311400"/>
            <a:ext cx="9702800" cy="1498600"/>
          </a:xfrm>
          <a:prstGeom prst="rect">
            <a:avLst/>
          </a:prstGeom>
          <a:solidFill>
            <a:srgbClr val="FFFFFF"/>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 name="TextBox 7">
            <a:extLst>
              <a:ext uri="{FF2B5EF4-FFF2-40B4-BE49-F238E27FC236}">
                <a16:creationId xmlns:a16="http://schemas.microsoft.com/office/drawing/2014/main" id="{9CE7224A-C5AE-1D46-84DD-59D52051A001}"/>
              </a:ext>
            </a:extLst>
          </p:cNvPr>
          <p:cNvSpPr txBox="1"/>
          <p:nvPr/>
        </p:nvSpPr>
        <p:spPr>
          <a:xfrm>
            <a:off x="1524000" y="2463800"/>
            <a:ext cx="9194800" cy="330200"/>
          </a:xfrm>
          <a:prstGeom prst="rect">
            <a:avLst/>
          </a:prstGeom>
          <a:noFill/>
        </p:spPr>
        <p:txBody>
          <a:bodyPr vertOverflow="overflow" vert="horz" wrap="square" rtlCol="0" anchor="t">
            <a:noAutofit/>
          </a:bodyPr>
          <a:lstStyle/>
          <a:p>
            <a:pPr algn="l"/>
            <a:r>
              <a:rPr lang="en-GB" sz="1700" b="1">
                <a:solidFill>
                  <a:srgbClr val="1A1A1A"/>
                </a:solidFill>
                <a:latin typeface="Segoe UI"/>
                <a:cs typeface="Segoe UI"/>
              </a:rPr>
              <a:t>La première certification  →  seulement les services reçus par le client pharmaceutique</a:t>
            </a:r>
            <a:endParaRPr lang="en-FR" sz="1700" b="1">
              <a:solidFill>
                <a:srgbClr val="1A1A1A"/>
              </a:solidFill>
              <a:latin typeface="Segoe UI"/>
              <a:cs typeface="Segoe UI"/>
            </a:endParaRPr>
          </a:p>
        </p:txBody>
      </p:sp>
      <p:sp>
        <p:nvSpPr>
          <p:cNvPr id="9" name="TextBox 8">
            <a:extLst>
              <a:ext uri="{FF2B5EF4-FFF2-40B4-BE49-F238E27FC236}">
                <a16:creationId xmlns:a16="http://schemas.microsoft.com/office/drawing/2014/main" id="{C27F9BE3-6214-9546-BFC6-E5DD762940CC}"/>
              </a:ext>
            </a:extLst>
          </p:cNvPr>
          <p:cNvSpPr txBox="1"/>
          <p:nvPr/>
        </p:nvSpPr>
        <p:spPr>
          <a:xfrm>
            <a:off x="1524000" y="2844800"/>
            <a:ext cx="9194800" cy="711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chaîne du froid + flux d'entrepôt des sites E1 et E4</a:t>
            </a:r>
            <a:br>
              <a:rPr lang="en-GB" sz="1700">
                <a:latin typeface="Segoe UI"/>
              </a:rPr>
            </a:br>
            <a:r>
              <a:rPr lang="en-GB" sz="1700" b="1">
                <a:solidFill>
                  <a:srgbClr val="3C3C3C"/>
                </a:solidFill>
                <a:latin typeface="Segoe UI"/>
                <a:cs typeface="Segoe UI"/>
              </a:rPr>
              <a:t>hors</a:t>
            </a:r>
            <a:r>
              <a:rPr lang="en-GB" sz="1700">
                <a:solidFill>
                  <a:srgbClr val="3C3C3C"/>
                </a:solidFill>
                <a:latin typeface="Segoe UI"/>
                <a:cs typeface="Segoe UI"/>
              </a:rPr>
              <a:t> automatisation d'E4, jusqu'au 14 juin 2027</a:t>
            </a:r>
            <a:endParaRPr lang="en-FR" sz="1700">
              <a:solidFill>
                <a:srgbClr val="3C3C3C"/>
              </a:solidFill>
              <a:latin typeface="Segoe UI"/>
              <a:cs typeface="Segoe UI"/>
            </a:endParaRPr>
          </a:p>
        </p:txBody>
      </p:sp>
      <p:sp>
        <p:nvSpPr>
          <p:cNvPr id="10" name="TextBox 9">
            <a:extLst>
              <a:ext uri="{FF2B5EF4-FFF2-40B4-BE49-F238E27FC236}">
                <a16:creationId xmlns:a16="http://schemas.microsoft.com/office/drawing/2014/main" id="{47A26930-571A-184C-B809-5CABF3F4F689}"/>
              </a:ext>
            </a:extLst>
          </p:cNvPr>
          <p:cNvSpPr txBox="1"/>
          <p:nvPr/>
        </p:nvSpPr>
        <p:spPr>
          <a:xfrm>
            <a:off x="914400" y="4064000"/>
            <a:ext cx="10414000" cy="6350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Pourquoi : E4 est à la fois dédié à ce client </a:t>
            </a:r>
            <a:r>
              <a:rPr lang="en-GB" b="1">
                <a:solidFill>
                  <a:srgbClr val="1A1A1A"/>
                </a:solidFill>
                <a:latin typeface="Segoe UI"/>
                <a:cs typeface="Segoe UI"/>
              </a:rPr>
              <a:t>et</a:t>
            </a:r>
            <a:r>
              <a:rPr lang="en-GB">
                <a:solidFill>
                  <a:srgbClr val="1A1A1A"/>
                </a:solidFill>
                <a:latin typeface="Segoe UI"/>
                <a:cs typeface="Segoe UI"/>
              </a:rPr>
              <a:t> porteur d'automates sur un réseau non séparé.</a:t>
            </a:r>
            <a:br>
              <a:rPr lang="en-GB">
                <a:latin typeface="Segoe UI"/>
              </a:rPr>
            </a:br>
            <a:r>
              <a:rPr lang="en-GB">
                <a:solidFill>
                  <a:srgbClr val="1A1A1A"/>
                </a:solidFill>
                <a:latin typeface="Segoe UI"/>
                <a:cs typeface="Segoe UI"/>
              </a:rPr>
              <a:t>Certifier large aujourd'hui reviendrait à certifier ce défaut.</a:t>
            </a:r>
            <a:endParaRPr lang="en-FR">
              <a:solidFill>
                <a:srgbClr val="1A1A1A"/>
              </a:solidFill>
              <a:latin typeface="Segoe UI"/>
              <a:cs typeface="Segoe UI"/>
            </a:endParaRPr>
          </a:p>
        </p:txBody>
      </p:sp>
      <p:sp>
        <p:nvSpPr>
          <p:cNvPr id="11" name="Rectangle 10">
            <a:extLst>
              <a:ext uri="{FF2B5EF4-FFF2-40B4-BE49-F238E27FC236}">
                <a16:creationId xmlns:a16="http://schemas.microsoft.com/office/drawing/2014/main" id="{AED3A469-A942-2F42-9146-056A012768BE}"/>
              </a:ext>
            </a:extLst>
          </p:cNvPr>
          <p:cNvSpPr/>
          <p:nvPr/>
        </p:nvSpPr>
        <p:spPr>
          <a:xfrm>
            <a:off x="914400" y="4826000"/>
            <a:ext cx="10414000" cy="127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2" name="TextBox 11">
            <a:extLst>
              <a:ext uri="{FF2B5EF4-FFF2-40B4-BE49-F238E27FC236}">
                <a16:creationId xmlns:a16="http://schemas.microsoft.com/office/drawing/2014/main" id="{2716A2E7-42A1-5F49-9535-4DCEAFC48A74}"/>
              </a:ext>
            </a:extLst>
          </p:cNvPr>
          <p:cNvSpPr txBox="1"/>
          <p:nvPr/>
        </p:nvSpPr>
        <p:spPr>
          <a:xfrm>
            <a:off x="914400" y="4927600"/>
            <a:ext cx="10414000" cy="330200"/>
          </a:xfrm>
          <a:prstGeom prst="rect">
            <a:avLst/>
          </a:prstGeom>
          <a:noFill/>
        </p:spPr>
        <p:txBody>
          <a:bodyPr vertOverflow="overflow" vert="horz" wrap="none" rtlCol="0" anchor="t">
            <a:noAutofit/>
          </a:bodyPr>
          <a:lstStyle/>
          <a:p>
            <a:pPr algn="l"/>
            <a:r>
              <a:rPr lang="fr-FR" b="1" dirty="0">
                <a:solidFill>
                  <a:srgbClr val="1F4E79"/>
                </a:solidFill>
                <a:latin typeface="Segoe UI"/>
                <a:cs typeface="Segoe UI"/>
              </a:rPr>
              <a:t>COMMENT VOUS LE SAUREZ</a:t>
            </a:r>
            <a:r>
              <a:rPr lang="fr-FR" sz="1400" dirty="0">
                <a:solidFill>
                  <a:srgbClr val="3C3C3C"/>
                </a:solidFill>
                <a:latin typeface="Segoe UI"/>
                <a:cs typeface="Segoe UI"/>
              </a:rPr>
              <a:t>   7 indicateurs · point trimestriel au comité · revue annuelle de la politique</a:t>
            </a:r>
          </a:p>
        </p:txBody>
      </p:sp>
      <p:sp>
        <p:nvSpPr>
          <p:cNvPr id="13" name="Rectangle 12">
            <a:extLst>
              <a:ext uri="{FF2B5EF4-FFF2-40B4-BE49-F238E27FC236}">
                <a16:creationId xmlns:a16="http://schemas.microsoft.com/office/drawing/2014/main" id="{96F8B4EC-0B66-D343-97AF-DCD7C6CD8E56}"/>
              </a:ext>
            </a:extLst>
          </p:cNvPr>
          <p:cNvSpPr/>
          <p:nvPr/>
        </p:nvSpPr>
        <p:spPr>
          <a:xfrm>
            <a:off x="914400" y="5283200"/>
            <a:ext cx="10414000" cy="1016000"/>
          </a:xfrm>
          <a:prstGeom prst="rect">
            <a:avLst/>
          </a:prstGeom>
          <a:solidFill>
            <a:srgbClr val="E8EBEF"/>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4" name="TextBox 13">
            <a:extLst>
              <a:ext uri="{FF2B5EF4-FFF2-40B4-BE49-F238E27FC236}">
                <a16:creationId xmlns:a16="http://schemas.microsoft.com/office/drawing/2014/main" id="{AF071377-7873-4645-A139-82F2E1C29FC0}"/>
              </a:ext>
            </a:extLst>
          </p:cNvPr>
          <p:cNvSpPr txBox="1"/>
          <p:nvPr/>
        </p:nvSpPr>
        <p:spPr>
          <a:xfrm>
            <a:off x="1219200" y="5372100"/>
            <a:ext cx="9804400" cy="838200"/>
          </a:xfrm>
          <a:prstGeom prst="rect">
            <a:avLst/>
          </a:prstGeom>
          <a:noFill/>
        </p:spPr>
        <p:txBody>
          <a:bodyPr vertOverflow="overflow" vert="horz" wrap="square" rtlCol="0" anchor="t">
            <a:noAutofit/>
          </a:bodyPr>
          <a:lstStyle/>
          <a:p>
            <a:pPr algn="l">
              <a:lnSpc>
                <a:spcPts val="2000"/>
              </a:lnSpc>
              <a:buNone/>
            </a:pPr>
            <a:r>
              <a:rPr lang="fr-FR" sz="1500" b="1" dirty="0">
                <a:solidFill>
                  <a:srgbClr val="1A1A1A"/>
                </a:solidFill>
                <a:latin typeface="Segoe UI"/>
                <a:cs typeface="Segoe UI"/>
              </a:rPr>
              <a:t>Séparation des réseaux recettée</a:t>
            </a:r>
            <a:r>
              <a:rPr lang="fr-FR" sz="1500" dirty="0">
                <a:solidFill>
                  <a:srgbClr val="3C3C3C"/>
                </a:solidFill>
                <a:latin typeface="Segoe UI"/>
                <a:cs typeface="Segoe UI"/>
              </a:rPr>
              <a:t>   —   0 sur 6 entrepôts</a:t>
            </a:r>
            <a:r>
              <a:rPr lang="fr-FR" sz="1500" dirty="0">
                <a:solidFill>
                  <a:srgbClr val="1F4E79"/>
                </a:solidFill>
                <a:latin typeface="Segoe UI"/>
                <a:cs typeface="Segoe UI"/>
              </a:rPr>
              <a:t>   ← c'est lui qui lève l'exclusion d'E4</a:t>
            </a:r>
          </a:p>
          <a:p>
            <a:pPr algn="l">
              <a:lnSpc>
                <a:spcPts val="2000"/>
              </a:lnSpc>
              <a:buNone/>
            </a:pPr>
            <a:r>
              <a:rPr lang="fr-FR" sz="1500" b="1" dirty="0">
                <a:solidFill>
                  <a:srgbClr val="1A1A1A"/>
                </a:solidFill>
                <a:latin typeface="Segoe UI"/>
                <a:cs typeface="Segoe UI"/>
              </a:rPr>
              <a:t>Restaurations du WMS testées</a:t>
            </a:r>
            <a:r>
              <a:rPr lang="fr-FR" sz="1500" dirty="0">
                <a:solidFill>
                  <a:srgbClr val="3C3C3C"/>
                </a:solidFill>
                <a:latin typeface="Segoe UI"/>
                <a:cs typeface="Segoe UI"/>
              </a:rPr>
              <a:t>   —   0 sur 12 mois</a:t>
            </a:r>
          </a:p>
          <a:p>
            <a:pPr algn="l">
              <a:lnSpc>
                <a:spcPts val="2000"/>
              </a:lnSpc>
              <a:buNone/>
            </a:pPr>
            <a:r>
              <a:rPr lang="fr-FR" sz="1500" b="1" dirty="0">
                <a:solidFill>
                  <a:srgbClr val="1A1A1A"/>
                </a:solidFill>
                <a:latin typeface="Segoe UI"/>
                <a:cs typeface="Segoe UI"/>
              </a:rPr>
              <a:t>Accès du prestataire nominatifs</a:t>
            </a:r>
            <a:r>
              <a:rPr lang="fr-FR" sz="1500" dirty="0">
                <a:solidFill>
                  <a:srgbClr val="3C3C3C"/>
                </a:solidFill>
                <a:latin typeface="Segoe UI"/>
                <a:cs typeface="Segoe UI"/>
              </a:rPr>
              <a:t>   —   0 %</a:t>
            </a:r>
          </a:p>
        </p:txBody>
      </p:sp>
    </p:spTree>
    <p:extLst>
      <p:ext uri="{BB962C8B-B14F-4D97-AF65-F5344CB8AC3E}">
        <p14:creationId xmlns:p14="http://schemas.microsoft.com/office/powerpoint/2010/main" val="34686120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B11E2334-BD39-9B45-B595-CD608ABEB139}"/>
              </a:ext>
            </a:extLst>
          </p:cNvPr>
          <p:cNvSpPr/>
          <p:nvPr/>
        </p:nvSpPr>
        <p:spPr>
          <a:xfrm>
            <a:off x="711200" y="3454400"/>
            <a:ext cx="10617200" cy="6858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5" name="Rectangle 64">
            <a:extLst>
              <a:ext uri="{FF2B5EF4-FFF2-40B4-BE49-F238E27FC236}">
                <a16:creationId xmlns:a16="http://schemas.microsoft.com/office/drawing/2014/main" id="{55E06D9B-D61D-1C4F-90AA-C2337301D136}"/>
              </a:ext>
            </a:extLst>
          </p:cNvPr>
          <p:cNvSpPr/>
          <p:nvPr/>
        </p:nvSpPr>
        <p:spPr>
          <a:xfrm>
            <a:off x="711200" y="2032000"/>
            <a:ext cx="10617200" cy="6858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58" name="TextBox 57">
            <a:extLst>
              <a:ext uri="{FF2B5EF4-FFF2-40B4-BE49-F238E27FC236}">
                <a16:creationId xmlns:a16="http://schemas.microsoft.com/office/drawing/2014/main" id="{8549A6F7-2242-874B-B6A8-7549494412C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que nous vous demandons de signer</a:t>
            </a:r>
            <a:endParaRPr lang="en-FR" sz="3200" b="1">
              <a:solidFill>
                <a:srgbClr val="1F4E79"/>
              </a:solidFill>
              <a:latin typeface="Segoe UI"/>
              <a:cs typeface="Segoe UI"/>
            </a:endParaRPr>
          </a:p>
        </p:txBody>
      </p:sp>
      <p:sp>
        <p:nvSpPr>
          <p:cNvPr id="59" name="Rectangle 58">
            <a:extLst>
              <a:ext uri="{FF2B5EF4-FFF2-40B4-BE49-F238E27FC236}">
                <a16:creationId xmlns:a16="http://schemas.microsoft.com/office/drawing/2014/main" id="{43F85934-DDC8-8F49-8A8D-F9FDE1874B39}"/>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0" name="TextBox 59">
            <a:extLst>
              <a:ext uri="{FF2B5EF4-FFF2-40B4-BE49-F238E27FC236}">
                <a16:creationId xmlns:a16="http://schemas.microsoft.com/office/drawing/2014/main" id="{90B3C983-A597-3043-9AEE-657A04E58BD0}"/>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b="1">
                <a:solidFill>
                  <a:srgbClr val="3C3C3C"/>
                </a:solidFill>
                <a:latin typeface="Segoe UI"/>
                <a:cs typeface="Segoe UI"/>
              </a:rPr>
              <a:t>QUATRE DEMANDES</a:t>
            </a:r>
            <a:endParaRPr lang="en-FR" b="1">
              <a:solidFill>
                <a:srgbClr val="3C3C3C"/>
              </a:solidFill>
              <a:latin typeface="Segoe UI"/>
              <a:cs typeface="Segoe UI"/>
            </a:endParaRPr>
          </a:p>
        </p:txBody>
      </p:sp>
      <p:sp>
        <p:nvSpPr>
          <p:cNvPr id="61" name="TextBox 60">
            <a:extLst>
              <a:ext uri="{FF2B5EF4-FFF2-40B4-BE49-F238E27FC236}">
                <a16:creationId xmlns:a16="http://schemas.microsoft.com/office/drawing/2014/main" id="{C637D7C0-0318-3347-AED4-1D18765F77C1}"/>
              </a:ext>
            </a:extLst>
          </p:cNvPr>
          <p:cNvSpPr txBox="1"/>
          <p:nvPr/>
        </p:nvSpPr>
        <p:spPr>
          <a:xfrm>
            <a:off x="1397000" y="1651000"/>
            <a:ext cx="46990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la demande</a:t>
            </a:r>
            <a:endParaRPr lang="en-FR" sz="1500" b="1">
              <a:solidFill>
                <a:srgbClr val="3C3C3C"/>
              </a:solidFill>
              <a:latin typeface="Segoe UI"/>
              <a:cs typeface="Segoe UI"/>
            </a:endParaRPr>
          </a:p>
        </p:txBody>
      </p:sp>
      <p:sp>
        <p:nvSpPr>
          <p:cNvPr id="62" name="TextBox 61">
            <a:extLst>
              <a:ext uri="{FF2B5EF4-FFF2-40B4-BE49-F238E27FC236}">
                <a16:creationId xmlns:a16="http://schemas.microsoft.com/office/drawing/2014/main" id="{7DD29E34-43D2-5B4D-B699-5158A426A386}"/>
              </a:ext>
            </a:extLst>
          </p:cNvPr>
          <p:cNvSpPr txBox="1"/>
          <p:nvPr/>
        </p:nvSpPr>
        <p:spPr>
          <a:xfrm>
            <a:off x="6223000" y="1651000"/>
            <a:ext cx="24130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qui signe</a:t>
            </a:r>
            <a:endParaRPr lang="en-FR" sz="1500" b="1">
              <a:solidFill>
                <a:srgbClr val="3C3C3C"/>
              </a:solidFill>
              <a:latin typeface="Segoe UI"/>
              <a:cs typeface="Segoe UI"/>
            </a:endParaRPr>
          </a:p>
        </p:txBody>
      </p:sp>
      <p:sp>
        <p:nvSpPr>
          <p:cNvPr id="63" name="TextBox 62">
            <a:extLst>
              <a:ext uri="{FF2B5EF4-FFF2-40B4-BE49-F238E27FC236}">
                <a16:creationId xmlns:a16="http://schemas.microsoft.com/office/drawing/2014/main" id="{F4160CB2-3B62-ED46-9B46-2A343AA8FFFB}"/>
              </a:ext>
            </a:extLst>
          </p:cNvPr>
          <p:cNvSpPr txBox="1"/>
          <p:nvPr/>
        </p:nvSpPr>
        <p:spPr>
          <a:xfrm>
            <a:off x="8763000" y="1651000"/>
            <a:ext cx="25654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quand</a:t>
            </a:r>
            <a:endParaRPr lang="en-FR" sz="1500" b="1">
              <a:solidFill>
                <a:srgbClr val="3C3C3C"/>
              </a:solidFill>
              <a:latin typeface="Segoe UI"/>
              <a:cs typeface="Segoe UI"/>
            </a:endParaRPr>
          </a:p>
        </p:txBody>
      </p:sp>
      <p:sp>
        <p:nvSpPr>
          <p:cNvPr id="64" name="Rectangle 63">
            <a:extLst>
              <a:ext uri="{FF2B5EF4-FFF2-40B4-BE49-F238E27FC236}">
                <a16:creationId xmlns:a16="http://schemas.microsoft.com/office/drawing/2014/main" id="{970C9AD5-1EC2-C549-A00D-CFC9B024915A}"/>
              </a:ext>
            </a:extLst>
          </p:cNvPr>
          <p:cNvSpPr/>
          <p:nvPr/>
        </p:nvSpPr>
        <p:spPr>
          <a:xfrm>
            <a:off x="914400" y="1981200"/>
            <a:ext cx="10414000" cy="254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6" name="TextBox 65">
            <a:extLst>
              <a:ext uri="{FF2B5EF4-FFF2-40B4-BE49-F238E27FC236}">
                <a16:creationId xmlns:a16="http://schemas.microsoft.com/office/drawing/2014/main" id="{30CE42EF-D155-3E4F-AE7A-3AD3AD869DB5}"/>
              </a:ext>
            </a:extLst>
          </p:cNvPr>
          <p:cNvSpPr txBox="1"/>
          <p:nvPr/>
        </p:nvSpPr>
        <p:spPr>
          <a:xfrm>
            <a:off x="965200" y="21336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1</a:t>
            </a:r>
          </a:p>
        </p:txBody>
      </p:sp>
      <p:sp>
        <p:nvSpPr>
          <p:cNvPr id="67" name="TextBox 66">
            <a:extLst>
              <a:ext uri="{FF2B5EF4-FFF2-40B4-BE49-F238E27FC236}">
                <a16:creationId xmlns:a16="http://schemas.microsoft.com/office/drawing/2014/main" id="{58FAD213-3768-A249-8BB6-6023943563C7}"/>
              </a:ext>
            </a:extLst>
          </p:cNvPr>
          <p:cNvSpPr txBox="1"/>
          <p:nvPr/>
        </p:nvSpPr>
        <p:spPr>
          <a:xfrm>
            <a:off x="1397000" y="21336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Confirmer le seuil d'acceptation du risque</a:t>
            </a:r>
            <a:endParaRPr lang="en-FR" sz="1900" b="1">
              <a:solidFill>
                <a:srgbClr val="1A1A1A"/>
              </a:solidFill>
              <a:latin typeface="Segoe UI"/>
              <a:cs typeface="Segoe UI"/>
            </a:endParaRPr>
          </a:p>
        </p:txBody>
      </p:sp>
      <p:sp>
        <p:nvSpPr>
          <p:cNvPr id="68" name="TextBox 67">
            <a:extLst>
              <a:ext uri="{FF2B5EF4-FFF2-40B4-BE49-F238E27FC236}">
                <a16:creationId xmlns:a16="http://schemas.microsoft.com/office/drawing/2014/main" id="{4E589A51-177D-7E4D-A97E-716E3C44DE35}"/>
              </a:ext>
            </a:extLst>
          </p:cNvPr>
          <p:cNvSpPr txBox="1"/>
          <p:nvPr/>
        </p:nvSpPr>
        <p:spPr>
          <a:xfrm>
            <a:off x="6223000" y="21590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Direction Générale · Conseil</a:t>
            </a:r>
            <a:endParaRPr lang="en-FR" sz="1600">
              <a:solidFill>
                <a:srgbClr val="3C3C3C"/>
              </a:solidFill>
              <a:latin typeface="Segoe UI"/>
              <a:cs typeface="Segoe UI"/>
            </a:endParaRPr>
          </a:p>
        </p:txBody>
      </p:sp>
      <p:sp>
        <p:nvSpPr>
          <p:cNvPr id="69" name="TextBox 68">
            <a:extLst>
              <a:ext uri="{FF2B5EF4-FFF2-40B4-BE49-F238E27FC236}">
                <a16:creationId xmlns:a16="http://schemas.microsoft.com/office/drawing/2014/main" id="{66902FD5-4168-8249-9E2A-CC4E0D4AA5EC}"/>
              </a:ext>
            </a:extLst>
          </p:cNvPr>
          <p:cNvSpPr txBox="1"/>
          <p:nvPr/>
        </p:nvSpPr>
        <p:spPr>
          <a:xfrm>
            <a:off x="8763000" y="21590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immédiat</a:t>
            </a:r>
            <a:endParaRPr lang="en-FR" sz="1500">
              <a:solidFill>
                <a:srgbClr val="3C3C3C"/>
              </a:solidFill>
              <a:latin typeface="Segoe UI"/>
              <a:cs typeface="Segoe UI"/>
            </a:endParaRPr>
          </a:p>
        </p:txBody>
      </p:sp>
      <p:sp>
        <p:nvSpPr>
          <p:cNvPr id="70" name="TextBox 69">
            <a:extLst>
              <a:ext uri="{FF2B5EF4-FFF2-40B4-BE49-F238E27FC236}">
                <a16:creationId xmlns:a16="http://schemas.microsoft.com/office/drawing/2014/main" id="{673B7CEE-CD97-6145-AFFF-82073757C7AC}"/>
              </a:ext>
            </a:extLst>
          </p:cNvPr>
          <p:cNvSpPr txBox="1"/>
          <p:nvPr/>
        </p:nvSpPr>
        <p:spPr>
          <a:xfrm>
            <a:off x="965200" y="28448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2</a:t>
            </a:r>
          </a:p>
        </p:txBody>
      </p:sp>
      <p:sp>
        <p:nvSpPr>
          <p:cNvPr id="71" name="TextBox 70">
            <a:extLst>
              <a:ext uri="{FF2B5EF4-FFF2-40B4-BE49-F238E27FC236}">
                <a16:creationId xmlns:a16="http://schemas.microsoft.com/office/drawing/2014/main" id="{430D88C0-BEC6-004D-B715-F9F15CDAB111}"/>
              </a:ext>
            </a:extLst>
          </p:cNvPr>
          <p:cNvSpPr txBox="1"/>
          <p:nvPr/>
        </p:nvSpPr>
        <p:spPr>
          <a:xfrm>
            <a:off x="1397000" y="28448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Financer le plan : 82 000 € / an, 13 mesures</a:t>
            </a:r>
            <a:endParaRPr lang="en-FR" sz="1900" b="1">
              <a:solidFill>
                <a:srgbClr val="1A1A1A"/>
              </a:solidFill>
              <a:latin typeface="Segoe UI"/>
              <a:cs typeface="Segoe UI"/>
            </a:endParaRPr>
          </a:p>
        </p:txBody>
      </p:sp>
      <p:sp>
        <p:nvSpPr>
          <p:cNvPr id="72" name="TextBox 71">
            <a:extLst>
              <a:ext uri="{FF2B5EF4-FFF2-40B4-BE49-F238E27FC236}">
                <a16:creationId xmlns:a16="http://schemas.microsoft.com/office/drawing/2014/main" id="{11D370D8-3564-DB46-9556-3FE17180E90F}"/>
              </a:ext>
            </a:extLst>
          </p:cNvPr>
          <p:cNvSpPr txBox="1"/>
          <p:nvPr/>
        </p:nvSpPr>
        <p:spPr>
          <a:xfrm>
            <a:off x="6223000" y="28702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Direction Financière</a:t>
            </a:r>
            <a:endParaRPr lang="en-FR" sz="1600">
              <a:solidFill>
                <a:srgbClr val="3C3C3C"/>
              </a:solidFill>
              <a:latin typeface="Segoe UI"/>
              <a:cs typeface="Segoe UI"/>
            </a:endParaRPr>
          </a:p>
        </p:txBody>
      </p:sp>
      <p:sp>
        <p:nvSpPr>
          <p:cNvPr id="73" name="TextBox 72">
            <a:extLst>
              <a:ext uri="{FF2B5EF4-FFF2-40B4-BE49-F238E27FC236}">
                <a16:creationId xmlns:a16="http://schemas.microsoft.com/office/drawing/2014/main" id="{539A3D22-ACE7-7B43-A30A-9CB386DE6991}"/>
              </a:ext>
            </a:extLst>
          </p:cNvPr>
          <p:cNvSpPr txBox="1"/>
          <p:nvPr/>
        </p:nvSpPr>
        <p:spPr>
          <a:xfrm>
            <a:off x="8763000" y="28702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exercice 2027</a:t>
            </a:r>
            <a:endParaRPr lang="en-FR" sz="1500">
              <a:solidFill>
                <a:srgbClr val="3C3C3C"/>
              </a:solidFill>
              <a:latin typeface="Segoe UI"/>
              <a:cs typeface="Segoe UI"/>
            </a:endParaRPr>
          </a:p>
        </p:txBody>
      </p:sp>
      <p:sp>
        <p:nvSpPr>
          <p:cNvPr id="75" name="TextBox 74">
            <a:extLst>
              <a:ext uri="{FF2B5EF4-FFF2-40B4-BE49-F238E27FC236}">
                <a16:creationId xmlns:a16="http://schemas.microsoft.com/office/drawing/2014/main" id="{82CA156F-EFB2-064E-8761-A4226D8B2350}"/>
              </a:ext>
            </a:extLst>
          </p:cNvPr>
          <p:cNvSpPr txBox="1"/>
          <p:nvPr/>
        </p:nvSpPr>
        <p:spPr>
          <a:xfrm>
            <a:off x="965200" y="35560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3</a:t>
            </a:r>
          </a:p>
        </p:txBody>
      </p:sp>
      <p:sp>
        <p:nvSpPr>
          <p:cNvPr id="76" name="TextBox 75">
            <a:extLst>
              <a:ext uri="{FF2B5EF4-FFF2-40B4-BE49-F238E27FC236}">
                <a16:creationId xmlns:a16="http://schemas.microsoft.com/office/drawing/2014/main" id="{705F327A-9303-EE4C-87C1-8E2071536070}"/>
              </a:ext>
            </a:extLst>
          </p:cNvPr>
          <p:cNvSpPr txBox="1"/>
          <p:nvPr/>
        </p:nvSpPr>
        <p:spPr>
          <a:xfrm>
            <a:off x="1397000" y="35560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Autoriser deux avenants contractuels</a:t>
            </a:r>
            <a:endParaRPr lang="en-FR" sz="1900" b="1">
              <a:solidFill>
                <a:srgbClr val="1A1A1A"/>
              </a:solidFill>
              <a:latin typeface="Segoe UI"/>
              <a:cs typeface="Segoe UI"/>
            </a:endParaRPr>
          </a:p>
        </p:txBody>
      </p:sp>
      <p:sp>
        <p:nvSpPr>
          <p:cNvPr id="77" name="TextBox 76">
            <a:extLst>
              <a:ext uri="{FF2B5EF4-FFF2-40B4-BE49-F238E27FC236}">
                <a16:creationId xmlns:a16="http://schemas.microsoft.com/office/drawing/2014/main" id="{862B002C-C5B4-2D40-8F68-9FB4F82CAF8A}"/>
              </a:ext>
            </a:extLst>
          </p:cNvPr>
          <p:cNvSpPr txBox="1"/>
          <p:nvPr/>
        </p:nvSpPr>
        <p:spPr>
          <a:xfrm>
            <a:off x="6223000" y="35814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Directeur de la filiale</a:t>
            </a:r>
            <a:endParaRPr lang="en-FR" sz="1600">
              <a:solidFill>
                <a:srgbClr val="3C3C3C"/>
              </a:solidFill>
              <a:latin typeface="Segoe UI"/>
              <a:cs typeface="Segoe UI"/>
            </a:endParaRPr>
          </a:p>
        </p:txBody>
      </p:sp>
      <p:sp>
        <p:nvSpPr>
          <p:cNvPr id="78" name="TextBox 77">
            <a:extLst>
              <a:ext uri="{FF2B5EF4-FFF2-40B4-BE49-F238E27FC236}">
                <a16:creationId xmlns:a16="http://schemas.microsoft.com/office/drawing/2014/main" id="{B5D4A237-30E5-D348-AE76-ABBB92CDF662}"/>
              </a:ext>
            </a:extLst>
          </p:cNvPr>
          <p:cNvSpPr txBox="1"/>
          <p:nvPr/>
        </p:nvSpPr>
        <p:spPr>
          <a:xfrm>
            <a:off x="8763000" y="3581400"/>
            <a:ext cx="2565400" cy="330200"/>
          </a:xfrm>
          <a:prstGeom prst="rect">
            <a:avLst/>
          </a:prstGeom>
          <a:noFill/>
        </p:spPr>
        <p:txBody>
          <a:bodyPr vertOverflow="overflow" vert="horz" wrap="square" rtlCol="0" anchor="t">
            <a:noAutofit/>
          </a:bodyPr>
          <a:lstStyle/>
          <a:p>
            <a:pPr algn="l"/>
            <a:r>
              <a:rPr lang="en-GB" sz="1500" b="1">
                <a:solidFill>
                  <a:srgbClr val="1F4E79"/>
                </a:solidFill>
                <a:latin typeface="Segoe UI"/>
                <a:cs typeface="Segoe UI"/>
              </a:rPr>
              <a:t>avant novembre 2026</a:t>
            </a:r>
            <a:endParaRPr lang="en-FR" sz="1500" b="1">
              <a:solidFill>
                <a:srgbClr val="1F4E79"/>
              </a:solidFill>
              <a:latin typeface="Segoe UI"/>
              <a:cs typeface="Segoe UI"/>
            </a:endParaRPr>
          </a:p>
        </p:txBody>
      </p:sp>
      <p:sp>
        <p:nvSpPr>
          <p:cNvPr id="79" name="TextBox 78">
            <a:extLst>
              <a:ext uri="{FF2B5EF4-FFF2-40B4-BE49-F238E27FC236}">
                <a16:creationId xmlns:a16="http://schemas.microsoft.com/office/drawing/2014/main" id="{174FAFE5-5A31-D940-A466-44ACCCD85371}"/>
              </a:ext>
            </a:extLst>
          </p:cNvPr>
          <p:cNvSpPr txBox="1"/>
          <p:nvPr/>
        </p:nvSpPr>
        <p:spPr>
          <a:xfrm>
            <a:off x="965200" y="42672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4</a:t>
            </a:r>
          </a:p>
        </p:txBody>
      </p:sp>
      <p:sp>
        <p:nvSpPr>
          <p:cNvPr id="80" name="TextBox 79">
            <a:extLst>
              <a:ext uri="{FF2B5EF4-FFF2-40B4-BE49-F238E27FC236}">
                <a16:creationId xmlns:a16="http://schemas.microsoft.com/office/drawing/2014/main" id="{B74CD705-031D-8E46-8583-F814B4E770E2}"/>
              </a:ext>
            </a:extLst>
          </p:cNvPr>
          <p:cNvSpPr txBox="1"/>
          <p:nvPr/>
        </p:nvSpPr>
        <p:spPr>
          <a:xfrm>
            <a:off x="1397000" y="42672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Arrêter le périmètre de la première certification</a:t>
            </a:r>
            <a:endParaRPr lang="en-FR" sz="1900" b="1">
              <a:solidFill>
                <a:srgbClr val="1A1A1A"/>
              </a:solidFill>
              <a:latin typeface="Segoe UI"/>
              <a:cs typeface="Segoe UI"/>
            </a:endParaRPr>
          </a:p>
        </p:txBody>
      </p:sp>
      <p:sp>
        <p:nvSpPr>
          <p:cNvPr id="81" name="TextBox 80">
            <a:extLst>
              <a:ext uri="{FF2B5EF4-FFF2-40B4-BE49-F238E27FC236}">
                <a16:creationId xmlns:a16="http://schemas.microsoft.com/office/drawing/2014/main" id="{86F8908E-2621-C647-A30E-A0D4E7B9003F}"/>
              </a:ext>
            </a:extLst>
          </p:cNvPr>
          <p:cNvSpPr txBox="1"/>
          <p:nvPr/>
        </p:nvSpPr>
        <p:spPr>
          <a:xfrm>
            <a:off x="6223000" y="42926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Comité Exécutif</a:t>
            </a:r>
            <a:endParaRPr lang="en-FR" sz="1600">
              <a:solidFill>
                <a:srgbClr val="3C3C3C"/>
              </a:solidFill>
              <a:latin typeface="Segoe UI"/>
              <a:cs typeface="Segoe UI"/>
            </a:endParaRPr>
          </a:p>
        </p:txBody>
      </p:sp>
      <p:sp>
        <p:nvSpPr>
          <p:cNvPr id="82" name="TextBox 81">
            <a:extLst>
              <a:ext uri="{FF2B5EF4-FFF2-40B4-BE49-F238E27FC236}">
                <a16:creationId xmlns:a16="http://schemas.microsoft.com/office/drawing/2014/main" id="{7EBA9A28-5836-CA46-8B75-0ADD71645398}"/>
              </a:ext>
            </a:extLst>
          </p:cNvPr>
          <p:cNvSpPr txBox="1"/>
          <p:nvPr/>
        </p:nvSpPr>
        <p:spPr>
          <a:xfrm>
            <a:off x="8763000" y="42926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immédiat</a:t>
            </a:r>
            <a:endParaRPr lang="en-FR" sz="1500">
              <a:solidFill>
                <a:srgbClr val="3C3C3C"/>
              </a:solidFill>
              <a:latin typeface="Segoe UI"/>
              <a:cs typeface="Segoe UI"/>
            </a:endParaRPr>
          </a:p>
        </p:txBody>
      </p:sp>
      <p:sp>
        <p:nvSpPr>
          <p:cNvPr id="83" name="Rectangle 82">
            <a:extLst>
              <a:ext uri="{FF2B5EF4-FFF2-40B4-BE49-F238E27FC236}">
                <a16:creationId xmlns:a16="http://schemas.microsoft.com/office/drawing/2014/main" id="{DE59F3BC-61F3-E543-AC08-1C0D0FEB5E9A}"/>
              </a:ext>
            </a:extLst>
          </p:cNvPr>
          <p:cNvSpPr/>
          <p:nvPr/>
        </p:nvSpPr>
        <p:spPr>
          <a:xfrm>
            <a:off x="914400" y="5130800"/>
            <a:ext cx="10414000" cy="914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4" name="TextBox 83">
            <a:extLst>
              <a:ext uri="{FF2B5EF4-FFF2-40B4-BE49-F238E27FC236}">
                <a16:creationId xmlns:a16="http://schemas.microsoft.com/office/drawing/2014/main" id="{C38199F9-EEB8-EA42-9781-00FF1C621D12}"/>
              </a:ext>
            </a:extLst>
          </p:cNvPr>
          <p:cNvSpPr txBox="1"/>
          <p:nvPr/>
        </p:nvSpPr>
        <p:spPr>
          <a:xfrm>
            <a:off x="1219200" y="5308600"/>
            <a:ext cx="6604000" cy="5842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Deux signatures accompagnent : l'acceptation formelle du risque
chaîne du froid, l'acceptation simple sur les données d'expédition.</a:t>
            </a:r>
            <a:endParaRPr lang="en-FR" sz="1600">
              <a:solidFill>
                <a:srgbClr val="1A1A1A"/>
              </a:solidFill>
              <a:latin typeface="Segoe UI"/>
              <a:cs typeface="Segoe UI"/>
            </a:endParaRPr>
          </a:p>
        </p:txBody>
      </p:sp>
      <p:sp>
        <p:nvSpPr>
          <p:cNvPr id="85" name="TextBox 84">
            <a:extLst>
              <a:ext uri="{FF2B5EF4-FFF2-40B4-BE49-F238E27FC236}">
                <a16:creationId xmlns:a16="http://schemas.microsoft.com/office/drawing/2014/main" id="{DE38606A-FF6F-524F-B5DB-5AE61F44118F}"/>
              </a:ext>
            </a:extLst>
          </p:cNvPr>
          <p:cNvSpPr txBox="1"/>
          <p:nvPr/>
        </p:nvSpPr>
        <p:spPr>
          <a:xfrm>
            <a:off x="8229600" y="5334000"/>
            <a:ext cx="2794000" cy="558800"/>
          </a:xfrm>
          <a:prstGeom prst="rect">
            <a:avLst/>
          </a:prstGeom>
          <a:noFill/>
        </p:spPr>
        <p:txBody>
          <a:bodyPr vertOverflow="overflow" vert="horz" wrap="square" rtlCol="0" anchor="t">
            <a:noAutofit/>
          </a:bodyPr>
          <a:lstStyle/>
          <a:p>
            <a:pPr algn="l"/>
            <a:r>
              <a:rPr lang="en-GB" b="1">
                <a:solidFill>
                  <a:srgbClr val="1F4E79"/>
                </a:solidFill>
                <a:latin typeface="Segoe UI"/>
                <a:cs typeface="Segoe UI"/>
              </a:rPr>
              <a:t>Aucune dérogation demandée.</a:t>
            </a:r>
            <a:endParaRPr lang="en-FR" b="1">
              <a:solidFill>
                <a:srgbClr val="1F4E79"/>
              </a:solidFill>
              <a:latin typeface="Segoe UI"/>
              <a:cs typeface="Segoe UI"/>
            </a:endParaRPr>
          </a:p>
        </p:txBody>
      </p:sp>
    </p:spTree>
    <p:extLst>
      <p:ext uri="{BB962C8B-B14F-4D97-AF65-F5344CB8AC3E}">
        <p14:creationId xmlns:p14="http://schemas.microsoft.com/office/powerpoint/2010/main" val="3684553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85ED9C0B-99FF-E842-9149-5BAE8051BF6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 limite</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F863852C-7635-9E4A-93A8-FC52BC23D917}"/>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B2849772-64FD-0E40-B76F-8BF60DC6D9FA}"/>
              </a:ext>
            </a:extLst>
          </p:cNvPr>
          <p:cNvSpPr txBox="1"/>
          <p:nvPr/>
        </p:nvSpPr>
        <p:spPr>
          <a:xfrm>
            <a:off x="914400" y="1574800"/>
            <a:ext cx="10414000" cy="482600"/>
          </a:xfrm>
          <a:prstGeom prst="rect">
            <a:avLst/>
          </a:prstGeom>
          <a:noFill/>
        </p:spPr>
        <p:txBody>
          <a:bodyPr vertOverflow="overflow" vert="horz" wrap="square" rtlCol="0" anchor="t">
            <a:noAutofit/>
          </a:bodyPr>
          <a:lstStyle/>
          <a:p>
            <a:pPr algn="l"/>
            <a:r>
              <a:rPr lang="en-GB" sz="2600" b="1">
                <a:solidFill>
                  <a:srgbClr val="1A1A1A"/>
                </a:solidFill>
                <a:latin typeface="Segoe UI"/>
                <a:cs typeface="Segoe UI"/>
              </a:rPr>
              <a:t>Un dossier prouve une méthode. Jamais la sécurité elle-même.</a:t>
            </a:r>
            <a:endParaRPr lang="en-FR" sz="2600" b="1">
              <a:solidFill>
                <a:srgbClr val="1A1A1A"/>
              </a:solidFill>
              <a:latin typeface="Segoe UI"/>
              <a:cs typeface="Segoe UI"/>
            </a:endParaRPr>
          </a:p>
        </p:txBody>
      </p:sp>
      <p:sp>
        <p:nvSpPr>
          <p:cNvPr id="21" name="TextBox 20">
            <a:extLst>
              <a:ext uri="{FF2B5EF4-FFF2-40B4-BE49-F238E27FC236}">
                <a16:creationId xmlns:a16="http://schemas.microsoft.com/office/drawing/2014/main" id="{2E34CDA9-FDAC-2544-8BA9-90E11E1C464B}"/>
              </a:ext>
            </a:extLst>
          </p:cNvPr>
          <p:cNvSpPr txBox="1"/>
          <p:nvPr/>
        </p:nvSpPr>
        <p:spPr>
          <a:xfrm>
            <a:off x="914400" y="2133600"/>
            <a:ext cx="10414000" cy="355600"/>
          </a:xfrm>
          <a:prstGeom prst="rect">
            <a:avLst/>
          </a:prstGeom>
          <a:noFill/>
        </p:spPr>
        <p:txBody>
          <a:bodyPr vertOverflow="overflow" vert="horz" wrap="square" rtlCol="0" anchor="t">
            <a:noAutofit/>
          </a:bodyPr>
          <a:lstStyle/>
          <a:p>
            <a:pPr algn="l"/>
            <a:r>
              <a:rPr lang="en-GB" i="1">
                <a:solidFill>
                  <a:srgbClr val="3C3C3C"/>
                </a:solidFill>
                <a:latin typeface="Segoe UI"/>
                <a:cs typeface="Segoe UI"/>
              </a:rPr>
              <a:t>Des serveurs mal configurés se moquent de la qualité du classeur.</a:t>
            </a:r>
            <a:endParaRPr lang="en-FR" i="1">
              <a:solidFill>
                <a:srgbClr val="3C3C3C"/>
              </a:solidFill>
              <a:latin typeface="Segoe UI"/>
              <a:cs typeface="Segoe UI"/>
            </a:endParaRPr>
          </a:p>
        </p:txBody>
      </p:sp>
      <p:sp>
        <p:nvSpPr>
          <p:cNvPr id="22" name="TextBox 21">
            <a:extLst>
              <a:ext uri="{FF2B5EF4-FFF2-40B4-BE49-F238E27FC236}">
                <a16:creationId xmlns:a16="http://schemas.microsoft.com/office/drawing/2014/main" id="{BEF3264A-F097-DA42-AFA5-E2421D13CD23}"/>
              </a:ext>
            </a:extLst>
          </p:cNvPr>
          <p:cNvSpPr txBox="1"/>
          <p:nvPr/>
        </p:nvSpPr>
        <p:spPr>
          <a:xfrm>
            <a:off x="914400" y="2743200"/>
            <a:ext cx="3810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Ce que nous venons d'établir</a:t>
            </a:r>
            <a:endParaRPr lang="en-FR" sz="1600" b="1">
              <a:solidFill>
                <a:srgbClr val="3C3C3C"/>
              </a:solidFill>
              <a:latin typeface="Segoe UI"/>
              <a:cs typeface="Segoe UI"/>
            </a:endParaRPr>
          </a:p>
        </p:txBody>
      </p:sp>
      <p:sp>
        <p:nvSpPr>
          <p:cNvPr id="23" name="TextBox 22">
            <a:extLst>
              <a:ext uri="{FF2B5EF4-FFF2-40B4-BE49-F238E27FC236}">
                <a16:creationId xmlns:a16="http://schemas.microsoft.com/office/drawing/2014/main" id="{1E184B67-388D-AF45-B834-35A87D005B8E}"/>
              </a:ext>
            </a:extLst>
          </p:cNvPr>
          <p:cNvSpPr txBox="1"/>
          <p:nvPr/>
        </p:nvSpPr>
        <p:spPr>
          <a:xfrm>
            <a:off x="4978400" y="2717800"/>
            <a:ext cx="6350000" cy="6096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où nous en sommes, ce qui nous menace,
ce que coûte le traitement</a:t>
            </a:r>
            <a:endParaRPr lang="en-FR">
              <a:solidFill>
                <a:srgbClr val="1A1A1A"/>
              </a:solidFill>
              <a:latin typeface="Segoe UI"/>
              <a:cs typeface="Segoe UI"/>
            </a:endParaRPr>
          </a:p>
        </p:txBody>
      </p:sp>
      <p:sp>
        <p:nvSpPr>
          <p:cNvPr id="24" name="TextBox 23">
            <a:extLst>
              <a:ext uri="{FF2B5EF4-FFF2-40B4-BE49-F238E27FC236}">
                <a16:creationId xmlns:a16="http://schemas.microsoft.com/office/drawing/2014/main" id="{4CF534FD-577C-9D45-AD79-783821F20B0D}"/>
              </a:ext>
            </a:extLst>
          </p:cNvPr>
          <p:cNvSpPr txBox="1"/>
          <p:nvPr/>
        </p:nvSpPr>
        <p:spPr>
          <a:xfrm>
            <a:off x="914400" y="3454400"/>
            <a:ext cx="3810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Ce que nous n'avons pas établi</a:t>
            </a:r>
            <a:endParaRPr lang="en-FR" sz="1600" b="1">
              <a:solidFill>
                <a:srgbClr val="3C3C3C"/>
              </a:solidFill>
              <a:latin typeface="Segoe UI"/>
              <a:cs typeface="Segoe UI"/>
            </a:endParaRPr>
          </a:p>
        </p:txBody>
      </p:sp>
      <p:sp>
        <p:nvSpPr>
          <p:cNvPr id="25" name="TextBox 24">
            <a:extLst>
              <a:ext uri="{FF2B5EF4-FFF2-40B4-BE49-F238E27FC236}">
                <a16:creationId xmlns:a16="http://schemas.microsoft.com/office/drawing/2014/main" id="{46848A35-A293-D54B-8821-70CF1BFD1C5B}"/>
              </a:ext>
            </a:extLst>
          </p:cNvPr>
          <p:cNvSpPr txBox="1"/>
          <p:nvPr/>
        </p:nvSpPr>
        <p:spPr>
          <a:xfrm>
            <a:off x="4978400" y="3429000"/>
            <a:ext cx="635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que nous sommes protégés</a:t>
            </a:r>
            <a:endParaRPr lang="en-FR" sz="1900" b="1">
              <a:solidFill>
                <a:srgbClr val="1F4E79"/>
              </a:solidFill>
              <a:latin typeface="Segoe UI"/>
              <a:cs typeface="Segoe UI"/>
            </a:endParaRPr>
          </a:p>
        </p:txBody>
      </p:sp>
      <p:sp>
        <p:nvSpPr>
          <p:cNvPr id="26" name="Rectangle 25">
            <a:extLst>
              <a:ext uri="{FF2B5EF4-FFF2-40B4-BE49-F238E27FC236}">
                <a16:creationId xmlns:a16="http://schemas.microsoft.com/office/drawing/2014/main" id="{864D67C5-80AC-AE41-81C4-31DABED0E715}"/>
              </a:ext>
            </a:extLst>
          </p:cNvPr>
          <p:cNvSpPr/>
          <p:nvPr/>
        </p:nvSpPr>
        <p:spPr>
          <a:xfrm>
            <a:off x="914400" y="4013200"/>
            <a:ext cx="10414000" cy="127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7" name="TextBox 26">
            <a:extLst>
              <a:ext uri="{FF2B5EF4-FFF2-40B4-BE49-F238E27FC236}">
                <a16:creationId xmlns:a16="http://schemas.microsoft.com/office/drawing/2014/main" id="{BBD80B51-7034-2440-8F18-69D4F08349DD}"/>
              </a:ext>
            </a:extLst>
          </p:cNvPr>
          <p:cNvSpPr txBox="1"/>
          <p:nvPr/>
        </p:nvSpPr>
        <p:spPr>
          <a:xfrm>
            <a:off x="914400" y="4165600"/>
            <a:ext cx="10414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Les trois dates qui transforment la méthode en preuve</a:t>
            </a:r>
            <a:endParaRPr lang="en-FR" sz="1600" b="1">
              <a:solidFill>
                <a:srgbClr val="3C3C3C"/>
              </a:solidFill>
              <a:latin typeface="Segoe UI"/>
              <a:cs typeface="Segoe UI"/>
            </a:endParaRPr>
          </a:p>
        </p:txBody>
      </p:sp>
      <p:sp>
        <p:nvSpPr>
          <p:cNvPr id="28" name="TextBox 27">
            <a:extLst>
              <a:ext uri="{FF2B5EF4-FFF2-40B4-BE49-F238E27FC236}">
                <a16:creationId xmlns:a16="http://schemas.microsoft.com/office/drawing/2014/main" id="{DE63AABB-80A9-D846-8685-DB20C188E76C}"/>
              </a:ext>
            </a:extLst>
          </p:cNvPr>
          <p:cNvSpPr txBox="1"/>
          <p:nvPr/>
        </p:nvSpPr>
        <p:spPr>
          <a:xfrm>
            <a:off x="914400" y="45974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novembre 2026</a:t>
            </a:r>
            <a:endParaRPr lang="en-FR" sz="2100" b="1">
              <a:solidFill>
                <a:srgbClr val="1F4E79"/>
              </a:solidFill>
              <a:latin typeface="Segoe UI"/>
              <a:cs typeface="Segoe UI"/>
            </a:endParaRPr>
          </a:p>
        </p:txBody>
      </p:sp>
      <p:sp>
        <p:nvSpPr>
          <p:cNvPr id="29" name="TextBox 28">
            <a:extLst>
              <a:ext uri="{FF2B5EF4-FFF2-40B4-BE49-F238E27FC236}">
                <a16:creationId xmlns:a16="http://schemas.microsoft.com/office/drawing/2014/main" id="{93EFD7D1-EA64-294C-BDE9-C331C80C4689}"/>
              </a:ext>
            </a:extLst>
          </p:cNvPr>
          <p:cNvSpPr txBox="1"/>
          <p:nvPr/>
        </p:nvSpPr>
        <p:spPr>
          <a:xfrm>
            <a:off x="4064000" y="46228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 test de restauration</a:t>
            </a:r>
            <a:endParaRPr lang="en-FR" sz="1900">
              <a:solidFill>
                <a:srgbClr val="1A1A1A"/>
              </a:solidFill>
              <a:latin typeface="Segoe UI"/>
              <a:cs typeface="Segoe UI"/>
            </a:endParaRPr>
          </a:p>
        </p:txBody>
      </p:sp>
      <p:sp>
        <p:nvSpPr>
          <p:cNvPr id="30" name="TextBox 29">
            <a:extLst>
              <a:ext uri="{FF2B5EF4-FFF2-40B4-BE49-F238E27FC236}">
                <a16:creationId xmlns:a16="http://schemas.microsoft.com/office/drawing/2014/main" id="{CAF311DF-1ACF-5348-991A-A1139138767C}"/>
              </a:ext>
            </a:extLst>
          </p:cNvPr>
          <p:cNvSpPr txBox="1"/>
          <p:nvPr/>
        </p:nvSpPr>
        <p:spPr>
          <a:xfrm>
            <a:off x="914400" y="50800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janvier 2027</a:t>
            </a:r>
            <a:endParaRPr lang="en-FR" sz="2100" b="1">
              <a:solidFill>
                <a:srgbClr val="1F4E79"/>
              </a:solidFill>
              <a:latin typeface="Segoe UI"/>
              <a:cs typeface="Segoe UI"/>
            </a:endParaRPr>
          </a:p>
        </p:txBody>
      </p:sp>
      <p:sp>
        <p:nvSpPr>
          <p:cNvPr id="31" name="TextBox 30">
            <a:extLst>
              <a:ext uri="{FF2B5EF4-FFF2-40B4-BE49-F238E27FC236}">
                <a16:creationId xmlns:a16="http://schemas.microsoft.com/office/drawing/2014/main" id="{340A060E-AD9D-BB4B-814B-C8D83A4F2ECC}"/>
              </a:ext>
            </a:extLst>
          </p:cNvPr>
          <p:cNvSpPr txBox="1"/>
          <p:nvPr/>
        </p:nvSpPr>
        <p:spPr>
          <a:xfrm>
            <a:off x="4064000" y="51054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les comptes nommés du prestataire</a:t>
            </a:r>
            <a:endParaRPr lang="en-FR" sz="1900">
              <a:solidFill>
                <a:srgbClr val="1A1A1A"/>
              </a:solidFill>
              <a:latin typeface="Segoe UI"/>
              <a:cs typeface="Segoe UI"/>
            </a:endParaRPr>
          </a:p>
        </p:txBody>
      </p:sp>
      <p:sp>
        <p:nvSpPr>
          <p:cNvPr id="32" name="TextBox 31">
            <a:extLst>
              <a:ext uri="{FF2B5EF4-FFF2-40B4-BE49-F238E27FC236}">
                <a16:creationId xmlns:a16="http://schemas.microsoft.com/office/drawing/2014/main" id="{C9A800A4-D524-9E47-BAA4-9DB97B384811}"/>
              </a:ext>
            </a:extLst>
          </p:cNvPr>
          <p:cNvSpPr txBox="1"/>
          <p:nvPr/>
        </p:nvSpPr>
        <p:spPr>
          <a:xfrm>
            <a:off x="914400" y="55626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juin 2027</a:t>
            </a:r>
            <a:endParaRPr lang="en-FR" sz="2100" b="1">
              <a:solidFill>
                <a:srgbClr val="1F4E79"/>
              </a:solidFill>
              <a:latin typeface="Segoe UI"/>
              <a:cs typeface="Segoe UI"/>
            </a:endParaRPr>
          </a:p>
        </p:txBody>
      </p:sp>
      <p:sp>
        <p:nvSpPr>
          <p:cNvPr id="33" name="TextBox 32">
            <a:extLst>
              <a:ext uri="{FF2B5EF4-FFF2-40B4-BE49-F238E27FC236}">
                <a16:creationId xmlns:a16="http://schemas.microsoft.com/office/drawing/2014/main" id="{1D7F9A87-3E50-8D42-9D68-AF7172CD88BC}"/>
              </a:ext>
            </a:extLst>
          </p:cNvPr>
          <p:cNvSpPr txBox="1"/>
          <p:nvPr/>
        </p:nvSpPr>
        <p:spPr>
          <a:xfrm>
            <a:off x="4064000" y="55880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la séparation des réseaux</a:t>
            </a:r>
            <a:endParaRPr lang="en-FR" sz="1900">
              <a:solidFill>
                <a:srgbClr val="1A1A1A"/>
              </a:solidFill>
              <a:latin typeface="Segoe UI"/>
              <a:cs typeface="Segoe UI"/>
            </a:endParaRPr>
          </a:p>
        </p:txBody>
      </p:sp>
    </p:spTree>
    <p:extLst>
      <p:ext uri="{BB962C8B-B14F-4D97-AF65-F5344CB8AC3E}">
        <p14:creationId xmlns:p14="http://schemas.microsoft.com/office/powerpoint/2010/main" val="2712406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1A">
            <a:alpha val="100000"/>
          </a:srgb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84B8736-84DF-1A43-B21E-A012B5059A4C}"/>
              </a:ext>
            </a:extLst>
          </p:cNvPr>
          <p:cNvSpPr/>
          <p:nvPr/>
        </p:nvSpPr>
        <p:spPr>
          <a:xfrm>
            <a:off x="0" y="0"/>
            <a:ext cx="12192000" cy="6858000"/>
          </a:xfrm>
          <a:prstGeom prst="rect">
            <a:avLst/>
          </a:prstGeom>
          <a:solidFill>
            <a:srgbClr val="1A1A1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 name="TextBox 2">
            <a:extLst>
              <a:ext uri="{FF2B5EF4-FFF2-40B4-BE49-F238E27FC236}">
                <a16:creationId xmlns:a16="http://schemas.microsoft.com/office/drawing/2014/main" id="{A4E2283F-BBA8-CA40-BEC5-B8A0C7C60526}"/>
              </a:ext>
            </a:extLst>
          </p:cNvPr>
          <p:cNvSpPr txBox="1"/>
          <p:nvPr/>
        </p:nvSpPr>
        <p:spPr>
          <a:xfrm>
            <a:off x="914400" y="3048000"/>
            <a:ext cx="10414000" cy="889000"/>
          </a:xfrm>
          <a:prstGeom prst="rect">
            <a:avLst/>
          </a:prstGeom>
          <a:noFill/>
        </p:spPr>
        <p:txBody>
          <a:bodyPr vertOverflow="overflow" vert="horz" wrap="none" rtlCol="0" anchor="t">
            <a:noAutofit/>
          </a:bodyPr>
          <a:lstStyle/>
          <a:p>
            <a:pPr algn="l"/>
            <a:r>
              <a:rPr lang="en-GB" sz="5400" b="1">
                <a:solidFill>
                  <a:srgbClr val="FFFFFF"/>
                </a:solidFill>
                <a:latin typeface="Segoe UI Semibold"/>
                <a:cs typeface="Segoe UI Semibold"/>
              </a:rPr>
              <a:t>ANNEXES</a:t>
            </a:r>
            <a:endParaRPr lang="en-FR" sz="5400" b="1">
              <a:solidFill>
                <a:srgbClr val="FFFFFF"/>
              </a:solidFill>
              <a:latin typeface="Segoe UI Semibold"/>
              <a:cs typeface="Segoe UI Semibold"/>
            </a:endParaRPr>
          </a:p>
        </p:txBody>
      </p:sp>
      <p:sp>
        <p:nvSpPr>
          <p:cNvPr id="4" name="TextBox 3">
            <a:extLst>
              <a:ext uri="{FF2B5EF4-FFF2-40B4-BE49-F238E27FC236}">
                <a16:creationId xmlns:a16="http://schemas.microsoft.com/office/drawing/2014/main" id="{99DBA1DC-7B36-354F-B136-7BCF9A2A8C32}"/>
              </a:ext>
            </a:extLst>
          </p:cNvPr>
          <p:cNvSpPr txBox="1"/>
          <p:nvPr/>
        </p:nvSpPr>
        <p:spPr>
          <a:xfrm>
            <a:off x="914400" y="3987800"/>
            <a:ext cx="10414000" cy="381000"/>
          </a:xfrm>
          <a:prstGeom prst="rect">
            <a:avLst/>
          </a:prstGeom>
          <a:noFill/>
        </p:spPr>
        <p:txBody>
          <a:bodyPr vertOverflow="overflow" vert="horz" wrap="square" rtlCol="0" anchor="t">
            <a:noAutofit/>
          </a:bodyPr>
          <a:lstStyle/>
          <a:p>
            <a:pPr algn="l"/>
            <a:r>
              <a:rPr lang="en-GB">
                <a:solidFill>
                  <a:srgbClr val="C7CDD4"/>
                </a:solidFill>
                <a:latin typeface="Segoe UI"/>
                <a:cs typeface="Segoe UI"/>
              </a:rPr>
              <a:t>hors décompte · appelées par leur numéro en réponse à une question</a:t>
            </a:r>
            <a:endParaRPr lang="en-FR">
              <a:solidFill>
                <a:srgbClr val="C7CDD4"/>
              </a:solidFill>
              <a:latin typeface="Segoe UI"/>
              <a:cs typeface="Segoe UI"/>
            </a:endParaRPr>
          </a:p>
        </p:txBody>
      </p:sp>
    </p:spTree>
    <p:extLst>
      <p:ext uri="{BB962C8B-B14F-4D97-AF65-F5344CB8AC3E}">
        <p14:creationId xmlns:p14="http://schemas.microsoft.com/office/powerpoint/2010/main" val="2204846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7B40D7-CB29-AA4C-9895-14A426FCEEB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A1 · Qui a porté quoi</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67475A23-9377-CF47-9386-4D2ACB48FFC7}"/>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11EC41F1-4168-5E49-9465-69789E77E0A3}"/>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 partage déclaré Miguel / Maxime, séance par séance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0EAE4D2B-1490-C648-994F-8AB72B5A58A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qui a fait quoi ? » — la question individuelle</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2AC06DFE-0B83-5A44-9164-0EA2E7E3E5D8}"/>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GB">
                <a:solidFill>
                  <a:srgbClr val="3C3C3C"/>
                </a:solidFill>
                <a:latin typeface="Segoe UI"/>
                <a:cs typeface="Segoe UI"/>
              </a:rPr>
              <a:t>À composer : le partage déclaré Miguel / Maxime, séance par séance
(source : SOUTENANCE-S10.md §6.2 — accord des deux orateurs requis)</a:t>
            </a:r>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77033973-DFBE-594E-A699-8E60D34C2DCA}"/>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SOUTENANCE-S10.md §6.2 — à reporter ici, accord des deux orateurs requis</a:t>
            </a:r>
            <a:endParaRPr lang="en-FR" sz="1600">
              <a:solidFill>
                <a:srgbClr val="3C3C3C"/>
              </a:solidFill>
              <a:latin typeface="Segoe UI"/>
              <a:cs typeface="Segoe UI"/>
            </a:endParaRPr>
          </a:p>
        </p:txBody>
      </p:sp>
    </p:spTree>
    <p:extLst>
      <p:ext uri="{BB962C8B-B14F-4D97-AF65-F5344CB8AC3E}">
        <p14:creationId xmlns:p14="http://schemas.microsoft.com/office/powerpoint/2010/main" val="18828351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DF6BDE3-314D-314D-8DDA-39D894383DAB}"/>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A2 · Les échelles et la matrice 4×4</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4B54C80A-FAAB-4545-B416-D3602502305D}"/>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810F86D4-9E57-A743-B77E-8E03B249AFF6}"/>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gravité, vraisemblance, seuil d'acceptation</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ED8449EE-D096-A54D-A649-9D04B4F707AA}"/>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d'où sortent vos niveaux de risque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D1F6CBF2-8905-BE4D-B316-0A59BC3F80E2}"/>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18308F41-BF9D-6146-8F5F-3B548E3C19B6}"/>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S5-06-matrice-4x4-niveaux-de-risque.jpg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CC095A77-3346-BE9D-F235-6CA48958EC41}"/>
              </a:ext>
            </a:extLst>
          </p:cNvPr>
          <p:cNvPicPr>
            <a:picLocks noChangeAspect="1"/>
          </p:cNvPicPr>
          <p:nvPr/>
        </p:nvPicPr>
        <p:blipFill>
          <a:blip r:embed="rId2"/>
          <a:srcRect l="14996" t="56374"/>
          <a:stretch>
            <a:fillRect/>
          </a:stretch>
        </p:blipFill>
        <p:spPr>
          <a:xfrm>
            <a:off x="2039821" y="2057400"/>
            <a:ext cx="7127336" cy="3632200"/>
          </a:xfrm>
          <a:prstGeom prst="rect">
            <a:avLst/>
          </a:prstGeom>
        </p:spPr>
      </p:pic>
    </p:spTree>
    <p:extLst>
      <p:ext uri="{BB962C8B-B14F-4D97-AF65-F5344CB8AC3E}">
        <p14:creationId xmlns:p14="http://schemas.microsoft.com/office/powerpoint/2010/main" val="741820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CC3F21-4FA1-1C48-8543-7EF48830264F}"/>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A3 · Les sept événements redoutés cotés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AABBD3A7-7F5A-2D44-8EF0-DDD9222246D9}"/>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D2096218-5321-F048-97BA-50011BBC8BDB}"/>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sept événements, leur cotation</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965A8FF5-E007-324E-89AD-0260841379D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vous n'avez regardé que trois scénarios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6CC40D26-8EB9-6C48-9245-CD849D662F64}"/>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72DC2B77-0F8A-5F4A-92CF-C6A76B21DFB9}"/>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S5-06-ER7-ajoute-7-evenements-redoutes.jpg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3E86A414-E521-F5C3-8D42-A488B8033A2E}"/>
              </a:ext>
            </a:extLst>
          </p:cNvPr>
          <p:cNvPicPr>
            <a:picLocks noChangeAspect="1"/>
          </p:cNvPicPr>
          <p:nvPr/>
        </p:nvPicPr>
        <p:blipFill>
          <a:blip r:embed="rId2"/>
          <a:stretch>
            <a:fillRect/>
          </a:stretch>
        </p:blipFill>
        <p:spPr>
          <a:xfrm>
            <a:off x="3050999" y="2057400"/>
            <a:ext cx="6140800" cy="3530600"/>
          </a:xfrm>
          <a:prstGeom prst="rect">
            <a:avLst/>
          </a:prstGeom>
        </p:spPr>
      </p:pic>
    </p:spTree>
    <p:extLst>
      <p:ext uri="{BB962C8B-B14F-4D97-AF65-F5344CB8AC3E}">
        <p14:creationId xmlns:p14="http://schemas.microsoft.com/office/powerpoint/2010/main" val="2197828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398AD5-9F68-374D-A9FD-A5636859C956}"/>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A4 · La carte de dangerosité de l'écosystème</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90EC8E70-A633-174B-97E4-AEE324139037}"/>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F6412F96-16EF-1049-B381-9D7EC9C415D9}"/>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quatre critères, les cinq cotations, le seuil</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72B03A1-1C4A-484D-8BF3-73938EBA3D29}"/>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comment cotez-vous un partenaire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98F7F5D8-F39C-AB4F-B66A-58EDAD48ECB9}"/>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BA978A84-3DDE-E94E-AA9D-0B3D3A8D7A56}"/>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S6-05-ex3-carte-dangerosite-classement.jpg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555C1FCF-7A69-6639-D52C-50B41B487927}"/>
              </a:ext>
            </a:extLst>
          </p:cNvPr>
          <p:cNvPicPr>
            <a:picLocks noChangeAspect="1"/>
          </p:cNvPicPr>
          <p:nvPr/>
        </p:nvPicPr>
        <p:blipFill>
          <a:blip r:embed="rId2"/>
          <a:stretch>
            <a:fillRect/>
          </a:stretch>
        </p:blipFill>
        <p:spPr>
          <a:xfrm>
            <a:off x="4978671" y="2057400"/>
            <a:ext cx="2285457" cy="3530600"/>
          </a:xfrm>
          <a:prstGeom prst="rect">
            <a:avLst/>
          </a:prstGeom>
        </p:spPr>
      </p:pic>
    </p:spTree>
    <p:extLst>
      <p:ext uri="{BB962C8B-B14F-4D97-AF65-F5344CB8AC3E}">
        <p14:creationId xmlns:p14="http://schemas.microsoft.com/office/powerpoint/2010/main" val="34326067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65382A2-1D90-D04C-8F37-1E826A6D29C0}"/>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A5 · Le registre à huit lignes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60F37956-BDD9-6441-B9F5-E9A2CC25F062}"/>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47906396-7282-9B47-9F44-5B51BEC202CA}"/>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actuel, résiduel, mesures, porteurs</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7E8C3B07-2DD7-B148-B9E4-991A7CC16DD3}"/>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montrez-moi le registre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3AEE2619-92DB-314D-8480-172E0614AC47}"/>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F8A03897-9D69-CC48-A486-BD319BB3C74E}"/>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S7-05-ex3-registre-genere.jpg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494D0F66-FD34-6E89-D1F4-D4E0677CBAFE}"/>
              </a:ext>
            </a:extLst>
          </p:cNvPr>
          <p:cNvPicPr>
            <a:picLocks noChangeAspect="1"/>
          </p:cNvPicPr>
          <p:nvPr/>
        </p:nvPicPr>
        <p:blipFill>
          <a:blip r:embed="rId2"/>
          <a:stretch>
            <a:fillRect/>
          </a:stretch>
        </p:blipFill>
        <p:spPr>
          <a:xfrm>
            <a:off x="3054243" y="2057400"/>
            <a:ext cx="6134312" cy="3530600"/>
          </a:xfrm>
          <a:prstGeom prst="rect">
            <a:avLst/>
          </a:prstGeom>
        </p:spPr>
      </p:pic>
    </p:spTree>
    <p:extLst>
      <p:ext uri="{BB962C8B-B14F-4D97-AF65-F5344CB8AC3E}">
        <p14:creationId xmlns:p14="http://schemas.microsoft.com/office/powerpoint/2010/main" val="27727400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956FF9-925E-E64E-B12F-258DD78B3BC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A6 · Les treize mesures avec leurs coûts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F99D6E63-CA76-9347-BEFD-FEA04977EF18}"/>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DAB65D56-134E-B947-BD17-CF45F028D6BA}"/>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build, run, amortissement, annuité, porteur, échéance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64BCF637-334A-E04F-92D6-235BA3026F2A}"/>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détaillez les 82 000 €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4832ED4B-40E8-7F45-BA42-B9AB1D731E4B}"/>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DE4C2C7D-86B7-6D49-B075-CA900AA2EFB0}"/>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D7 §1 · S7-06-mesures-appliquees-couts-build-run.jpg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ABE71CF5-5303-EB7A-146A-BC0830337154}"/>
              </a:ext>
            </a:extLst>
          </p:cNvPr>
          <p:cNvPicPr>
            <a:picLocks noChangeAspect="1"/>
          </p:cNvPicPr>
          <p:nvPr/>
        </p:nvPicPr>
        <p:blipFill>
          <a:blip r:embed="rId2"/>
          <a:stretch>
            <a:fillRect/>
          </a:stretch>
        </p:blipFill>
        <p:spPr>
          <a:xfrm>
            <a:off x="3206989" y="2057400"/>
            <a:ext cx="5828820" cy="3530600"/>
          </a:xfrm>
          <a:prstGeom prst="rect">
            <a:avLst/>
          </a:prstGeom>
        </p:spPr>
      </p:pic>
    </p:spTree>
    <p:extLst>
      <p:ext uri="{BB962C8B-B14F-4D97-AF65-F5344CB8AC3E}">
        <p14:creationId xmlns:p14="http://schemas.microsoft.com/office/powerpoint/2010/main" val="3646378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C3D44B-1A23-2A47-90D4-C0C5B3ED533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A7 · La déclaration d'applicabilité</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A051D486-9DF3-3448-877E-3A7B80B89A70}"/>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EF6B425-3575-F94F-80BE-35B6DA540168}"/>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15 contrôles, taux de couverture, l'exclusion et son motif</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BFE350C-6C9E-0941-8C1C-540AAF47F7B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pourquoi si peu de contrôles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76CACA1E-95CA-5645-B16C-35A7953E7270}"/>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805E6B5D-DFDB-DC4C-A549-5E3E7FBFF7AE}"/>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Source : S8-05-annexe-A-declaration-applicabilite-15-controles.jpg  (+ exclusion A.8.28 justifiée)</a:t>
            </a:r>
            <a:endParaRPr lang="en-FR" sz="1500">
              <a:solidFill>
                <a:srgbClr val="3C3C3C"/>
              </a:solidFill>
              <a:latin typeface="Segoe UI"/>
              <a:cs typeface="Segoe UI"/>
            </a:endParaRPr>
          </a:p>
        </p:txBody>
      </p:sp>
      <p:pic>
        <p:nvPicPr>
          <p:cNvPr id="8" name="Picture 7">
            <a:extLst>
              <a:ext uri="{FF2B5EF4-FFF2-40B4-BE49-F238E27FC236}">
                <a16:creationId xmlns:a16="http://schemas.microsoft.com/office/drawing/2014/main" id="{1F2EC07A-756A-BCBE-4564-FA96F4F90984}"/>
              </a:ext>
            </a:extLst>
          </p:cNvPr>
          <p:cNvPicPr>
            <a:picLocks noChangeAspect="1"/>
          </p:cNvPicPr>
          <p:nvPr/>
        </p:nvPicPr>
        <p:blipFill>
          <a:blip r:embed="rId2"/>
          <a:stretch>
            <a:fillRect/>
          </a:stretch>
        </p:blipFill>
        <p:spPr>
          <a:xfrm>
            <a:off x="2759110" y="2057400"/>
            <a:ext cx="6724579" cy="3530600"/>
          </a:xfrm>
          <a:prstGeom prst="rect">
            <a:avLst/>
          </a:prstGeom>
        </p:spPr>
      </p:pic>
    </p:spTree>
    <p:extLst>
      <p:ext uri="{BB962C8B-B14F-4D97-AF65-F5344CB8AC3E}">
        <p14:creationId xmlns:p14="http://schemas.microsoft.com/office/powerpoint/2010/main" val="553519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6F2CC0-AE6E-4041-A30B-019EA3F5061C}"/>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A8 · Le tableau de bord d'indicateurs, daté</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7D3853DD-2DE2-4440-AD93-FB02E2D865CE}"/>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326B5AC4-24AE-2646-9032-0EB3D5B18B29}"/>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indicateurs, leur rythme, leur propriétaire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CD218896-9FD3-E544-8562-1D9208BD1B9F}"/>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comment saurez-vous que ça marche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9A35C6AE-3E11-1A46-B4D5-6444F2B2BB20}"/>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GB">
                <a:solidFill>
                  <a:srgbClr val="3C3C3C"/>
                </a:solidFill>
                <a:latin typeface="Segoe UI"/>
                <a:cs typeface="Segoe UI"/>
              </a:rPr>
              <a:t>À produire en séance 9 : capture datée du tableau de bord d'indicateurs
(exigée par le TP 2)</a:t>
            </a:r>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9BB9F6F2-F918-BC40-8354-5C6699AD92D4}"/>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à produire en séance 9 — capture datée exigée par le TP 2</a:t>
            </a:r>
            <a:endParaRPr lang="en-FR" sz="1600">
              <a:solidFill>
                <a:srgbClr val="3C3C3C"/>
              </a:solidFill>
              <a:latin typeface="Segoe UI"/>
              <a:cs typeface="Segoe UI"/>
            </a:endParaRPr>
          </a:p>
        </p:txBody>
      </p:sp>
    </p:spTree>
    <p:extLst>
      <p:ext uri="{BB962C8B-B14F-4D97-AF65-F5344CB8AC3E}">
        <p14:creationId xmlns:p14="http://schemas.microsoft.com/office/powerpoint/2010/main" val="1084919962"/>
      </p:ext>
    </p:extLst>
  </p:cSld>
  <p:clrMapOvr>
    <a:masterClrMapping/>
  </p:clrMapOvr>
</p:sld>
</file>

<file path=ppt/theme/theme1.xml><?xml version="1.0" encoding="utf-8"?>
<a:theme xmlns:a="http://schemas.openxmlformats.org/drawingml/2006/main" name="Office Theme [1789545212958]">
  <a:themeElements>
    <a:clrScheme name="Office">
      <a:dk1>
        <a:srgbClr val="1A1A1A"/>
      </a:dk1>
      <a:lt1>
        <a:srgbClr val="FFFFFF"/>
      </a:lt1>
      <a:dk2>
        <a:srgbClr val="3C3C3C"/>
      </a:dk2>
      <a:lt2>
        <a:srgbClr val="F2F3F5"/>
      </a:lt2>
      <a:accent1>
        <a:srgbClr val="1F4E79"/>
      </a:accent1>
      <a:accent2>
        <a:srgbClr val="4A6E8A"/>
      </a:accent2>
      <a:accent3>
        <a:srgbClr val="8A8F98"/>
      </a:accent3>
      <a:accent4>
        <a:srgbClr val="C7CDD4"/>
      </a:accent4>
      <a:accent5>
        <a:srgbClr val="E8EBEF"/>
      </a:accent5>
      <a:accent6>
        <a:srgbClr val="B03A2E"/>
      </a:accent6>
      <a:hlink>
        <a:srgbClr val="467886"/>
      </a:hlink>
      <a:folHlink>
        <a:srgbClr val="96607D"/>
      </a:folHlink>
    </a:clrScheme>
    <a:fontScheme name="Office">
      <a:majorFont>
        <a:latin typeface="Segoe UI Semibold"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DD6A44B-D228-9F42-80A8-F6C01C258E5D}">
  <we:reference id="wa200010725" version="1.0.0.1" store="en-US" storeType="OMEX"/>
  <we:alternateReferences>
    <we:reference id="wa200010725" version="1.0.0.1" store="en-US" storeType="OMEX"/>
  </we:alternateReferences>
  <we:properties>
    <we:property name="claude.fileId" value="&quot;c9957092-3692-40a8-91f8-6bf1a8da854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529</TotalTime>
  <Words>5254</Words>
  <Application>Microsoft Macintosh PowerPoint</Application>
  <PresentationFormat>Widescreen</PresentationFormat>
  <Paragraphs>373</Paragraphs>
  <Slides>24</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Aptos</vt:lpstr>
      <vt:lpstr>Arial</vt:lpstr>
      <vt:lpstr>Segoe UI</vt:lpstr>
      <vt:lpstr>Segoe UI Semibold</vt:lpstr>
      <vt:lpstr>Office Theme [1789545212958]</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MONEREO DE LA SOTA Miguel</dc:creator>
  <cp:lastModifiedBy>MONEREO DE LA SOTA Miguel</cp:lastModifiedBy>
  <cp:revision>11</cp:revision>
  <dcterms:created xsi:type="dcterms:W3CDTF">2026-09-16T07:18:19Z</dcterms:created>
  <dcterms:modified xsi:type="dcterms:W3CDTF">2026-09-16T16:08:06Z</dcterms:modified>
</cp:coreProperties>
</file>