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85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84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46"/>
    <p:restoredTop sz="94640"/>
  </p:normalViewPr>
  <p:slideViewPr>
    <p:cSldViewPr snapToGrid="0">
      <p:cViewPr>
        <p:scale>
          <a:sx n="129" d="100"/>
          <a:sy n="129" d="100"/>
        </p:scale>
        <p:origin x="896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Faible</c:v>
          </c:tx>
          <c:spPr>
            <a:solidFill>
              <a:srgbClr val="C7CDD4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>
                    <a:solidFill>
                      <a:srgbClr val="1A1A1A"/>
                    </a:solidFill>
                    <a:latin typeface="Segoe U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AVANT traitement</c:v>
              </c:pt>
              <c:pt idx="1">
                <c:v>APRÈS traitement</c:v>
              </c:pt>
            </c:strLit>
          </c:cat>
          <c:val>
            <c:numLit>
              <c:formatCode>General</c:formatCode>
              <c:ptCount val="2"/>
              <c:pt idx="0">
                <c:v>2</c:v>
              </c:pt>
              <c:pt idx="1">
                <c:v>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B4C-FE40-98B2-CCC9CE8FC298}"/>
            </c:ext>
          </c:extLst>
        </c:ser>
        <c:ser>
          <c:idx val="1"/>
          <c:order val="1"/>
          <c:tx>
            <c:v>Moyen</c:v>
          </c:tx>
          <c:spPr>
            <a:solidFill>
              <a:srgbClr val="8A8F98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>
                    <a:solidFill>
                      <a:srgbClr val="1A1A1A"/>
                    </a:solidFill>
                    <a:latin typeface="Segoe U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AVANT traitement</c:v>
              </c:pt>
              <c:pt idx="1">
                <c:v>APRÈS traitement</c:v>
              </c:pt>
            </c:strLit>
          </c:cat>
          <c:val>
            <c:numLit>
              <c:formatCode>General</c:formatCode>
              <c:ptCount val="2"/>
              <c:pt idx="0">
                <c:v>0</c:v>
              </c:pt>
              <c:pt idx="1">
                <c:v>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B4C-FE40-98B2-CCC9CE8FC298}"/>
            </c:ext>
          </c:extLst>
        </c:ser>
        <c:ser>
          <c:idx val="2"/>
          <c:order val="2"/>
          <c:tx>
            <c:v>Élevé</c:v>
          </c:tx>
          <c:spPr>
            <a:solidFill>
              <a:srgbClr val="4A6E8A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>
                    <a:solidFill>
                      <a:srgbClr val="FFFFFF"/>
                    </a:solidFill>
                    <a:latin typeface="Segoe U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AVANT traitement</c:v>
              </c:pt>
              <c:pt idx="1">
                <c:v>APRÈS traitement</c:v>
              </c:pt>
            </c:strLit>
          </c:cat>
          <c:val>
            <c:numLit>
              <c:formatCode>General</c:formatCode>
              <c:ptCount val="2"/>
              <c:pt idx="0">
                <c:v>3</c:v>
              </c:pt>
              <c:pt idx="1">
                <c:v>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B4C-FE40-98B2-CCC9CE8FC298}"/>
            </c:ext>
          </c:extLst>
        </c:ser>
        <c:ser>
          <c:idx val="3"/>
          <c:order val="3"/>
          <c:tx>
            <c:v>Critique</c:v>
          </c:tx>
          <c:spPr>
            <a:solidFill>
              <a:srgbClr val="1F4E79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>
                    <a:solidFill>
                      <a:srgbClr val="FFFFFF"/>
                    </a:solidFill>
                    <a:latin typeface="Segoe U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AVANT traitement</c:v>
              </c:pt>
              <c:pt idx="1">
                <c:v>APRÈS traitement</c:v>
              </c:pt>
            </c:strLit>
          </c:cat>
          <c:val>
            <c:numLit>
              <c:formatCode>General</c:formatCode>
              <c:ptCount val="2"/>
              <c:pt idx="0">
                <c:v>3</c:v>
              </c:pt>
              <c:pt idx="1">
                <c:v>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EB4C-FE40-98B2-CCC9CE8FC298}"/>
            </c:ext>
          </c:extLst>
        </c:ser>
        <c:ser>
          <c:idx val="4"/>
          <c:order val="4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#,##0&quot; scénario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595959"/>
                    </a:solidFill>
                    <a:latin typeface="Segoe UI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AVANT traitement</c:v>
              </c:pt>
              <c:pt idx="1">
                <c:v>APRÈS traitement</c:v>
              </c:pt>
            </c:strLit>
          </c:cat>
          <c:val>
            <c:numLit>
              <c:formatCode>General</c:formatCode>
              <c:ptCount val="2"/>
              <c:pt idx="0">
                <c:v>8</c:v>
              </c:pt>
              <c:pt idx="1">
                <c:v>8</c:v>
              </c:pt>
            </c:numLit>
          </c:val>
          <c:extLst>
            <c:ext xmlns:c16="http://schemas.microsoft.com/office/drawing/2014/chart" uri="{C3380CC4-5D6E-409C-BE32-E72D297353CC}">
              <c16:uniqueId val="{00000004-EB4C-FE40-98B2-CCC9CE8FC2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1A1A1A"/>
                </a:solidFill>
                <a:latin typeface="Segoe U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b"/>
      <c:legendEntry>
        <c:idx val="4"/>
        <c:delete val="1"/>
      </c:legendEntry>
      <c:overlay val="0"/>
      <c:txPr>
        <a:bodyPr rot="0" vert="horz"/>
        <a:lstStyle/>
        <a:p>
          <a:pPr>
            <a:defRPr sz="1400" b="0">
              <a:solidFill>
                <a:srgbClr val="3C3C3C"/>
              </a:solidFill>
              <a:latin typeface="Segoe UI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9AB78-7310-7AAB-252E-5B6482A2E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A92E5-0455-4D87-EFCD-9E38EAAC0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C68F4-1555-2496-08EF-5ABA54B27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59C4-E7D0-094E-8E6D-986DD0EF0E73}" type="datetimeFigureOut">
              <a:rPr lang="en-FR" smtClean="0"/>
              <a:t>16/09/2026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3A5DB-964A-2FEF-A717-126A9CE56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AB569-6B6B-59E7-98ED-3765A8351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E44D-83FF-EF4F-908A-14F66C54EE0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62113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EFDF5-87EE-DE84-D838-04DA8FCF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58D06-CF27-56C9-8362-2B4CDB457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F277B-746B-729A-2EFA-95928AF07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59C4-E7D0-094E-8E6D-986DD0EF0E73}" type="datetimeFigureOut">
              <a:rPr lang="en-FR" smtClean="0"/>
              <a:t>16/09/2026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8BED5-9979-4C61-769E-C058FA038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2CB84-6410-010A-3F30-DF3726D15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E44D-83FF-EF4F-908A-14F66C54EE0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83504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BF02A-4E8A-1CED-ADB0-AA2DA2749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61E22-8ACB-8992-ED9D-52E0A9519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5DFC4-4A32-B923-6346-719F47CE6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59C4-E7D0-094E-8E6D-986DD0EF0E73}" type="datetimeFigureOut">
              <a:rPr lang="en-FR" smtClean="0"/>
              <a:t>16/09/2026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CB2C9-714E-EB06-75F1-2CE01D6EC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EBB84-5B4C-F447-9444-F185EB764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E44D-83FF-EF4F-908A-14F66C54EE0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10287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3DBB7-CCFD-C39E-1E10-38A84FEC4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E08E1-2573-5EC1-B9AE-7F315CE81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6E3B1-D9E1-55F8-DD52-274EB48CE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5F60D-966A-D454-77EA-40FCC638D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59C4-E7D0-094E-8E6D-986DD0EF0E73}" type="datetimeFigureOut">
              <a:rPr lang="en-FR" smtClean="0"/>
              <a:t>16/09/2026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E5FFA-82CC-3FDD-D3AC-CFCE2E43E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28F34-68BC-F0BF-F218-BA25D4CB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E44D-83FF-EF4F-908A-14F66C54EE0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69026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DEE5-803D-CE03-8C54-FD1FDA373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D6737-A374-D037-6E65-468690505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E4511-8C58-EC83-4CBF-D994108B5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AF0717-526E-D3EB-D143-ED2A5BAAB0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3CA8C3-0127-7EC4-A5C0-E1E85E5611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92F31C-E7AC-74A6-EAE0-A141991B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59C4-E7D0-094E-8E6D-986DD0EF0E73}" type="datetimeFigureOut">
              <a:rPr lang="en-FR" smtClean="0"/>
              <a:t>16/09/2026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1799D-BA3F-9E2F-09DB-89B101375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4C6EA4-C0BA-A377-B7F9-AEC34502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E44D-83FF-EF4F-908A-14F66C54EE0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75307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8A990-C36B-2995-447F-8C37D19DB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5AA70-83DB-43FA-BCB2-D2537B328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59C4-E7D0-094E-8E6D-986DD0EF0E73}" type="datetimeFigureOut">
              <a:rPr lang="en-FR" smtClean="0"/>
              <a:t>16/09/2026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8A7386-A9B6-822F-5C44-82B432028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367D0-8ECD-B251-294D-14726B4A3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E44D-83FF-EF4F-908A-14F66C54EE0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72206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BD0C68-D28E-F47C-482E-C0BF049F4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59C4-E7D0-094E-8E6D-986DD0EF0E73}" type="datetimeFigureOut">
              <a:rPr lang="en-FR" smtClean="0"/>
              <a:t>16/09/2026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A1035C-53C9-E5C5-9F19-A4C83FB1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F7A41-BFFD-EAA4-2685-6D889C5E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E44D-83FF-EF4F-908A-14F66C54EE0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22784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67435-8FAF-47A6-4899-9BA106963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54345-FA01-6E9A-5259-BB8351634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268A8C-277E-C5F1-0331-5EC204BD2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73742-DAF2-879E-C7FA-32144B6E3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59C4-E7D0-094E-8E6D-986DD0EF0E73}" type="datetimeFigureOut">
              <a:rPr lang="en-FR" smtClean="0"/>
              <a:t>16/09/2026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87C7A-9B4E-0D0B-B2C6-F55392841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87803-03A6-B898-CC7B-97A58E590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E44D-83FF-EF4F-908A-14F66C54EE0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45388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6C35D-4F88-1F4B-AA11-DCF7C38A7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308701-BFA4-D65B-77D5-EEF1A1072C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C6EF2-C63A-EBDE-0678-9A85E1E9C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2DFC8-E77F-F955-3BF7-0A9CB5666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59C4-E7D0-094E-8E6D-986DD0EF0E73}" type="datetimeFigureOut">
              <a:rPr lang="en-FR" smtClean="0"/>
              <a:t>16/09/2026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3136E-6C03-AC6B-6BBE-D0F3CC1C6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D5099-73AC-6BF2-609B-683CC8EBB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E44D-83FF-EF4F-908A-14F66C54EE0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0736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A202A-345D-1BFE-4497-EBCB2F3A4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595C0-AD3F-D5BB-21DC-03E648A6A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9BEEF-AA4C-758D-FC86-1D2A18B1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59C4-E7D0-094E-8E6D-986DD0EF0E73}" type="datetimeFigureOut">
              <a:rPr lang="en-FR" smtClean="0"/>
              <a:t>16/09/2026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BCED4-464F-D407-2DC8-47FAC2702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4A66A-DB87-D822-CC6F-288ED06C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E44D-83FF-EF4F-908A-14F66C54EE0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42352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7477B3-C62A-5680-C71D-7DEBCD655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3EA70-9DB7-EBE4-347A-E71366EE2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3F3C1-BB52-4F27-8909-618EB794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59C4-E7D0-094E-8E6D-986DD0EF0E73}" type="datetimeFigureOut">
              <a:rPr lang="en-FR" smtClean="0"/>
              <a:t>16/09/2026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17870-11BF-5764-CD65-49F7CF37D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6032D-237A-0149-1D81-3FC1365F3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E44D-83FF-EF4F-908A-14F66C54EE0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64162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876F37-C339-1CC5-B72C-294015B1F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280D8-B2DC-F51B-748D-C299EDC71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7A7E4-6D39-2E6E-68F2-1D3DD14DC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559C4-E7D0-094E-8E6D-986DD0EF0E73}" type="datetimeFigureOut">
              <a:rPr lang="en-FR" smtClean="0"/>
              <a:t>16/09/2026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E39F-FC6E-1745-1E97-A9E19BE16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04E9D-B79A-5A8F-C87E-E45828547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4EE44D-83FF-EF4F-908A-14F66C54EE08}" type="slidenum">
              <a:rPr lang="en-FR" smtClean="0"/>
              <a:t>‹#›</a:t>
            </a:fld>
            <a:endParaRPr lang="en-FR"/>
          </a:p>
        </p:txBody>
      </p:sp>
      <p:sp>
        <p:nvSpPr>
          <p:cNvPr id="90" name="FooterRule"/>
          <p:cNvSpPr/>
          <p:nvPr/>
        </p:nvSpPr>
        <p:spPr>
          <a:xfrm>
            <a:off x="914400" y="6400800"/>
            <a:ext cx="10414000" cy="9525"/>
          </a:xfrm>
          <a:prstGeom prst="rect">
            <a:avLst/>
          </a:prstGeom>
          <a:solidFill>
            <a:srgbClr val="C7CD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FooterText"/>
          <p:cNvSpPr txBox="1"/>
          <p:nvPr/>
        </p:nvSpPr>
        <p:spPr>
          <a:xfrm>
            <a:off x="914400" y="6438900"/>
            <a:ext cx="700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fr-FR" sz="900" dirty="0">
                <a:solidFill>
                  <a:srgbClr val="8A8F98"/>
                </a:solidFill>
              </a:rPr>
              <a:t>MERIDIAN Logistique · soutenance ISMS</a:t>
            </a:r>
          </a:p>
        </p:txBody>
      </p:sp>
      <p:sp>
        <p:nvSpPr>
          <p:cNvPr id="92" name="FooterNum"/>
          <p:cNvSpPr txBox="1"/>
          <p:nvPr/>
        </p:nvSpPr>
        <p:spPr>
          <a:xfrm>
            <a:off x="10036400" y="6438900"/>
            <a:ext cx="1292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fld id="{B7B2E1A0-1C2D-4E3F-9A11-000000000001}" type="slidenum">
              <a:rPr lang="fr-FR" sz="900" b="1" dirty="0">
                <a:solidFill>
                  <a:srgbClr val="1F4E79"/>
                </a:solidFill>
              </a:rPr>
              <a:t>‹#›</a:t>
            </a:fld>
            <a:endParaRPr lang="fr-FR" sz="900" b="1" dirty="0">
              <a:solidFill>
                <a:srgbClr val="1F4E7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789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4E7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1A1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EA71F7-639A-2945-8210-53424F08862A}"/>
              </a:ext>
            </a:extLst>
          </p:cNvPr>
          <p:cNvSpPr/>
          <p:nvPr/>
        </p:nvSpPr>
        <p:spPr>
          <a:xfrm>
            <a:off x="914400" y="2540000"/>
            <a:ext cx="1524000" cy="508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AA1128-BCC3-5E48-BDA8-1707A3A5606B}"/>
              </a:ext>
            </a:extLst>
          </p:cNvPr>
          <p:cNvSpPr txBox="1"/>
          <p:nvPr/>
        </p:nvSpPr>
        <p:spPr>
          <a:xfrm>
            <a:off x="914400" y="2921000"/>
            <a:ext cx="10414000" cy="863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5400" b="1">
                <a:solidFill>
                  <a:srgbClr val="1F4E79"/>
                </a:solidFill>
                <a:latin typeface="Segoe UI Semibold"/>
                <a:cs typeface="Segoe UI Semibold"/>
              </a:rPr>
              <a:t>MERIDIAN LOGISTIQUE</a:t>
            </a:r>
            <a:endParaRPr lang="en-FR" sz="5400" b="1">
              <a:solidFill>
                <a:srgbClr val="1F4E79"/>
              </a:solidFill>
              <a:latin typeface="Segoe UI Semibold"/>
              <a:cs typeface="Segoe UI Semi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B88F70-71DA-954B-AD46-13D8625ECF76}"/>
              </a:ext>
            </a:extLst>
          </p:cNvPr>
          <p:cNvSpPr txBox="1"/>
          <p:nvPr/>
        </p:nvSpPr>
        <p:spPr>
          <a:xfrm>
            <a:off x="914400" y="3810000"/>
            <a:ext cx="10414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400">
                <a:solidFill>
                  <a:srgbClr val="3C3C3C"/>
                </a:solidFill>
                <a:latin typeface="Segoe UI"/>
                <a:cs typeface="Segoe UI"/>
              </a:rPr>
              <a:t>Stratégie de sécurité de l'information — présentation au Comité Exécutif</a:t>
            </a:r>
            <a:endParaRPr lang="en-FR" sz="24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4BDD7-71D5-8A46-98FB-536D8A6C1DBD}"/>
              </a:ext>
            </a:extLst>
          </p:cNvPr>
          <p:cNvSpPr txBox="1"/>
          <p:nvPr/>
        </p:nvSpPr>
        <p:spPr>
          <a:xfrm>
            <a:off x="914400" y="4927600"/>
            <a:ext cx="1041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>
                <a:solidFill>
                  <a:srgbClr val="8A8F98"/>
                </a:solidFill>
                <a:latin typeface="Segoe UI"/>
                <a:cs typeface="Segoe UI"/>
              </a:rPr>
              <a:t>Miguel Monereo · Maxime
Groupe 4 « Translog » · 17 septembre 2026</a:t>
            </a:r>
            <a:endParaRPr lang="en-FR" sz="2000">
              <a:solidFill>
                <a:srgbClr val="8A8F98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83031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30EDE3-F1F3-DD4F-926D-9F499269B354}"/>
              </a:ext>
            </a:extLst>
          </p:cNvPr>
          <p:cNvSpPr/>
          <p:nvPr/>
        </p:nvSpPr>
        <p:spPr>
          <a:xfrm>
            <a:off x="711200" y="4800600"/>
            <a:ext cx="10617200" cy="838200"/>
          </a:xfrm>
          <a:prstGeom prst="rect">
            <a:avLst/>
          </a:prstGeom>
          <a:solidFill>
            <a:srgbClr val="E8EB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57E7BA-2E48-D34A-8DE3-E662CE3FF915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200" b="1">
                <a:solidFill>
                  <a:srgbClr val="1F4E79"/>
                </a:solidFill>
                <a:latin typeface="Segoe UI Semibold"/>
                <a:cs typeface="Segoe UI Semibold"/>
              </a:rPr>
              <a:t>Le message en une minute</a:t>
            </a:r>
            <a:endParaRPr lang="en-FR" sz="3200" b="1">
              <a:solidFill>
                <a:srgbClr val="1F4E79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2F070E-061D-8345-9D67-FAFD2B3BFA5F}"/>
              </a:ext>
            </a:extLst>
          </p:cNvPr>
          <p:cNvSpPr/>
          <p:nvPr/>
        </p:nvSpPr>
        <p:spPr>
          <a:xfrm>
            <a:off x="914400" y="11938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A73DF4-0BB9-9C43-B75C-E41AA8292036}"/>
              </a:ext>
            </a:extLst>
          </p:cNvPr>
          <p:cNvSpPr txBox="1"/>
          <p:nvPr/>
        </p:nvSpPr>
        <p:spPr>
          <a:xfrm>
            <a:off x="914400" y="1778000"/>
            <a:ext cx="3683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4000" b="1">
                <a:solidFill>
                  <a:srgbClr val="1F4E79"/>
                </a:solidFill>
                <a:latin typeface="Segoe UI Semibold"/>
                <a:cs typeface="Segoe UI Semibold"/>
              </a:rPr>
              <a:t>40 %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9E1D01-10C6-6042-B630-8B1360F92191}"/>
              </a:ext>
            </a:extLst>
          </p:cNvPr>
          <p:cNvSpPr txBox="1"/>
          <p:nvPr/>
        </p:nvSpPr>
        <p:spPr>
          <a:xfrm>
            <a:off x="4953000" y="1879600"/>
            <a:ext cx="63754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>
                <a:solidFill>
                  <a:srgbClr val="1A1A1A"/>
                </a:solidFill>
                <a:latin typeface="Segoe UI"/>
                <a:cs typeface="Segoe UI"/>
              </a:rPr>
              <a:t>du volume expédié du groupe passe par un seul système, sur un seul site,
dont la restauration n'a jamais été testée</a:t>
            </a:r>
            <a:endParaRPr lang="en-FR" sz="20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AD9C62-2BB0-404A-8080-B8D47AB09D34}"/>
              </a:ext>
            </a:extLst>
          </p:cNvPr>
          <p:cNvSpPr txBox="1"/>
          <p:nvPr/>
        </p:nvSpPr>
        <p:spPr>
          <a:xfrm>
            <a:off x="914400" y="2819400"/>
            <a:ext cx="3683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4000" b="1">
                <a:solidFill>
                  <a:srgbClr val="1F4E79"/>
                </a:solidFill>
                <a:latin typeface="Segoe UI Semibold"/>
                <a:cs typeface="Segoe UI Semibold"/>
              </a:rPr>
              <a:t>12 000 €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DD367F-74BF-3D41-995F-189539B97FDD}"/>
              </a:ext>
            </a:extLst>
          </p:cNvPr>
          <p:cNvSpPr txBox="1"/>
          <p:nvPr/>
        </p:nvSpPr>
        <p:spPr>
          <a:xfrm>
            <a:off x="4953000" y="2921000"/>
            <a:ext cx="63754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>
                <a:solidFill>
                  <a:srgbClr val="1A1A1A"/>
                </a:solidFill>
                <a:latin typeface="Segoe UI"/>
                <a:cs typeface="Segoe UI"/>
              </a:rPr>
              <a:t>par jour d'arrêt — pénalités contractuelles, notre propre contrat</a:t>
            </a:r>
            <a:endParaRPr lang="en-FR" sz="20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305F83-0EE3-C941-AAD4-110BD4E58067}"/>
              </a:ext>
            </a:extLst>
          </p:cNvPr>
          <p:cNvSpPr txBox="1"/>
          <p:nvPr/>
        </p:nvSpPr>
        <p:spPr>
          <a:xfrm>
            <a:off x="914400" y="3860800"/>
            <a:ext cx="3683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4000" b="1">
                <a:solidFill>
                  <a:srgbClr val="1F4E79"/>
                </a:solidFill>
                <a:latin typeface="Segoe UI Semibold"/>
                <a:cs typeface="Segoe UI Semibold"/>
              </a:rPr>
              <a:t>250–300 M$</a:t>
            </a:r>
            <a:endParaRPr lang="en-FR" sz="4000" b="1">
              <a:solidFill>
                <a:srgbClr val="1F4E79"/>
              </a:solidFill>
              <a:latin typeface="Segoe UI Semibold"/>
              <a:cs typeface="Segoe UI Semi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53045B-041A-2D41-8397-EC5702FE6F0C}"/>
              </a:ext>
            </a:extLst>
          </p:cNvPr>
          <p:cNvSpPr txBox="1"/>
          <p:nvPr/>
        </p:nvSpPr>
        <p:spPr>
          <a:xfrm>
            <a:off x="4953000" y="3962400"/>
            <a:ext cx="63754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>
                <a:solidFill>
                  <a:srgbClr val="1A1A1A"/>
                </a:solidFill>
                <a:latin typeface="Segoe UI"/>
                <a:cs typeface="Segoe UI"/>
              </a:rPr>
              <a:t>ce que la même situation a coûté à un transporteur européen en 2017</a:t>
            </a:r>
            <a:endParaRPr lang="en-FR" sz="20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6C64FF-196A-8D45-8DA4-591393691181}"/>
              </a:ext>
            </a:extLst>
          </p:cNvPr>
          <p:cNvSpPr txBox="1"/>
          <p:nvPr/>
        </p:nvSpPr>
        <p:spPr>
          <a:xfrm>
            <a:off x="914400" y="4902200"/>
            <a:ext cx="3683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4000" b="1">
                <a:solidFill>
                  <a:srgbClr val="1F4E79"/>
                </a:solidFill>
                <a:latin typeface="Segoe UI Semibold"/>
                <a:cs typeface="Segoe UI Semibold"/>
              </a:rPr>
              <a:t>82 000 €/an</a:t>
            </a:r>
            <a:endParaRPr lang="en-FR" sz="4000" b="1">
              <a:solidFill>
                <a:srgbClr val="1F4E79"/>
              </a:solidFill>
              <a:latin typeface="Segoe UI Semibold"/>
              <a:cs typeface="Segoe UI Semi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99FC1C-916A-4D45-9433-C5998D7A9C43}"/>
              </a:ext>
            </a:extLst>
          </p:cNvPr>
          <p:cNvSpPr txBox="1"/>
          <p:nvPr/>
        </p:nvSpPr>
        <p:spPr>
          <a:xfrm>
            <a:off x="4953000" y="5003800"/>
            <a:ext cx="63754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>
                <a:solidFill>
                  <a:srgbClr val="1A1A1A"/>
                </a:solidFill>
                <a:latin typeface="Segoe UI"/>
                <a:cs typeface="Segoe UI"/>
              </a:rPr>
              <a:t>ce que nous venons vous demander</a:t>
            </a:r>
            <a:endParaRPr lang="en-FR" sz="2000">
              <a:solidFill>
                <a:srgbClr val="1A1A1A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147317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844C66D-EB2B-504E-943A-9F072B1D5790}"/>
              </a:ext>
            </a:extLst>
          </p:cNvPr>
          <p:cNvSpPr/>
          <p:nvPr/>
        </p:nvSpPr>
        <p:spPr>
          <a:xfrm>
            <a:off x="914400" y="3200400"/>
            <a:ext cx="10414000" cy="533400"/>
          </a:xfrm>
          <a:prstGeom prst="rect">
            <a:avLst/>
          </a:prstGeom>
          <a:solidFill>
            <a:srgbClr val="E8EB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389341-958A-ED43-9357-423B17125D7C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200" b="1">
                <a:solidFill>
                  <a:srgbClr val="1F4E79"/>
                </a:solidFill>
                <a:latin typeface="Segoe UI Semibold"/>
                <a:cs typeface="Segoe UI Semibold"/>
              </a:rPr>
              <a:t>Ce que nous protégeons — les cinq actifs critiques</a:t>
            </a:r>
            <a:endParaRPr lang="en-FR" sz="3200" b="1">
              <a:solidFill>
                <a:srgbClr val="1F4E79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58806D-BEB6-C549-85D8-0ECAAA69D474}"/>
              </a:ext>
            </a:extLst>
          </p:cNvPr>
          <p:cNvSpPr/>
          <p:nvPr/>
        </p:nvSpPr>
        <p:spPr>
          <a:xfrm>
            <a:off x="914400" y="11938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0493E5-E34E-B448-AF84-DB9DCC622566}"/>
              </a:ext>
            </a:extLst>
          </p:cNvPr>
          <p:cNvSpPr txBox="1"/>
          <p:nvPr/>
        </p:nvSpPr>
        <p:spPr>
          <a:xfrm>
            <a:off x="914400" y="13462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8A8F98"/>
                </a:solidFill>
                <a:latin typeface="Segoe UI"/>
                <a:cs typeface="Segoe UI"/>
              </a:rPr>
              <a:t>Quatre activités, treize supports, cinq actifs critiques — classés sur un critère écrit AVANT le classement</a:t>
            </a:r>
            <a:endParaRPr lang="en-FR">
              <a:solidFill>
                <a:srgbClr val="8A8F98"/>
              </a:solidFill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11260E-FCD9-8B44-B8BC-428ED9313094}"/>
              </a:ext>
            </a:extLst>
          </p:cNvPr>
          <p:cNvSpPr txBox="1"/>
          <p:nvPr/>
        </p:nvSpPr>
        <p:spPr>
          <a:xfrm>
            <a:off x="914400" y="1905000"/>
            <a:ext cx="304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2000" b="1">
                <a:solidFill>
                  <a:srgbClr val="1F4E79"/>
                </a:solidFill>
                <a:latin typeface="Segoe UI Semibold"/>
                <a:cs typeface="Segoe UI Semibold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8429BA-384B-E74F-AD81-A1D2EAB0481B}"/>
              </a:ext>
            </a:extLst>
          </p:cNvPr>
          <p:cNvSpPr txBox="1"/>
          <p:nvPr/>
        </p:nvSpPr>
        <p:spPr>
          <a:xfrm>
            <a:off x="1320800" y="19050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b="1">
                <a:solidFill>
                  <a:srgbClr val="1A1A1A"/>
                </a:solidFill>
                <a:latin typeface="Segoe UI"/>
                <a:cs typeface="Segoe UI"/>
              </a:rPr>
              <a:t>Système de gestion d'entrepôt</a:t>
            </a:r>
            <a:endParaRPr lang="en-FR" sz="2000" b="1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600F4-C0C0-F64D-B0E6-7F253CA7836C}"/>
              </a:ext>
            </a:extLst>
          </p:cNvPr>
          <p:cNvSpPr txBox="1"/>
          <p:nvPr/>
        </p:nvSpPr>
        <p:spPr>
          <a:xfrm>
            <a:off x="5130800" y="1930400"/>
            <a:ext cx="6197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3C3C3C"/>
                </a:solidFill>
                <a:latin typeface="Segoe UI"/>
                <a:cs typeface="Segoe UI"/>
              </a:rPr>
              <a:t>arrêt &gt; 6 h = 40 % du volume du groupe · reprise jamais démontrée</a:t>
            </a:r>
            <a:endParaRPr lang="en-FR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5A6E9A-3C58-BC4A-AB9F-75D2A58EC663}"/>
              </a:ext>
            </a:extLst>
          </p:cNvPr>
          <p:cNvSpPr txBox="1"/>
          <p:nvPr/>
        </p:nvSpPr>
        <p:spPr>
          <a:xfrm>
            <a:off x="914400" y="2590800"/>
            <a:ext cx="304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2000" b="1">
                <a:solidFill>
                  <a:srgbClr val="1F4E79"/>
                </a:solidFill>
                <a:latin typeface="Segoe UI Semibold"/>
                <a:cs typeface="Segoe UI Semibold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003978-8E4D-ED4F-9D7B-299412E7A438}"/>
              </a:ext>
            </a:extLst>
          </p:cNvPr>
          <p:cNvSpPr txBox="1"/>
          <p:nvPr/>
        </p:nvSpPr>
        <p:spPr>
          <a:xfrm>
            <a:off x="1320800" y="25908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b="1">
                <a:solidFill>
                  <a:srgbClr val="1A1A1A"/>
                </a:solidFill>
                <a:latin typeface="Segoe UI"/>
                <a:cs typeface="Segoe UI"/>
              </a:rPr>
              <a:t>Compte technique des automates</a:t>
            </a:r>
            <a:endParaRPr lang="en-FR" sz="2000" b="1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90EF5F-C0FD-DB4C-A51B-5DDD1867DC1A}"/>
              </a:ext>
            </a:extLst>
          </p:cNvPr>
          <p:cNvSpPr txBox="1"/>
          <p:nvPr/>
        </p:nvSpPr>
        <p:spPr>
          <a:xfrm>
            <a:off x="5130800" y="2616200"/>
            <a:ext cx="6197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3C3C3C"/>
                </a:solidFill>
                <a:latin typeface="Segoe UI"/>
                <a:cs typeface="Segoe UI"/>
              </a:rPr>
              <a:t>même mot de passe sur les six sites depuis 2019</a:t>
            </a:r>
            <a:endParaRPr lang="en-FR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F59710-6222-A94F-9B97-39961000EFA5}"/>
              </a:ext>
            </a:extLst>
          </p:cNvPr>
          <p:cNvSpPr txBox="1"/>
          <p:nvPr/>
        </p:nvSpPr>
        <p:spPr>
          <a:xfrm>
            <a:off x="914400" y="3276600"/>
            <a:ext cx="304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2000" b="1">
                <a:solidFill>
                  <a:srgbClr val="1F4E79"/>
                </a:solidFill>
                <a:latin typeface="Segoe UI Semibold"/>
                <a:cs typeface="Segoe UI Semibold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F05920-75AD-8544-96FA-8A82A5DE5CB8}"/>
              </a:ext>
            </a:extLst>
          </p:cNvPr>
          <p:cNvSpPr txBox="1"/>
          <p:nvPr/>
        </p:nvSpPr>
        <p:spPr>
          <a:xfrm>
            <a:off x="1320800" y="32766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b="1">
                <a:solidFill>
                  <a:srgbClr val="1F4E79"/>
                </a:solidFill>
                <a:latin typeface="Segoe UI"/>
                <a:cs typeface="Segoe UI"/>
              </a:rPr>
              <a:t>Le Responsable Exploitation</a:t>
            </a:r>
            <a:endParaRPr lang="en-FR" sz="20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74870C-3EC8-0F4A-A4E6-CB0C4A0FBB08}"/>
              </a:ext>
            </a:extLst>
          </p:cNvPr>
          <p:cNvSpPr txBox="1"/>
          <p:nvPr/>
        </p:nvSpPr>
        <p:spPr>
          <a:xfrm>
            <a:off x="5130800" y="3302000"/>
            <a:ext cx="6197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3C3C3C"/>
                </a:solidFill>
                <a:latin typeface="Segoe UI"/>
                <a:cs typeface="Segoe UI"/>
              </a:rPr>
              <a:t>seul détenteur du savoir des six entrepôts — écrit nulle part</a:t>
            </a:r>
            <a:endParaRPr lang="en-FR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12D24C-C113-D549-AE04-CD32F85F2C5B}"/>
              </a:ext>
            </a:extLst>
          </p:cNvPr>
          <p:cNvSpPr txBox="1"/>
          <p:nvPr/>
        </p:nvSpPr>
        <p:spPr>
          <a:xfrm>
            <a:off x="914400" y="3962400"/>
            <a:ext cx="304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2000" b="1">
                <a:solidFill>
                  <a:srgbClr val="1F4E79"/>
                </a:solidFill>
                <a:latin typeface="Segoe UI Semibold"/>
                <a:cs typeface="Segoe UI Semibold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E77890-5422-A243-B29D-BB94B17F6E1D}"/>
              </a:ext>
            </a:extLst>
          </p:cNvPr>
          <p:cNvSpPr txBox="1"/>
          <p:nvPr/>
        </p:nvSpPr>
        <p:spPr>
          <a:xfrm>
            <a:off x="1320800" y="39624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b="1">
                <a:solidFill>
                  <a:srgbClr val="1A1A1A"/>
                </a:solidFill>
                <a:latin typeface="Segoe UI"/>
                <a:cs typeface="Segoe UI"/>
              </a:rPr>
              <a:t>Logiciel des sondes de température</a:t>
            </a:r>
            <a:endParaRPr lang="en-FR" sz="2000" b="1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C9BA1F-73A9-A243-A417-107A4F3CC559}"/>
              </a:ext>
            </a:extLst>
          </p:cNvPr>
          <p:cNvSpPr txBox="1"/>
          <p:nvPr/>
        </p:nvSpPr>
        <p:spPr>
          <a:xfrm>
            <a:off x="5130800" y="3987800"/>
            <a:ext cx="6197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3C3C3C"/>
                </a:solidFill>
                <a:latin typeface="Segoe UI"/>
                <a:cs typeface="Segoe UI"/>
              </a:rPr>
              <a:t>porte la chaîne du froid ET la preuve due au client — 12 000 €/j</a:t>
            </a:r>
            <a:endParaRPr lang="en-FR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1A07C1-BBB5-D948-9F81-C88EB0338E61}"/>
              </a:ext>
            </a:extLst>
          </p:cNvPr>
          <p:cNvSpPr txBox="1"/>
          <p:nvPr/>
        </p:nvSpPr>
        <p:spPr>
          <a:xfrm>
            <a:off x="914400" y="4648200"/>
            <a:ext cx="304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2000" b="1">
                <a:solidFill>
                  <a:srgbClr val="1F4E79"/>
                </a:solidFill>
                <a:latin typeface="Segoe UI Semibold"/>
                <a:cs typeface="Segoe UI Semibold"/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D1FA32-2347-BE4F-90ED-6F6B34B78210}"/>
              </a:ext>
            </a:extLst>
          </p:cNvPr>
          <p:cNvSpPr txBox="1"/>
          <p:nvPr/>
        </p:nvSpPr>
        <p:spPr>
          <a:xfrm>
            <a:off x="1320800" y="46482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b="1">
                <a:solidFill>
                  <a:srgbClr val="1A1A1A"/>
                </a:solidFill>
                <a:latin typeface="Segoe UI"/>
                <a:cs typeface="Segoe UI"/>
              </a:rPr>
              <a:t>Automates de tri</a:t>
            </a:r>
            <a:endParaRPr lang="en-FR" sz="2000" b="1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CEACEA-9D2E-1243-9022-3CA06443C67F}"/>
              </a:ext>
            </a:extLst>
          </p:cNvPr>
          <p:cNvSpPr txBox="1"/>
          <p:nvPr/>
        </p:nvSpPr>
        <p:spPr>
          <a:xfrm>
            <a:off x="5130800" y="4673600"/>
            <a:ext cx="6197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3C3C3C"/>
                </a:solidFill>
                <a:latin typeface="Segoe UI"/>
                <a:cs typeface="Segoe UI"/>
              </a:rPr>
              <a:t>réseaux bureautique et industriel non séparés, aucun journal</a:t>
            </a:r>
            <a:endParaRPr lang="en-FR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27D2D5-2965-D040-B2B8-2411AB065811}"/>
              </a:ext>
            </a:extLst>
          </p:cNvPr>
          <p:cNvSpPr/>
          <p:nvPr/>
        </p:nvSpPr>
        <p:spPr>
          <a:xfrm>
            <a:off x="914400" y="5232400"/>
            <a:ext cx="1879600" cy="812800"/>
          </a:xfrm>
          <a:prstGeom prst="rect">
            <a:avLst/>
          </a:prstGeom>
          <a:solidFill>
            <a:srgbClr val="F2F3F5"/>
          </a:solidFill>
          <a:ln w="12700" cap="flat" cmpd="sng" algn="ctr">
            <a:solidFill>
              <a:srgbClr val="C7CD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endParaRPr lang="en-FR" sz="1400">
              <a:solidFill>
                <a:srgbClr val="3C3C3C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3B1789-8675-C148-B562-20F08FF5FAC4}"/>
              </a:ext>
            </a:extLst>
          </p:cNvPr>
          <p:cNvSpPr txBox="1"/>
          <p:nvPr/>
        </p:nvSpPr>
        <p:spPr>
          <a:xfrm>
            <a:off x="2971800" y="5384800"/>
            <a:ext cx="8356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400">
                <a:solidFill>
                  <a:srgbClr val="8A8F98"/>
                </a:solidFill>
                <a:latin typeface="Segoe UI"/>
                <a:cs typeface="Segoe UI"/>
              </a:rPr>
              <a:t>Preuve : S2-05bis-assets-list-Top5-page1-of-3.jpg — recadrée sur la colonne LABELS, étiquette « Top5 » lisible</a:t>
            </a:r>
            <a:endParaRPr lang="en-FR" sz="1400">
              <a:solidFill>
                <a:srgbClr val="8A8F98"/>
              </a:solidFill>
              <a:latin typeface="Segoe UI"/>
              <a:cs typeface="Segoe UI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7F5A7C9-6C6F-8A8E-9C73-F096B32EE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23" y="5257800"/>
            <a:ext cx="1323952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71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38109368-F140-D44F-81DF-DF2E14AD5847}"/>
              </a:ext>
            </a:extLst>
          </p:cNvPr>
          <p:cNvSpPr/>
          <p:nvPr/>
        </p:nvSpPr>
        <p:spPr>
          <a:xfrm>
            <a:off x="711200" y="3543300"/>
            <a:ext cx="10617200" cy="558800"/>
          </a:xfrm>
          <a:prstGeom prst="rect">
            <a:avLst/>
          </a:prstGeom>
          <a:solidFill>
            <a:srgbClr val="E8EB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66EB64-C190-DF45-849C-1B1332F9DFE7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200" b="1">
                <a:solidFill>
                  <a:srgbClr val="1F4E79"/>
                </a:solidFill>
                <a:latin typeface="Segoe UI"/>
                <a:cs typeface="Segoe UI"/>
              </a:rPr>
              <a:t>Ce que la mesure a donné — et l'angle mort</a:t>
            </a:r>
            <a:endParaRPr lang="en-FR" sz="32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87D9AA-767C-9B40-A4D2-1B08F40C45A0}"/>
              </a:ext>
            </a:extLst>
          </p:cNvPr>
          <p:cNvSpPr/>
          <p:nvPr/>
        </p:nvSpPr>
        <p:spPr>
          <a:xfrm>
            <a:off x="914400" y="11938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97A9DE-F684-C049-B21D-877945C9465B}"/>
              </a:ext>
            </a:extLst>
          </p:cNvPr>
          <p:cNvSpPr txBox="1"/>
          <p:nvPr/>
        </p:nvSpPr>
        <p:spPr>
          <a:xfrm>
            <a:off x="914400" y="13462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3C3C3C"/>
                </a:solidFill>
                <a:latin typeface="Segoe UI"/>
                <a:cs typeface="Segoe UI"/>
              </a:rPr>
              <a:t>Fondations documentées, application non prouvée, angles morts nommés.</a:t>
            </a:r>
            <a:endParaRPr lang="en-FR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C48C79-B926-2F4E-85BA-8349864BA4C5}"/>
              </a:ext>
            </a:extLst>
          </p:cNvPr>
          <p:cNvSpPr txBox="1"/>
          <p:nvPr/>
        </p:nvSpPr>
        <p:spPr>
          <a:xfrm>
            <a:off x="914400" y="1955800"/>
            <a:ext cx="304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b="1">
                <a:solidFill>
                  <a:srgbClr val="3C3C3C"/>
                </a:solidFill>
                <a:latin typeface="Segoe UI"/>
                <a:cs typeface="Segoe UI"/>
              </a:rPr>
              <a:t>Thème</a:t>
            </a:r>
            <a:endParaRPr lang="en-FR" sz="1600" b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6A68C5-C611-4C48-8096-35E3E6F6EF54}"/>
              </a:ext>
            </a:extLst>
          </p:cNvPr>
          <p:cNvSpPr txBox="1"/>
          <p:nvPr/>
        </p:nvSpPr>
        <p:spPr>
          <a:xfrm>
            <a:off x="4191000" y="19558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b="1">
                <a:solidFill>
                  <a:srgbClr val="3C3C3C"/>
                </a:solidFill>
                <a:latin typeface="Segoe UI"/>
                <a:cs typeface="Segoe UI"/>
              </a:rPr>
              <a:t>regardé</a:t>
            </a:r>
            <a:endParaRPr lang="en-FR" sz="1600" b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C825F4-5FA9-2545-A72A-FC64B8D774C7}"/>
              </a:ext>
            </a:extLst>
          </p:cNvPr>
          <p:cNvSpPr txBox="1"/>
          <p:nvPr/>
        </p:nvSpPr>
        <p:spPr>
          <a:xfrm>
            <a:off x="6121400" y="19558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b="1">
                <a:solidFill>
                  <a:srgbClr val="3C3C3C"/>
                </a:solidFill>
                <a:latin typeface="Segoe UI"/>
                <a:cs typeface="Segoe UI"/>
              </a:rPr>
              <a:t>en place</a:t>
            </a:r>
            <a:endParaRPr lang="en-FR" sz="1600" b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3F1A3B-92AE-4E45-BF4C-9DC933AA0F49}"/>
              </a:ext>
            </a:extLst>
          </p:cNvPr>
          <p:cNvSpPr/>
          <p:nvPr/>
        </p:nvSpPr>
        <p:spPr>
          <a:xfrm>
            <a:off x="914400" y="2311400"/>
            <a:ext cx="10414000" cy="25400"/>
          </a:xfrm>
          <a:prstGeom prst="rect">
            <a:avLst/>
          </a:prstGeom>
          <a:solidFill>
            <a:srgbClr val="C7CD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154BB4-1437-7041-AD3C-011F4DB48BCA}"/>
              </a:ext>
            </a:extLst>
          </p:cNvPr>
          <p:cNvSpPr txBox="1"/>
          <p:nvPr/>
        </p:nvSpPr>
        <p:spPr>
          <a:xfrm>
            <a:off x="914400" y="24892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>
                <a:solidFill>
                  <a:srgbClr val="1A1A1A"/>
                </a:solidFill>
                <a:latin typeface="Segoe UI"/>
                <a:cs typeface="Segoe UI"/>
              </a:rPr>
              <a:t>Organisationnel</a:t>
            </a:r>
            <a:endParaRPr lang="en-FR" sz="20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B40C0E-EF4D-4747-B26F-E0C102B9B15C}"/>
              </a:ext>
            </a:extLst>
          </p:cNvPr>
          <p:cNvSpPr txBox="1"/>
          <p:nvPr/>
        </p:nvSpPr>
        <p:spPr>
          <a:xfrm>
            <a:off x="4191000" y="24892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>
                <a:solidFill>
                  <a:srgbClr val="1A1A1A"/>
                </a:solidFill>
                <a:latin typeface="Segoe UI"/>
                <a:cs typeface="Segoe UI"/>
              </a:rPr>
              <a:t>6 sur 37</a:t>
            </a:r>
            <a:endParaRPr lang="en-FR" sz="20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50F5FA-5C16-BC4F-BE71-1CEBF4CF81BA}"/>
              </a:ext>
            </a:extLst>
          </p:cNvPr>
          <p:cNvSpPr txBox="1"/>
          <p:nvPr/>
        </p:nvSpPr>
        <p:spPr>
          <a:xfrm>
            <a:off x="6121400" y="24892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2000">
                <a:solidFill>
                  <a:srgbClr val="1A1A1A"/>
                </a:solidFill>
                <a:latin typeface="Segoe UI"/>
                <a:cs typeface="Segoe UI"/>
              </a:rPr>
              <a:t>8 %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C5AE85-96D3-3944-B654-7864391524B0}"/>
              </a:ext>
            </a:extLst>
          </p:cNvPr>
          <p:cNvSpPr txBox="1"/>
          <p:nvPr/>
        </p:nvSpPr>
        <p:spPr>
          <a:xfrm>
            <a:off x="914400" y="30734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>
                <a:solidFill>
                  <a:srgbClr val="1A1A1A"/>
                </a:solidFill>
                <a:latin typeface="Segoe UI"/>
                <a:cs typeface="Segoe UI"/>
              </a:rPr>
              <a:t>Personnes</a:t>
            </a:r>
            <a:endParaRPr lang="en-FR" sz="20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4FBFC0-341B-2340-B111-816461B6D092}"/>
              </a:ext>
            </a:extLst>
          </p:cNvPr>
          <p:cNvSpPr txBox="1"/>
          <p:nvPr/>
        </p:nvSpPr>
        <p:spPr>
          <a:xfrm>
            <a:off x="4191000" y="30734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>
                <a:solidFill>
                  <a:srgbClr val="1A1A1A"/>
                </a:solidFill>
                <a:latin typeface="Segoe UI"/>
                <a:cs typeface="Segoe UI"/>
              </a:rPr>
              <a:t>1 sur 8</a:t>
            </a:r>
            <a:endParaRPr lang="en-FR" sz="20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9B0772-A733-6449-BE06-6B4EEEF6ED68}"/>
              </a:ext>
            </a:extLst>
          </p:cNvPr>
          <p:cNvSpPr txBox="1"/>
          <p:nvPr/>
        </p:nvSpPr>
        <p:spPr>
          <a:xfrm>
            <a:off x="6121400" y="30734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>
                <a:solidFill>
                  <a:srgbClr val="1A1A1A"/>
                </a:solidFill>
                <a:latin typeface="Segoe UI"/>
                <a:cs typeface="Segoe UI"/>
              </a:rPr>
              <a:t>non statuée</a:t>
            </a:r>
            <a:endParaRPr lang="en-FR" sz="20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991EFA-CBA2-8E40-8035-A5815A6AF328}"/>
              </a:ext>
            </a:extLst>
          </p:cNvPr>
          <p:cNvSpPr txBox="1"/>
          <p:nvPr/>
        </p:nvSpPr>
        <p:spPr>
          <a:xfrm>
            <a:off x="914400" y="36576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b="1">
                <a:solidFill>
                  <a:srgbClr val="1F4E79"/>
                </a:solidFill>
                <a:latin typeface="Segoe UI"/>
                <a:cs typeface="Segoe UI"/>
              </a:rPr>
              <a:t>Physique</a:t>
            </a:r>
            <a:endParaRPr lang="en-FR" sz="20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89CDE6-E2C2-314D-87E6-029E1F662D6E}"/>
              </a:ext>
            </a:extLst>
          </p:cNvPr>
          <p:cNvSpPr txBox="1"/>
          <p:nvPr/>
        </p:nvSpPr>
        <p:spPr>
          <a:xfrm>
            <a:off x="4191000" y="36576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>
                <a:solidFill>
                  <a:srgbClr val="1A1A1A"/>
                </a:solidFill>
                <a:latin typeface="Segoe UI"/>
                <a:cs typeface="Segoe UI"/>
              </a:rPr>
              <a:t>0 sur 14</a:t>
            </a:r>
            <a:endParaRPr lang="en-FR" sz="20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1DFBC2-FA97-CD43-9EB6-EFF7536D9EF6}"/>
              </a:ext>
            </a:extLst>
          </p:cNvPr>
          <p:cNvSpPr txBox="1"/>
          <p:nvPr/>
        </p:nvSpPr>
        <p:spPr>
          <a:xfrm>
            <a:off x="6121400" y="36576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2000" b="1">
                <a:solidFill>
                  <a:srgbClr val="1F4E79"/>
                </a:solidFill>
                <a:latin typeface="Segoe UI"/>
                <a:cs typeface="Segoe UI"/>
              </a:rPr>
              <a:t>—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D2B6F9-1540-4C4B-B668-6BFFBF6463FD}"/>
              </a:ext>
            </a:extLst>
          </p:cNvPr>
          <p:cNvSpPr txBox="1"/>
          <p:nvPr/>
        </p:nvSpPr>
        <p:spPr>
          <a:xfrm>
            <a:off x="8077200" y="3683000"/>
            <a:ext cx="3251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>
                <a:solidFill>
                  <a:srgbClr val="1F4E79"/>
                </a:solidFill>
                <a:latin typeface="Segoe UI"/>
                <a:cs typeface="Segoe UI"/>
              </a:rPr>
              <a:t>← six entrepôts, chambres froides</a:t>
            </a:r>
            <a:endParaRPr lang="en-FR" sz="1600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5878C6-C20A-4B4F-BBCE-8BE11760C746}"/>
              </a:ext>
            </a:extLst>
          </p:cNvPr>
          <p:cNvSpPr txBox="1"/>
          <p:nvPr/>
        </p:nvSpPr>
        <p:spPr>
          <a:xfrm>
            <a:off x="914400" y="42418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>
                <a:solidFill>
                  <a:srgbClr val="1A1A1A"/>
                </a:solidFill>
                <a:latin typeface="Segoe UI"/>
                <a:cs typeface="Segoe UI"/>
              </a:rPr>
              <a:t>Technologique</a:t>
            </a:r>
            <a:endParaRPr lang="en-FR" sz="20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9752D0-2EE8-C340-9DF1-BB5FC25B3B83}"/>
              </a:ext>
            </a:extLst>
          </p:cNvPr>
          <p:cNvSpPr txBox="1"/>
          <p:nvPr/>
        </p:nvSpPr>
        <p:spPr>
          <a:xfrm>
            <a:off x="4191000" y="42418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>
                <a:solidFill>
                  <a:srgbClr val="1A1A1A"/>
                </a:solidFill>
                <a:latin typeface="Segoe UI"/>
                <a:cs typeface="Segoe UI"/>
              </a:rPr>
              <a:t>5 sur 34</a:t>
            </a:r>
            <a:endParaRPr lang="en-FR" sz="20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CBBE72-73D4-E14B-9207-37DAD8C33EA9}"/>
              </a:ext>
            </a:extLst>
          </p:cNvPr>
          <p:cNvSpPr txBox="1"/>
          <p:nvPr/>
        </p:nvSpPr>
        <p:spPr>
          <a:xfrm>
            <a:off x="6121400" y="42418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2000">
                <a:solidFill>
                  <a:srgbClr val="1A1A1A"/>
                </a:solidFill>
                <a:latin typeface="Segoe UI"/>
                <a:cs typeface="Segoe UI"/>
              </a:rPr>
              <a:t>10 %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DCFBA9-1CF7-5D40-866D-C54314D054D0}"/>
              </a:ext>
            </a:extLst>
          </p:cNvPr>
          <p:cNvSpPr txBox="1"/>
          <p:nvPr/>
        </p:nvSpPr>
        <p:spPr>
          <a:xfrm>
            <a:off x="4191000" y="4851400"/>
            <a:ext cx="7137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b="1">
                <a:solidFill>
                  <a:srgbClr val="1F4E79"/>
                </a:solidFill>
                <a:latin typeface="Segoe UI"/>
                <a:cs typeface="Segoe UI"/>
              </a:rPr>
              <a:t>Aucune exigence pleinement couverte.</a:t>
            </a:r>
            <a:endParaRPr lang="en-FR" sz="19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9D2960-A52E-2E44-93CA-BEEB011D8751}"/>
              </a:ext>
            </a:extLst>
          </p:cNvPr>
          <p:cNvSpPr txBox="1"/>
          <p:nvPr/>
        </p:nvSpPr>
        <p:spPr>
          <a:xfrm>
            <a:off x="914400" y="53594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i="1">
                <a:solidFill>
                  <a:srgbClr val="1A1A1A"/>
                </a:solidFill>
                <a:latin typeface="Segoe UI"/>
                <a:cs typeface="Segoe UI"/>
              </a:rPr>
              <a:t>Limite : c'est une auto-évaluation, pas un audit indépendant. Notre rapport le dit.</a:t>
            </a:r>
            <a:endParaRPr lang="en-FR" i="1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0A6646-37FE-6E4D-B47E-852ED1E507E5}"/>
              </a:ext>
            </a:extLst>
          </p:cNvPr>
          <p:cNvSpPr txBox="1"/>
          <p:nvPr/>
        </p:nvSpPr>
        <p:spPr>
          <a:xfrm>
            <a:off x="914400" y="57658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>
                <a:solidFill>
                  <a:srgbClr val="3C3C3C"/>
                </a:solidFill>
                <a:latin typeface="Segoe UI"/>
                <a:cs typeface="Segoe UI"/>
              </a:rPr>
              <a:t>Preuve : S4-05-taux-de-conformite-apres-saisie.jpg · en réserve S4-06-ex2-follow-up-findings-C3-C4-C7.png</a:t>
            </a:r>
            <a:endParaRPr lang="en-FR" sz="1500">
              <a:solidFill>
                <a:srgbClr val="3C3C3C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171900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5F2339-4DDC-914F-8249-11A5541A8592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200" b="1">
                <a:solidFill>
                  <a:srgbClr val="1F4E79"/>
                </a:solidFill>
                <a:latin typeface="Segoe UI"/>
                <a:cs typeface="Segoe UI"/>
              </a:rPr>
              <a:t>Qui nous menace — trois acteurs, trois actifs</a:t>
            </a:r>
            <a:endParaRPr lang="en-FR" sz="32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0CAF1-A6B4-9D44-A1CA-31266A09A073}"/>
              </a:ext>
            </a:extLst>
          </p:cNvPr>
          <p:cNvSpPr/>
          <p:nvPr/>
        </p:nvSpPr>
        <p:spPr>
          <a:xfrm>
            <a:off x="914400" y="11938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52F101-B7F8-134C-BF4E-5EF6EE136053}"/>
              </a:ext>
            </a:extLst>
          </p:cNvPr>
          <p:cNvSpPr txBox="1"/>
          <p:nvPr/>
        </p:nvSpPr>
        <p:spPr>
          <a:xfrm>
            <a:off x="914400" y="13462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8A8F98"/>
                </a:solidFill>
                <a:latin typeface="Segoe UI"/>
                <a:cs typeface="Segoe UI"/>
              </a:rPr>
              <a:t>Trois scénarios retenus sur cinq examinés. Chacun vise l'un des cinq actifs.</a:t>
            </a:r>
            <a:endParaRPr lang="en-FR">
              <a:solidFill>
                <a:srgbClr val="8A8F98"/>
              </a:solidFill>
              <a:latin typeface="Segoe UI"/>
              <a:cs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557673-7EDB-7942-8E33-285E33F21CC2}"/>
              </a:ext>
            </a:extLst>
          </p:cNvPr>
          <p:cNvSpPr/>
          <p:nvPr/>
        </p:nvSpPr>
        <p:spPr>
          <a:xfrm>
            <a:off x="914400" y="2006600"/>
            <a:ext cx="50800" cy="9398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CF6B15-C0A4-6E48-AC88-41ED038C89BD}"/>
              </a:ext>
            </a:extLst>
          </p:cNvPr>
          <p:cNvSpPr txBox="1"/>
          <p:nvPr/>
        </p:nvSpPr>
        <p:spPr>
          <a:xfrm>
            <a:off x="1219200" y="2032000"/>
            <a:ext cx="381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200" b="1">
                <a:solidFill>
                  <a:srgbClr val="1F4E79"/>
                </a:solidFill>
                <a:latin typeface="Segoe UI"/>
                <a:cs typeface="Segoe UI"/>
              </a:rPr>
              <a:t>Groupe cybercriminel</a:t>
            </a:r>
            <a:endParaRPr lang="en-FR" sz="22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D07F9-24AE-4549-8D4B-1A9E65245E07}"/>
              </a:ext>
            </a:extLst>
          </p:cNvPr>
          <p:cNvSpPr txBox="1"/>
          <p:nvPr/>
        </p:nvSpPr>
        <p:spPr>
          <a:xfrm>
            <a:off x="1219200" y="2438400"/>
            <a:ext cx="9906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>
                <a:solidFill>
                  <a:srgbClr val="1A1A1A"/>
                </a:solidFill>
                <a:latin typeface="Segoe UI"/>
                <a:cs typeface="Segoe UI"/>
              </a:rPr>
              <a:t>chiffrer le système de gestion d'entrepôt, arrêter l'expédition,
demander une rançon</a:t>
            </a:r>
            <a:endParaRPr lang="en-FR" sz="20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FDAA9E-09E8-6D4A-9041-EA82A2AD4DF8}"/>
              </a:ext>
            </a:extLst>
          </p:cNvPr>
          <p:cNvSpPr/>
          <p:nvPr/>
        </p:nvSpPr>
        <p:spPr>
          <a:xfrm>
            <a:off x="914400" y="3200400"/>
            <a:ext cx="50800" cy="9398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FEF5FB-6DF9-6D47-BF66-085D41DDC265}"/>
              </a:ext>
            </a:extLst>
          </p:cNvPr>
          <p:cNvSpPr txBox="1"/>
          <p:nvPr/>
        </p:nvSpPr>
        <p:spPr>
          <a:xfrm>
            <a:off x="1219200" y="3225800"/>
            <a:ext cx="381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200" b="1">
                <a:solidFill>
                  <a:srgbClr val="1F4E79"/>
                </a:solidFill>
                <a:latin typeface="Segoe UI"/>
                <a:cs typeface="Segoe UI"/>
              </a:rPr>
              <a:t>Agent interne</a:t>
            </a:r>
            <a:endParaRPr lang="en-FR" sz="22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589D5E-D134-BA4B-90E2-B5B060070365}"/>
              </a:ext>
            </a:extLst>
          </p:cNvPr>
          <p:cNvSpPr txBox="1"/>
          <p:nvPr/>
        </p:nvSpPr>
        <p:spPr>
          <a:xfrm>
            <a:off x="1219200" y="3632200"/>
            <a:ext cx="9906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>
                <a:solidFill>
                  <a:srgbClr val="1A1A1A"/>
                </a:solidFill>
                <a:latin typeface="Segoe UI"/>
                <a:cs typeface="Segoe UI"/>
              </a:rPr>
              <a:t>fausser les données de préparation, emporter le savoir-faire des six sites</a:t>
            </a:r>
            <a:endParaRPr lang="en-FR" sz="20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2A7571-4AD3-E84A-A77C-2601550DCE23}"/>
              </a:ext>
            </a:extLst>
          </p:cNvPr>
          <p:cNvSpPr/>
          <p:nvPr/>
        </p:nvSpPr>
        <p:spPr>
          <a:xfrm>
            <a:off x="914400" y="4394200"/>
            <a:ext cx="50800" cy="9398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AB1BB-CFF0-0B46-A6C1-26969A85869E}"/>
              </a:ext>
            </a:extLst>
          </p:cNvPr>
          <p:cNvSpPr txBox="1"/>
          <p:nvPr/>
        </p:nvSpPr>
        <p:spPr>
          <a:xfrm>
            <a:off x="1219200" y="4419600"/>
            <a:ext cx="381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200" b="1">
                <a:solidFill>
                  <a:srgbClr val="1F4E79"/>
                </a:solidFill>
                <a:latin typeface="Segoe UI"/>
                <a:cs typeface="Segoe UI"/>
              </a:rPr>
              <a:t>Concurrent</a:t>
            </a:r>
            <a:endParaRPr lang="en-FR" sz="22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36FA8D-5A79-ED48-BE5F-7E347E19EFF9}"/>
              </a:ext>
            </a:extLst>
          </p:cNvPr>
          <p:cNvSpPr txBox="1"/>
          <p:nvPr/>
        </p:nvSpPr>
        <p:spPr>
          <a:xfrm>
            <a:off x="1219200" y="4826000"/>
            <a:ext cx="9906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>
                <a:solidFill>
                  <a:srgbClr val="1A1A1A"/>
                </a:solidFill>
                <a:latin typeface="Segoe UI"/>
                <a:cs typeface="Segoe UI"/>
              </a:rPr>
              <a:t>capter les données d'exploitation et celles du client pharmaceutique</a:t>
            </a:r>
            <a:endParaRPr lang="en-FR" sz="20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4D8727-AEC2-C74D-929D-941A52076AEA}"/>
              </a:ext>
            </a:extLst>
          </p:cNvPr>
          <p:cNvSpPr txBox="1"/>
          <p:nvPr/>
        </p:nvSpPr>
        <p:spPr>
          <a:xfrm>
            <a:off x="1219200" y="55372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i="1">
                <a:solidFill>
                  <a:srgbClr val="8A8F98"/>
                </a:solidFill>
                <a:latin typeface="Segoe UI"/>
                <a:cs typeface="Segoe UI"/>
              </a:rPr>
              <a:t>Un quatrième — le prestataire des automates — est traité à part : slide suivante.</a:t>
            </a:r>
            <a:endParaRPr lang="en-FR" i="1">
              <a:solidFill>
                <a:srgbClr val="8A8F98"/>
              </a:solidFill>
              <a:latin typeface="Segoe UI"/>
              <a:cs typeface="Segoe U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7D652E-22AA-D047-8F06-BF744CB82D1D}"/>
              </a:ext>
            </a:extLst>
          </p:cNvPr>
          <p:cNvSpPr txBox="1"/>
          <p:nvPr/>
        </p:nvSpPr>
        <p:spPr>
          <a:xfrm>
            <a:off x="1219200" y="58674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400">
                <a:solidFill>
                  <a:srgbClr val="8A8F98"/>
                </a:solidFill>
                <a:latin typeface="Segoe UI"/>
                <a:cs typeface="Segoe UI"/>
              </a:rPr>
              <a:t>Preuve : S5-05-ex5-5-couples-liste-pertinence.jpg — colonne « Pertinence », les deux écartés</a:t>
            </a:r>
            <a:endParaRPr lang="en-FR" sz="1400">
              <a:solidFill>
                <a:srgbClr val="8A8F98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35777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FEAB17E-44B2-4145-8BC2-144A2DFA7092}"/>
              </a:ext>
            </a:extLst>
          </p:cNvPr>
          <p:cNvSpPr txBox="1"/>
          <p:nvPr/>
        </p:nvSpPr>
        <p:spPr>
          <a:xfrm>
            <a:off x="914400" y="533400"/>
            <a:ext cx="1041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800" b="1">
                <a:solidFill>
                  <a:srgbClr val="1F4E79"/>
                </a:solidFill>
                <a:latin typeface="Segoe UI"/>
                <a:cs typeface="Segoe UI"/>
              </a:rPr>
              <a:t>L'événement le plus grave — et pourquoi il est crédible</a:t>
            </a:r>
            <a:endParaRPr lang="en-FR" sz="28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B41EA4-A7D3-7E42-99D1-0133D47CF5EA}"/>
              </a:ext>
            </a:extLst>
          </p:cNvPr>
          <p:cNvSpPr/>
          <p:nvPr/>
        </p:nvSpPr>
        <p:spPr>
          <a:xfrm>
            <a:off x="914400" y="11176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CA0CE4-D5A4-164E-AD27-2C924867DE60}"/>
              </a:ext>
            </a:extLst>
          </p:cNvPr>
          <p:cNvSpPr txBox="1"/>
          <p:nvPr/>
        </p:nvSpPr>
        <p:spPr>
          <a:xfrm>
            <a:off x="914400" y="1295400"/>
            <a:ext cx="10414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400" b="1">
                <a:solidFill>
                  <a:srgbClr val="1A1A1A"/>
                </a:solidFill>
                <a:latin typeface="Segoe UI"/>
                <a:cs typeface="Segoe UI"/>
              </a:rPr>
              <a:t>L'arrêt non planifié de l'expédition au-delà de six heures</a:t>
            </a:r>
            <a:endParaRPr lang="en-FR" sz="2400" b="1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855444-B55D-6F47-8C20-757D5BCE2CDA}"/>
              </a:ext>
            </a:extLst>
          </p:cNvPr>
          <p:cNvSpPr/>
          <p:nvPr/>
        </p:nvSpPr>
        <p:spPr>
          <a:xfrm>
            <a:off x="914400" y="1930400"/>
            <a:ext cx="4724400" cy="3530600"/>
          </a:xfrm>
          <a:prstGeom prst="rect">
            <a:avLst/>
          </a:prstGeom>
          <a:solidFill>
            <a:srgbClr val="E8EB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5FB2A1-EFC6-6249-BDFD-7AFECB2071AB}"/>
              </a:ext>
            </a:extLst>
          </p:cNvPr>
          <p:cNvSpPr/>
          <p:nvPr/>
        </p:nvSpPr>
        <p:spPr>
          <a:xfrm>
            <a:off x="5892800" y="1930400"/>
            <a:ext cx="5435600" cy="3530600"/>
          </a:xfrm>
          <a:prstGeom prst="rect">
            <a:avLst/>
          </a:prstGeom>
          <a:solidFill>
            <a:srgbClr val="F2F3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427C3F-DE60-A344-910B-16A597BB3DE6}"/>
              </a:ext>
            </a:extLst>
          </p:cNvPr>
          <p:cNvSpPr txBox="1"/>
          <p:nvPr/>
        </p:nvSpPr>
        <p:spPr>
          <a:xfrm>
            <a:off x="1270000" y="2209800"/>
            <a:ext cx="4064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200" b="1">
                <a:solidFill>
                  <a:srgbClr val="1F4E79"/>
                </a:solidFill>
                <a:latin typeface="Segoe UI"/>
                <a:cs typeface="Segoe UI"/>
              </a:rPr>
              <a:t>GRAVE</a:t>
            </a:r>
            <a:endParaRPr lang="en-FR" sz="22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D8634A-B497-A844-B8C8-BFE4F1426527}"/>
              </a:ext>
            </a:extLst>
          </p:cNvPr>
          <p:cNvSpPr txBox="1"/>
          <p:nvPr/>
        </p:nvSpPr>
        <p:spPr>
          <a:xfrm>
            <a:off x="1270000" y="2819400"/>
            <a:ext cx="406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3400" b="1">
                <a:solidFill>
                  <a:srgbClr val="1A1A1A"/>
                </a:solidFill>
                <a:latin typeface="Segoe UI"/>
                <a:cs typeface="Segoe UI"/>
              </a:rPr>
              <a:t>40 %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5031ED-2AAE-E345-8581-FDF7A722EB1F}"/>
              </a:ext>
            </a:extLst>
          </p:cNvPr>
          <p:cNvSpPr txBox="1"/>
          <p:nvPr/>
        </p:nvSpPr>
        <p:spPr>
          <a:xfrm>
            <a:off x="1270000" y="3403600"/>
            <a:ext cx="406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>
                <a:solidFill>
                  <a:srgbClr val="3C3C3C"/>
                </a:solidFill>
                <a:latin typeface="Segoe UI"/>
                <a:cs typeface="Segoe UI"/>
              </a:rPr>
              <a:t>du volume expédié du groupe</a:t>
            </a:r>
            <a:endParaRPr lang="en-FR" sz="17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4ED05D-0CBA-EA4D-9B3B-7E9B135C07A1}"/>
              </a:ext>
            </a:extLst>
          </p:cNvPr>
          <p:cNvSpPr txBox="1"/>
          <p:nvPr/>
        </p:nvSpPr>
        <p:spPr>
          <a:xfrm>
            <a:off x="1270000" y="4013200"/>
            <a:ext cx="406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3400" b="1">
                <a:solidFill>
                  <a:srgbClr val="1A1A1A"/>
                </a:solidFill>
                <a:latin typeface="Segoe UI"/>
                <a:cs typeface="Segoe UI"/>
              </a:rPr>
              <a:t>12 000 €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E8B760-ED0D-4842-8A50-03853041A826}"/>
              </a:ext>
            </a:extLst>
          </p:cNvPr>
          <p:cNvSpPr txBox="1"/>
          <p:nvPr/>
        </p:nvSpPr>
        <p:spPr>
          <a:xfrm>
            <a:off x="1270000" y="4597400"/>
            <a:ext cx="406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>
                <a:solidFill>
                  <a:srgbClr val="3C3C3C"/>
                </a:solidFill>
                <a:latin typeface="Segoe UI"/>
                <a:cs typeface="Segoe UI"/>
              </a:rPr>
              <a:t>par jour de pénalités contractuelles</a:t>
            </a:r>
            <a:endParaRPr lang="en-FR" sz="17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74A865-B8C0-2F48-8783-1869859378B0}"/>
              </a:ext>
            </a:extLst>
          </p:cNvPr>
          <p:cNvSpPr txBox="1"/>
          <p:nvPr/>
        </p:nvSpPr>
        <p:spPr>
          <a:xfrm>
            <a:off x="6248400" y="2209800"/>
            <a:ext cx="4775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200" b="1">
                <a:solidFill>
                  <a:srgbClr val="1F4E79"/>
                </a:solidFill>
                <a:latin typeface="Segoe UI"/>
                <a:cs typeface="Segoe UI"/>
              </a:rPr>
              <a:t>CRÉDIBLE</a:t>
            </a:r>
            <a:endParaRPr lang="en-FR" sz="22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2B36DA-B118-2348-85C5-19152DEDE966}"/>
              </a:ext>
            </a:extLst>
          </p:cNvPr>
          <p:cNvSpPr txBox="1"/>
          <p:nvPr/>
        </p:nvSpPr>
        <p:spPr>
          <a:xfrm>
            <a:off x="6248400" y="2819400"/>
            <a:ext cx="477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1A1A1A"/>
                </a:solidFill>
                <a:latin typeface="Segoe UI"/>
                <a:cs typeface="Segoe UI"/>
              </a:rPr>
              <a:t>un seul site, aucun secours</a:t>
            </a:r>
            <a:endParaRPr lang="en-FR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372654-A09C-7B46-A45D-2C9ABCDA330F}"/>
              </a:ext>
            </a:extLst>
          </p:cNvPr>
          <p:cNvSpPr txBox="1"/>
          <p:nvPr/>
        </p:nvSpPr>
        <p:spPr>
          <a:xfrm>
            <a:off x="6248400" y="3378200"/>
            <a:ext cx="47752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1A1A1A"/>
                </a:solidFill>
                <a:latin typeface="Segoe UI"/>
                <a:cs typeface="Segoe UI"/>
              </a:rPr>
              <a:t>des sauvegardes quotidiennes jamais restaurées depuis la mise en service</a:t>
            </a:r>
            <a:endParaRPr lang="en-FR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415662-ED98-0D4D-9250-99B339BC057B}"/>
              </a:ext>
            </a:extLst>
          </p:cNvPr>
          <p:cNvSpPr txBox="1"/>
          <p:nvPr/>
        </p:nvSpPr>
        <p:spPr>
          <a:xfrm>
            <a:off x="6248400" y="4241800"/>
            <a:ext cx="47752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1A1A1A"/>
                </a:solidFill>
                <a:latin typeface="Segoe UI"/>
                <a:cs typeface="Segoe UI"/>
              </a:rPr>
              <a:t>un arrêt de ce type a déjà eu lieu en avril — sans que personne ne puisse en tenir la chronologie</a:t>
            </a:r>
            <a:endParaRPr lang="en-FR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CFAC86-0DAE-2243-AFB2-0AE9F8D38BDD}"/>
              </a:ext>
            </a:extLst>
          </p:cNvPr>
          <p:cNvSpPr txBox="1"/>
          <p:nvPr/>
        </p:nvSpPr>
        <p:spPr>
          <a:xfrm>
            <a:off x="914400" y="56388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>
                <a:solidFill>
                  <a:srgbClr val="3C3C3C"/>
                </a:solidFill>
                <a:latin typeface="Segoe UI"/>
                <a:cs typeface="Segoe UI"/>
              </a:rPr>
              <a:t>Preuve : S5-06-etude-summary-compteurs-7-ER.jpg · en annexe A2, la matrice 4×4</a:t>
            </a:r>
            <a:endParaRPr lang="en-FR" sz="1500">
              <a:solidFill>
                <a:srgbClr val="3C3C3C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544386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A6D5FFE-2854-DC40-B18D-2D41F666C5B9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200" b="1">
                <a:solidFill>
                  <a:srgbClr val="1F4E79"/>
                </a:solidFill>
                <a:latin typeface="Segoe UI"/>
                <a:cs typeface="Segoe UI"/>
              </a:rPr>
              <a:t>Le risque entre par le contrat</a:t>
            </a:r>
            <a:endParaRPr lang="en-FR" sz="32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C8FA3C-4405-3C4F-BCBA-272E0F3F107A}"/>
              </a:ext>
            </a:extLst>
          </p:cNvPr>
          <p:cNvSpPr/>
          <p:nvPr/>
        </p:nvSpPr>
        <p:spPr>
          <a:xfrm>
            <a:off x="914400" y="11938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8D957A-176F-CE48-8E82-E79CA83B47CE}"/>
              </a:ext>
            </a:extLst>
          </p:cNvPr>
          <p:cNvSpPr txBox="1"/>
          <p:nvPr/>
        </p:nvSpPr>
        <p:spPr>
          <a:xfrm>
            <a:off x="914400" y="13462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3C3C3C"/>
                </a:solidFill>
                <a:latin typeface="Segoe UI"/>
                <a:cs typeface="Segoe UI"/>
              </a:rPr>
              <a:t>Cinq partenaires cotés sur leur dépendance et leur fiabilité. Deux dépassent le seuil.</a:t>
            </a:r>
            <a:endParaRPr lang="en-FR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540FF3-239E-8C4A-A55A-308F860890BF}"/>
              </a:ext>
            </a:extLst>
          </p:cNvPr>
          <p:cNvSpPr txBox="1"/>
          <p:nvPr/>
        </p:nvSpPr>
        <p:spPr>
          <a:xfrm>
            <a:off x="914400" y="19050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b="1">
                <a:solidFill>
                  <a:srgbClr val="1A1A1A"/>
                </a:solidFill>
                <a:latin typeface="Segoe UI"/>
                <a:cs typeface="Segoe UI"/>
              </a:rPr>
              <a:t>Intégrateur des automates</a:t>
            </a:r>
            <a:endParaRPr lang="en-FR" sz="1900" b="1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5A0F15-05EA-2E4A-A7E7-34A3BDF24662}"/>
              </a:ext>
            </a:extLst>
          </p:cNvPr>
          <p:cNvSpPr txBox="1"/>
          <p:nvPr/>
        </p:nvSpPr>
        <p:spPr>
          <a:xfrm>
            <a:off x="5588000" y="1905000"/>
            <a:ext cx="76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1900" b="1">
                <a:solidFill>
                  <a:srgbClr val="1F4E79"/>
                </a:solidFill>
                <a:latin typeface="Segoe UI"/>
                <a:cs typeface="Segoe UI"/>
              </a:rPr>
              <a:t>12,0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031F7B-6DBD-A948-A618-17D899C2D87D}"/>
              </a:ext>
            </a:extLst>
          </p:cNvPr>
          <p:cNvSpPr txBox="1"/>
          <p:nvPr/>
        </p:nvSpPr>
        <p:spPr>
          <a:xfrm>
            <a:off x="6654800" y="1930400"/>
            <a:ext cx="4673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>
                <a:solidFill>
                  <a:srgbClr val="3C3C3C"/>
                </a:solidFill>
                <a:latin typeface="Segoe UI"/>
                <a:cs typeface="Segoe UI"/>
              </a:rPr>
              <a:t>accès permanent, hors de notre réseau supervisé</a:t>
            </a:r>
            <a:endParaRPr lang="en-FR" sz="17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0412D6-C0F0-2C46-8409-46220E5439A1}"/>
              </a:ext>
            </a:extLst>
          </p:cNvPr>
          <p:cNvSpPr txBox="1"/>
          <p:nvPr/>
        </p:nvSpPr>
        <p:spPr>
          <a:xfrm>
            <a:off x="914400" y="25400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b="1">
                <a:solidFill>
                  <a:srgbClr val="1A1A1A"/>
                </a:solidFill>
                <a:latin typeface="Segoe UI"/>
                <a:cs typeface="Segoe UI"/>
              </a:rPr>
              <a:t>Maintenance du système d'entrepôt</a:t>
            </a:r>
            <a:endParaRPr lang="en-FR" sz="1900" b="1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A2E692-4705-3048-A6CD-502942B08484}"/>
              </a:ext>
            </a:extLst>
          </p:cNvPr>
          <p:cNvSpPr txBox="1"/>
          <p:nvPr/>
        </p:nvSpPr>
        <p:spPr>
          <a:xfrm>
            <a:off x="5588000" y="2540000"/>
            <a:ext cx="76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1900" b="1">
                <a:solidFill>
                  <a:srgbClr val="1F4E79"/>
                </a:solidFill>
                <a:latin typeface="Segoe UI"/>
                <a:cs typeface="Segoe UI"/>
              </a:rPr>
              <a:t>8,0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83F7AD-0C79-AB40-84AA-41BC1C37B04F}"/>
              </a:ext>
            </a:extLst>
          </p:cNvPr>
          <p:cNvSpPr txBox="1"/>
          <p:nvPr/>
        </p:nvSpPr>
        <p:spPr>
          <a:xfrm>
            <a:off x="6654800" y="2565400"/>
            <a:ext cx="4673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>
                <a:solidFill>
                  <a:srgbClr val="3C3C3C"/>
                </a:solidFill>
                <a:latin typeface="Segoe UI"/>
                <a:cs typeface="Segoe UI"/>
              </a:rPr>
              <a:t>compte partagé, porteurs inconnus</a:t>
            </a:r>
            <a:endParaRPr lang="en-FR" sz="17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AF145F-A0DE-8A49-9134-708F7F749AE9}"/>
              </a:ext>
            </a:extLst>
          </p:cNvPr>
          <p:cNvSpPr txBox="1"/>
          <p:nvPr/>
        </p:nvSpPr>
        <p:spPr>
          <a:xfrm>
            <a:off x="914400" y="30226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 b="1">
                <a:solidFill>
                  <a:srgbClr val="1F4E79"/>
                </a:solidFill>
                <a:latin typeface="Segoe UI"/>
                <a:cs typeface="Segoe UI"/>
              </a:rPr>
              <a:t>seuil écrit : 4,0</a:t>
            </a:r>
            <a:endParaRPr lang="en-FR" sz="15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1B3DAE-D54E-B645-B259-EED5C0CA69A9}"/>
              </a:ext>
            </a:extLst>
          </p:cNvPr>
          <p:cNvSpPr/>
          <p:nvPr/>
        </p:nvSpPr>
        <p:spPr>
          <a:xfrm>
            <a:off x="914400" y="3352800"/>
            <a:ext cx="10414000" cy="254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16BC22-BCD7-3D41-813A-F819BF6368F3}"/>
              </a:ext>
            </a:extLst>
          </p:cNvPr>
          <p:cNvSpPr txBox="1"/>
          <p:nvPr/>
        </p:nvSpPr>
        <p:spPr>
          <a:xfrm>
            <a:off x="914400" y="35052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>
                <a:solidFill>
                  <a:srgbClr val="3C3C3C"/>
                </a:solidFill>
                <a:latin typeface="Segoe UI"/>
                <a:cs typeface="Segoe UI"/>
              </a:rPr>
              <a:t>Trois autres</a:t>
            </a:r>
            <a:endParaRPr lang="en-FR" sz="19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7A4B51-024E-2146-9BDF-42ED737B7725}"/>
              </a:ext>
            </a:extLst>
          </p:cNvPr>
          <p:cNvSpPr txBox="1"/>
          <p:nvPr/>
        </p:nvSpPr>
        <p:spPr>
          <a:xfrm>
            <a:off x="5588000" y="3505200"/>
            <a:ext cx="76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1900">
                <a:solidFill>
                  <a:srgbClr val="3C3C3C"/>
                </a:solidFill>
                <a:latin typeface="Segoe UI"/>
                <a:cs typeface="Segoe UI"/>
              </a:rPr>
              <a:t>≤ 1,0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FC9218-3F05-EA45-A795-6F9110449559}"/>
              </a:ext>
            </a:extLst>
          </p:cNvPr>
          <p:cNvSpPr/>
          <p:nvPr/>
        </p:nvSpPr>
        <p:spPr>
          <a:xfrm>
            <a:off x="914400" y="4165600"/>
            <a:ext cx="10414000" cy="1270000"/>
          </a:xfrm>
          <a:prstGeom prst="rect">
            <a:avLst/>
          </a:prstGeom>
          <a:solidFill>
            <a:srgbClr val="F2F3F5"/>
          </a:solidFill>
          <a:ln w="12700" cap="flat" cmpd="sng" algn="ctr">
            <a:solidFill>
              <a:srgbClr val="C7CD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39590C-5092-734A-8940-2A678889DB05}"/>
              </a:ext>
            </a:extLst>
          </p:cNvPr>
          <p:cNvSpPr txBox="1"/>
          <p:nvPr/>
        </p:nvSpPr>
        <p:spPr>
          <a:xfrm>
            <a:off x="1270000" y="4419600"/>
            <a:ext cx="7366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1A1A1A"/>
                </a:solidFill>
                <a:latin typeface="Segoe UI"/>
                <a:cs typeface="Segoe UI"/>
              </a:rPr>
              <a:t>2017 — un transporteur européen, non visé, non piraté, installe de bonne foi la mise à jour d'un fournisseur compromis.</a:t>
            </a:r>
            <a:endParaRPr lang="en-FR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2DB7E8-F9AD-1E4C-9990-371CA609D43F}"/>
              </a:ext>
            </a:extLst>
          </p:cNvPr>
          <p:cNvSpPr txBox="1"/>
          <p:nvPr/>
        </p:nvSpPr>
        <p:spPr>
          <a:xfrm>
            <a:off x="8890000" y="4419600"/>
            <a:ext cx="2133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b="1">
                <a:solidFill>
                  <a:srgbClr val="1F4E79"/>
                </a:solidFill>
                <a:latin typeface="Segoe UI"/>
                <a:cs typeface="Segoe UI"/>
              </a:rPr>
              <a:t>250–300 M$
en un trimestre</a:t>
            </a:r>
            <a:endParaRPr lang="en-FR" sz="20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019669-50A4-8C4C-B698-9F52724B0049}"/>
              </a:ext>
            </a:extLst>
          </p:cNvPr>
          <p:cNvSpPr txBox="1"/>
          <p:nvPr/>
        </p:nvSpPr>
        <p:spPr>
          <a:xfrm>
            <a:off x="914400" y="56388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>
                <a:solidFill>
                  <a:srgbClr val="3C3C3C"/>
                </a:solidFill>
                <a:latin typeface="Segoe UI"/>
                <a:cs typeface="Segoe UI"/>
              </a:rPr>
              <a:t>Preuve : S6-06-ecosystem-criticites-5PP-2-selected.jpg · en annexe A4, la carte de dangerosité</a:t>
            </a:r>
            <a:endParaRPr lang="en-FR" sz="1500">
              <a:solidFill>
                <a:srgbClr val="3C3C3C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81686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707172-664B-B546-8549-F5A9C215FA02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200" b="1">
                <a:solidFill>
                  <a:srgbClr val="1F4E79"/>
                </a:solidFill>
                <a:latin typeface="Segoe UI"/>
                <a:cs typeface="Segoe UI"/>
              </a:rPr>
              <a:t>La règle que le groupe se donne</a:t>
            </a:r>
            <a:endParaRPr lang="en-FR" sz="32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FAAFDF-0A7A-CC48-B098-64049034169A}"/>
              </a:ext>
            </a:extLst>
          </p:cNvPr>
          <p:cNvSpPr/>
          <p:nvPr/>
        </p:nvSpPr>
        <p:spPr>
          <a:xfrm>
            <a:off x="914400" y="11938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E337D-F6FA-C443-A03B-03D746B9CA27}"/>
              </a:ext>
            </a:extLst>
          </p:cNvPr>
          <p:cNvSpPr txBox="1"/>
          <p:nvPr/>
        </p:nvSpPr>
        <p:spPr>
          <a:xfrm>
            <a:off x="914400" y="13716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>
                <a:solidFill>
                  <a:srgbClr val="1A1A1A"/>
                </a:solidFill>
                <a:latin typeface="Segoe UI"/>
                <a:cs typeface="Segoe UI"/>
              </a:rPr>
              <a:t>Aucun contrat donnant accès à un actif critique n'est signé ni renouvelé sans trois exigences :</a:t>
            </a:r>
            <a:endParaRPr lang="en-FR" sz="20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692621-B8E9-E74E-A45F-82E5EDC8D6D5}"/>
              </a:ext>
            </a:extLst>
          </p:cNvPr>
          <p:cNvSpPr/>
          <p:nvPr/>
        </p:nvSpPr>
        <p:spPr>
          <a:xfrm>
            <a:off x="965200" y="2006600"/>
            <a:ext cx="508000" cy="508000"/>
          </a:xfrm>
          <a:prstGeom prst="ellipse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FR" sz="20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2322D-5100-0A4A-847F-CAE8D1FDB628}"/>
              </a:ext>
            </a:extLst>
          </p:cNvPr>
          <p:cNvSpPr txBox="1"/>
          <p:nvPr/>
        </p:nvSpPr>
        <p:spPr>
          <a:xfrm>
            <a:off x="1727200" y="2082800"/>
            <a:ext cx="9601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200">
                <a:solidFill>
                  <a:srgbClr val="1A1A1A"/>
                </a:solidFill>
                <a:latin typeface="Segoe UI"/>
                <a:cs typeface="Segoe UI"/>
              </a:rPr>
              <a:t>journalisation par utilisateur nommé — savoir qui a fait quoi</a:t>
            </a:r>
            <a:endParaRPr lang="en-FR" sz="22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64C3F5-822A-A042-8AB7-48D62CFE8222}"/>
              </a:ext>
            </a:extLst>
          </p:cNvPr>
          <p:cNvSpPr/>
          <p:nvPr/>
        </p:nvSpPr>
        <p:spPr>
          <a:xfrm>
            <a:off x="965200" y="2743200"/>
            <a:ext cx="508000" cy="508000"/>
          </a:xfrm>
          <a:prstGeom prst="ellipse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FR" sz="20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B12CC-8EF6-6C4B-A858-4959BF5F72DA}"/>
              </a:ext>
            </a:extLst>
          </p:cNvPr>
          <p:cNvSpPr txBox="1"/>
          <p:nvPr/>
        </p:nvSpPr>
        <p:spPr>
          <a:xfrm>
            <a:off x="1727200" y="2819400"/>
            <a:ext cx="9601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200">
                <a:solidFill>
                  <a:srgbClr val="1A1A1A"/>
                </a:solidFill>
                <a:latin typeface="Segoe UI"/>
                <a:cs typeface="Segoe UI"/>
              </a:rPr>
              <a:t>notification sous 24 heures d'une compromission chez le prestataire</a:t>
            </a:r>
            <a:endParaRPr lang="en-FR" sz="22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00C311-0E6C-AA4E-A290-BF091227CBC4}"/>
              </a:ext>
            </a:extLst>
          </p:cNvPr>
          <p:cNvSpPr/>
          <p:nvPr/>
        </p:nvSpPr>
        <p:spPr>
          <a:xfrm>
            <a:off x="965200" y="3479800"/>
            <a:ext cx="508000" cy="508000"/>
          </a:xfrm>
          <a:prstGeom prst="ellipse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FR" sz="20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1EB369-CB9D-DA4A-93D6-2CE1B053F1B3}"/>
              </a:ext>
            </a:extLst>
          </p:cNvPr>
          <p:cNvSpPr txBox="1"/>
          <p:nvPr/>
        </p:nvSpPr>
        <p:spPr>
          <a:xfrm>
            <a:off x="1727200" y="3556000"/>
            <a:ext cx="9601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200">
                <a:solidFill>
                  <a:srgbClr val="1A1A1A"/>
                </a:solidFill>
                <a:latin typeface="Segoe UI"/>
                <a:cs typeface="Segoe UI"/>
              </a:rPr>
              <a:t>réversibilité — pouvoir partir</a:t>
            </a:r>
            <a:endParaRPr lang="en-FR" sz="22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43774E-C15D-5C46-BA35-3BAC66EEF88B}"/>
              </a:ext>
            </a:extLst>
          </p:cNvPr>
          <p:cNvSpPr txBox="1"/>
          <p:nvPr/>
        </p:nvSpPr>
        <p:spPr>
          <a:xfrm>
            <a:off x="1727200" y="4292600"/>
            <a:ext cx="9601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i="1">
                <a:solidFill>
                  <a:srgbClr val="3C3C3C"/>
                </a:solidFill>
                <a:latin typeface="Segoe UI"/>
                <a:cs typeface="Segoe UI"/>
              </a:rPr>
              <a:t>Opposables par la Direction Juridique AVANT signature.</a:t>
            </a:r>
            <a:endParaRPr lang="en-FR" sz="1900" i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4733BD-7817-554A-8830-B40084C046F5}"/>
              </a:ext>
            </a:extLst>
          </p:cNvPr>
          <p:cNvSpPr/>
          <p:nvPr/>
        </p:nvSpPr>
        <p:spPr>
          <a:xfrm>
            <a:off x="914400" y="4876800"/>
            <a:ext cx="10414000" cy="1016000"/>
          </a:xfrm>
          <a:prstGeom prst="rect">
            <a:avLst/>
          </a:prstGeom>
          <a:solidFill>
            <a:srgbClr val="E8EB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D8B095-4C44-A142-93D3-D3E618B3C321}"/>
              </a:ext>
            </a:extLst>
          </p:cNvPr>
          <p:cNvSpPr txBox="1"/>
          <p:nvPr/>
        </p:nvSpPr>
        <p:spPr>
          <a:xfrm>
            <a:off x="1270000" y="4902200"/>
            <a:ext cx="97028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b="1" dirty="0">
                <a:solidFill>
                  <a:srgbClr val="1F4E79"/>
                </a:solidFill>
                <a:latin typeface="Segoe UI"/>
                <a:cs typeface="Segoe UI"/>
              </a:rPr>
              <a:t>Première application : le </a:t>
            </a:r>
            <a:r>
              <a:rPr lang="en-GB" sz="2000" b="1" dirty="0" err="1">
                <a:solidFill>
                  <a:srgbClr val="1F4E79"/>
                </a:solidFill>
                <a:latin typeface="Segoe UI"/>
                <a:cs typeface="Segoe UI"/>
              </a:rPr>
              <a:t>contrat</a:t>
            </a:r>
            <a:r>
              <a:rPr lang="en-GB" sz="2000" b="1" dirty="0">
                <a:solidFill>
                  <a:srgbClr val="1F4E79"/>
                </a:solidFill>
                <a:latin typeface="Segoe UI"/>
                <a:cs typeface="Segoe UI"/>
              </a:rPr>
              <a:t> de maintenance du </a:t>
            </a:r>
            <a:r>
              <a:rPr lang="en-GB" sz="2000" b="1" dirty="0" err="1">
                <a:solidFill>
                  <a:srgbClr val="1F4E79"/>
                </a:solidFill>
                <a:latin typeface="Segoe UI"/>
                <a:cs typeface="Segoe UI"/>
              </a:rPr>
              <a:t>système</a:t>
            </a:r>
            <a:r>
              <a:rPr lang="en-GB" sz="2000" b="1" dirty="0">
                <a:solidFill>
                  <a:srgbClr val="1F4E79"/>
                </a:solidFill>
                <a:latin typeface="Segoe UI"/>
                <a:cs typeface="Segoe UI"/>
              </a:rPr>
              <a:t> de gestion </a:t>
            </a:r>
            <a:r>
              <a:rPr lang="en-GB" sz="2000" b="1" dirty="0" err="1">
                <a:solidFill>
                  <a:srgbClr val="1F4E79"/>
                </a:solidFill>
                <a:latin typeface="Segoe UI"/>
                <a:cs typeface="Segoe UI"/>
              </a:rPr>
              <a:t>d'entrepôt</a:t>
            </a:r>
            <a:r>
              <a:rPr lang="en-GB" sz="2000" b="1" dirty="0">
                <a:solidFill>
                  <a:srgbClr val="1F4E79"/>
                </a:solidFill>
                <a:latin typeface="Segoe UI"/>
                <a:cs typeface="Segoe UI"/>
              </a:rPr>
              <a:t>, à </a:t>
            </a:r>
            <a:r>
              <a:rPr lang="en-GB" sz="2000" b="1" dirty="0" err="1">
                <a:solidFill>
                  <a:srgbClr val="1F4E79"/>
                </a:solidFill>
                <a:latin typeface="Segoe UI"/>
                <a:cs typeface="Segoe UI"/>
              </a:rPr>
              <a:t>renouvellement</a:t>
            </a:r>
            <a:r>
              <a:rPr lang="en-GB" sz="2000" b="1" dirty="0">
                <a:solidFill>
                  <a:srgbClr val="1F4E79"/>
                </a:solidFill>
                <a:latin typeface="Segoe UI"/>
                <a:cs typeface="Segoe UI"/>
              </a:rPr>
              <a:t> </a:t>
            </a:r>
            <a:r>
              <a:rPr lang="en-GB" sz="2000" b="1" dirty="0" err="1">
                <a:solidFill>
                  <a:srgbClr val="1F4E79"/>
                </a:solidFill>
                <a:latin typeface="Segoe UI"/>
                <a:cs typeface="Segoe UI"/>
              </a:rPr>
              <a:t>en</a:t>
            </a:r>
            <a:r>
              <a:rPr lang="en-GB" sz="2000" b="1" dirty="0">
                <a:solidFill>
                  <a:srgbClr val="1F4E79"/>
                </a:solidFill>
                <a:latin typeface="Segoe UI"/>
                <a:cs typeface="Segoe UI"/>
              </a:rPr>
              <a:t> </a:t>
            </a:r>
            <a:r>
              <a:rPr lang="en-GB" sz="2000" b="1" dirty="0" err="1">
                <a:solidFill>
                  <a:srgbClr val="1F4E79"/>
                </a:solidFill>
                <a:latin typeface="Segoe UI"/>
                <a:cs typeface="Segoe UI"/>
              </a:rPr>
              <a:t>novembre</a:t>
            </a:r>
            <a:r>
              <a:rPr lang="en-GB" sz="2000" b="1" dirty="0">
                <a:solidFill>
                  <a:srgbClr val="1F4E79"/>
                </a:solidFill>
                <a:latin typeface="Segoe UI"/>
                <a:cs typeface="Segoe UI"/>
              </a:rPr>
              <a:t> 2026 — il </a:t>
            </a:r>
            <a:r>
              <a:rPr lang="en-GB" sz="2000" b="1" dirty="0" err="1">
                <a:solidFill>
                  <a:srgbClr val="1F4E79"/>
                </a:solidFill>
                <a:latin typeface="Segoe UI"/>
                <a:cs typeface="Segoe UI"/>
              </a:rPr>
              <a:t>n'en</a:t>
            </a:r>
            <a:r>
              <a:rPr lang="en-GB" sz="2000" b="1" dirty="0">
                <a:solidFill>
                  <a:srgbClr val="1F4E79"/>
                </a:solidFill>
                <a:latin typeface="Segoe UI"/>
                <a:cs typeface="Segoe UI"/>
              </a:rPr>
              <a:t> </a:t>
            </a:r>
            <a:r>
              <a:rPr lang="en-GB" sz="2000" b="1" dirty="0" err="1">
                <a:solidFill>
                  <a:srgbClr val="1F4E79"/>
                </a:solidFill>
                <a:latin typeface="Segoe UI"/>
                <a:cs typeface="Segoe UI"/>
              </a:rPr>
              <a:t>porte</a:t>
            </a:r>
            <a:r>
              <a:rPr lang="en-GB" sz="2000" b="1" dirty="0">
                <a:solidFill>
                  <a:srgbClr val="1F4E79"/>
                </a:solidFill>
                <a:latin typeface="Segoe UI"/>
                <a:cs typeface="Segoe UI"/>
              </a:rPr>
              <a:t> </a:t>
            </a:r>
            <a:r>
              <a:rPr lang="en-GB" sz="2000" b="1" dirty="0" err="1">
                <a:solidFill>
                  <a:srgbClr val="1F4E79"/>
                </a:solidFill>
                <a:latin typeface="Segoe UI"/>
                <a:cs typeface="Segoe UI"/>
              </a:rPr>
              <a:t>aujourd'hui</a:t>
            </a:r>
            <a:r>
              <a:rPr lang="en-GB" sz="2000" b="1" dirty="0">
                <a:solidFill>
                  <a:srgbClr val="1F4E79"/>
                </a:solidFill>
                <a:latin typeface="Segoe UI"/>
                <a:cs typeface="Segoe UI"/>
              </a:rPr>
              <a:t> </a:t>
            </a:r>
            <a:r>
              <a:rPr lang="en-GB" sz="2000" b="1" dirty="0" err="1">
                <a:solidFill>
                  <a:srgbClr val="1F4E79"/>
                </a:solidFill>
                <a:latin typeface="Segoe UI"/>
                <a:cs typeface="Segoe UI"/>
              </a:rPr>
              <a:t>aucune</a:t>
            </a:r>
            <a:r>
              <a:rPr lang="en-GB" sz="2000" b="1" dirty="0">
                <a:solidFill>
                  <a:srgbClr val="1F4E79"/>
                </a:solidFill>
                <a:latin typeface="Segoe UI"/>
                <a:cs typeface="Segoe UI"/>
              </a:rPr>
              <a:t> des trois.</a:t>
            </a:r>
            <a:endParaRPr lang="en-FR" sz="2000" b="1" dirty="0">
              <a:solidFill>
                <a:srgbClr val="1F4E79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606520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BD78AA-1CB0-D94E-9874-127B3AA1D256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200" b="1">
                <a:solidFill>
                  <a:srgbClr val="1F4E79"/>
                </a:solidFill>
                <a:latin typeface="Segoe UI"/>
                <a:cs typeface="Segoe UI"/>
              </a:rPr>
              <a:t>Le registre après traitement</a:t>
            </a:r>
            <a:endParaRPr lang="en-FR" sz="32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B74797-04A1-7D43-801F-E4461E0D0211}"/>
              </a:ext>
            </a:extLst>
          </p:cNvPr>
          <p:cNvSpPr/>
          <p:nvPr/>
        </p:nvSpPr>
        <p:spPr>
          <a:xfrm>
            <a:off x="914400" y="11938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08B361-B078-5744-87E5-F7F9D3A39747}"/>
              </a:ext>
            </a:extLst>
          </p:cNvPr>
          <p:cNvSpPr txBox="1"/>
          <p:nvPr/>
        </p:nvSpPr>
        <p:spPr>
          <a:xfrm>
            <a:off x="914400" y="13462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8A8F98"/>
                </a:solidFill>
                <a:latin typeface="Segoe UI"/>
                <a:cs typeface="Segoe UI"/>
              </a:rPr>
              <a:t>Huit scénarios au registre. Après traitement, aucun ne reste au-dessus de la ligne.</a:t>
            </a:r>
            <a:endParaRPr lang="en-FR">
              <a:solidFill>
                <a:srgbClr val="8A8F98"/>
              </a:solidFill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896AEF-6CFD-DF4B-BF3E-FF0E05333286}"/>
              </a:ext>
            </a:extLst>
          </p:cNvPr>
          <p:cNvSpPr txBox="1"/>
          <p:nvPr/>
        </p:nvSpPr>
        <p:spPr>
          <a:xfrm>
            <a:off x="6604000" y="2159000"/>
            <a:ext cx="4724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200" b="1">
                <a:solidFill>
                  <a:srgbClr val="1F4E79"/>
                </a:solidFill>
                <a:latin typeface="Segoe UI"/>
                <a:cs typeface="Segoe UI"/>
              </a:rPr>
              <a:t>Nous ne fermons aucun risque.</a:t>
            </a:r>
            <a:endParaRPr lang="en-FR" sz="22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2D8594-A029-0046-80F2-6E2CEBBF035B}"/>
              </a:ext>
            </a:extLst>
          </p:cNvPr>
          <p:cNvSpPr txBox="1"/>
          <p:nvPr/>
        </p:nvSpPr>
        <p:spPr>
          <a:xfrm>
            <a:off x="6604000" y="2667000"/>
            <a:ext cx="47244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>
                <a:solidFill>
                  <a:srgbClr val="1A1A1A"/>
                </a:solidFill>
                <a:latin typeface="Segoe UI"/>
                <a:cs typeface="Segoe UI"/>
              </a:rPr>
              <a:t>Nous les faisons tous passer d'inacceptable à
tolérable-formalisé : daté, surveillé, confié à un
propriétaire nommé.</a:t>
            </a:r>
            <a:endParaRPr lang="en-FR" sz="17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A9F5EF-B931-9142-8D3F-D0D8815B4CD8}"/>
              </a:ext>
            </a:extLst>
          </p:cNvPr>
          <p:cNvSpPr/>
          <p:nvPr/>
        </p:nvSpPr>
        <p:spPr>
          <a:xfrm>
            <a:off x="6604000" y="3962400"/>
            <a:ext cx="4724400" cy="889000"/>
          </a:xfrm>
          <a:prstGeom prst="rect">
            <a:avLst/>
          </a:prstGeom>
          <a:solidFill>
            <a:srgbClr val="E8EB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C52BD-F85E-EA4E-AA79-8561FFD6DD0B}"/>
              </a:ext>
            </a:extLst>
          </p:cNvPr>
          <p:cNvSpPr txBox="1"/>
          <p:nvPr/>
        </p:nvSpPr>
        <p:spPr>
          <a:xfrm>
            <a:off x="6908800" y="4140200"/>
            <a:ext cx="419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b="1" dirty="0">
                <a:solidFill>
                  <a:srgbClr val="1F4E79"/>
                </a:solidFill>
                <a:latin typeface="Segoe UI"/>
                <a:cs typeface="Segoe UI"/>
              </a:rPr>
              <a:t>Sept fiches </a:t>
            </a:r>
            <a:r>
              <a:rPr lang="en-GB" sz="2000" b="1" dirty="0" err="1">
                <a:solidFill>
                  <a:srgbClr val="1F4E79"/>
                </a:solidFill>
                <a:latin typeface="Segoe UI"/>
                <a:cs typeface="Segoe UI"/>
              </a:rPr>
              <a:t>d'acceptation</a:t>
            </a:r>
            <a:r>
              <a:rPr lang="en-GB" sz="2000" b="1" dirty="0">
                <a:solidFill>
                  <a:srgbClr val="1F4E79"/>
                </a:solidFill>
                <a:latin typeface="Segoe UI"/>
                <a:cs typeface="Segoe UI"/>
              </a:rPr>
              <a:t>.
</a:t>
            </a:r>
            <a:r>
              <a:rPr lang="en-GB" sz="2000" b="1" dirty="0" err="1">
                <a:solidFill>
                  <a:srgbClr val="1F4E79"/>
                </a:solidFill>
                <a:latin typeface="Segoe UI"/>
                <a:cs typeface="Segoe UI"/>
              </a:rPr>
              <a:t>Zéro</a:t>
            </a:r>
            <a:r>
              <a:rPr lang="en-GB" sz="2000" b="1" dirty="0">
                <a:solidFill>
                  <a:srgbClr val="1F4E79"/>
                </a:solidFill>
                <a:latin typeface="Segoe UI"/>
                <a:cs typeface="Segoe UI"/>
              </a:rPr>
              <a:t> </a:t>
            </a:r>
            <a:r>
              <a:rPr lang="en-GB" sz="2000" b="1" dirty="0" err="1">
                <a:solidFill>
                  <a:srgbClr val="1F4E79"/>
                </a:solidFill>
                <a:latin typeface="Segoe UI"/>
                <a:cs typeface="Segoe UI"/>
              </a:rPr>
              <a:t>dérogation</a:t>
            </a:r>
            <a:r>
              <a:rPr lang="en-GB" sz="2000" b="1" dirty="0">
                <a:solidFill>
                  <a:srgbClr val="1F4E79"/>
                </a:solidFill>
                <a:latin typeface="Segoe UI"/>
                <a:cs typeface="Segoe UI"/>
              </a:rPr>
              <a:t>.</a:t>
            </a:r>
            <a:endParaRPr lang="en-FR" sz="2000" b="1" dirty="0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8C3747-85C6-8049-8C15-FC942D495F8C}"/>
              </a:ext>
            </a:extLst>
          </p:cNvPr>
          <p:cNvSpPr txBox="1"/>
          <p:nvPr/>
        </p:nvSpPr>
        <p:spPr>
          <a:xfrm>
            <a:off x="914400" y="57150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400">
                <a:solidFill>
                  <a:srgbClr val="8A8F98"/>
                </a:solidFill>
                <a:latin typeface="Segoe UI"/>
                <a:cs typeface="Segoe UI"/>
              </a:rPr>
              <a:t>Preuve : S7-05-ex4-residuels-cotes.jpg · S7-05-ex3-controle-qualite-au-vert.jpg</a:t>
            </a:r>
            <a:endParaRPr lang="en-FR" sz="1400">
              <a:solidFill>
                <a:srgbClr val="8A8F98"/>
              </a:solidFill>
              <a:latin typeface="Segoe UI"/>
              <a:cs typeface="Segoe UI"/>
            </a:endParaRPr>
          </a:p>
        </p:txBody>
      </p:sp>
      <p:graphicFrame>
        <p:nvGraphicFramePr>
          <p:cNvPr id="10" name="Chart"/>
          <p:cNvGraphicFramePr/>
          <p:nvPr/>
        </p:nvGraphicFramePr>
        <p:xfrm>
          <a:off x="914400" y="1981200"/>
          <a:ext cx="53340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02152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30D18C4A-1D33-244E-9D47-B18352F23594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200" b="1">
                <a:solidFill>
                  <a:srgbClr val="1F4E79"/>
                </a:solidFill>
                <a:latin typeface="Segoe UI"/>
                <a:cs typeface="Segoe UI"/>
              </a:rPr>
              <a:t>Treize mesures, organisées par décision</a:t>
            </a:r>
            <a:endParaRPr lang="en-FR" sz="32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45B6BE-F299-0745-8085-2CE7C7BC0E2E}"/>
              </a:ext>
            </a:extLst>
          </p:cNvPr>
          <p:cNvSpPr/>
          <p:nvPr/>
        </p:nvSpPr>
        <p:spPr>
          <a:xfrm>
            <a:off x="914400" y="11938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14D050-3653-EF45-ABBA-DE4CD427C4C9}"/>
              </a:ext>
            </a:extLst>
          </p:cNvPr>
          <p:cNvSpPr txBox="1"/>
          <p:nvPr/>
        </p:nvSpPr>
        <p:spPr>
          <a:xfrm>
            <a:off x="914400" y="13462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3C3C3C"/>
                </a:solidFill>
                <a:latin typeface="Segoe UI"/>
                <a:cs typeface="Segoe UI"/>
              </a:rPr>
              <a:t>Rangées par décision — pas par scénario. Vous ne signez pas un scénario.</a:t>
            </a:r>
            <a:endParaRPr lang="en-FR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3AACB4-CB36-FF4B-9FB2-0BC1E737DE58}"/>
              </a:ext>
            </a:extLst>
          </p:cNvPr>
          <p:cNvSpPr/>
          <p:nvPr/>
        </p:nvSpPr>
        <p:spPr>
          <a:xfrm>
            <a:off x="914400" y="1879600"/>
            <a:ext cx="5029200" cy="1854200"/>
          </a:xfrm>
          <a:prstGeom prst="rect">
            <a:avLst/>
          </a:prstGeom>
          <a:solidFill>
            <a:srgbClr val="E8EB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5E4CFD-8065-7A40-8F56-8BF5A9A79A57}"/>
              </a:ext>
            </a:extLst>
          </p:cNvPr>
          <p:cNvSpPr txBox="1"/>
          <p:nvPr/>
        </p:nvSpPr>
        <p:spPr>
          <a:xfrm>
            <a:off x="1219200" y="2032000"/>
            <a:ext cx="7112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4000" b="1">
                <a:solidFill>
                  <a:srgbClr val="1F4E79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6E1F0F-66C6-D248-BDE8-324B70AD2629}"/>
              </a:ext>
            </a:extLst>
          </p:cNvPr>
          <p:cNvSpPr txBox="1"/>
          <p:nvPr/>
        </p:nvSpPr>
        <p:spPr>
          <a:xfrm>
            <a:off x="1981200" y="2184400"/>
            <a:ext cx="3657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b="1">
                <a:solidFill>
                  <a:srgbClr val="1F4E79"/>
                </a:solidFill>
                <a:latin typeface="Segoe UI"/>
                <a:cs typeface="Segoe UI"/>
              </a:rPr>
              <a:t>engagent la Direction</a:t>
            </a:r>
            <a:endParaRPr lang="en-FR" sz="20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FFD4CB-8122-8141-98D3-6BED692118FD}"/>
              </a:ext>
            </a:extLst>
          </p:cNvPr>
          <p:cNvSpPr txBox="1"/>
          <p:nvPr/>
        </p:nvSpPr>
        <p:spPr>
          <a:xfrm>
            <a:off x="1219200" y="2768600"/>
            <a:ext cx="44196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>
                <a:solidFill>
                  <a:srgbClr val="1A1A1A"/>
                </a:solidFill>
                <a:latin typeface="Segoe UI"/>
                <a:cs typeface="Segoe UI"/>
              </a:rPr>
              <a:t>deux avenants contractuels · une acceptation signée · une acceptation simple · le pilotage du projet Santé</a:t>
            </a:r>
            <a:endParaRPr lang="en-FR" sz="16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D2BEB4-0A01-8A4A-BDA6-FDB159829C0D}"/>
              </a:ext>
            </a:extLst>
          </p:cNvPr>
          <p:cNvSpPr/>
          <p:nvPr/>
        </p:nvSpPr>
        <p:spPr>
          <a:xfrm>
            <a:off x="6299200" y="1879600"/>
            <a:ext cx="5029200" cy="1854200"/>
          </a:xfrm>
          <a:prstGeom prst="rect">
            <a:avLst/>
          </a:prstGeom>
          <a:solidFill>
            <a:srgbClr val="F2F3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7287CE-5DEE-DF48-8476-845B86BCEB8A}"/>
              </a:ext>
            </a:extLst>
          </p:cNvPr>
          <p:cNvSpPr txBox="1"/>
          <p:nvPr/>
        </p:nvSpPr>
        <p:spPr>
          <a:xfrm>
            <a:off x="6604000" y="2032000"/>
            <a:ext cx="7112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4000" b="1">
                <a:solidFill>
                  <a:srgbClr val="3C3C3C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34B503-6794-E84C-B425-5B9DEAA52A90}"/>
              </a:ext>
            </a:extLst>
          </p:cNvPr>
          <p:cNvSpPr txBox="1"/>
          <p:nvPr/>
        </p:nvSpPr>
        <p:spPr>
          <a:xfrm>
            <a:off x="7366000" y="2184400"/>
            <a:ext cx="3657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b="1">
                <a:solidFill>
                  <a:srgbClr val="3C3C3C"/>
                </a:solidFill>
                <a:latin typeface="Segoe UI"/>
                <a:cs typeface="Segoe UI"/>
              </a:rPr>
              <a:t>relèvent de l'exécution</a:t>
            </a:r>
            <a:endParaRPr lang="en-FR" sz="2000" b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D7EB16-8837-344A-AE19-1A92A5BDF293}"/>
              </a:ext>
            </a:extLst>
          </p:cNvPr>
          <p:cNvSpPr txBox="1"/>
          <p:nvPr/>
        </p:nvSpPr>
        <p:spPr>
          <a:xfrm>
            <a:off x="6604000" y="2768600"/>
            <a:ext cx="44196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>
                <a:solidFill>
                  <a:srgbClr val="1A1A1A"/>
                </a:solidFill>
                <a:latin typeface="Segoe UI"/>
                <a:cs typeface="Segoe UI"/>
              </a:rPr>
              <a:t>dont DEUX transversales, qui traitent plusieurs scénarios à la fois</a:t>
            </a:r>
            <a:endParaRPr lang="en-FR" sz="16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24C363-EF1F-114F-9E44-79778D65EDC5}"/>
              </a:ext>
            </a:extLst>
          </p:cNvPr>
          <p:cNvSpPr/>
          <p:nvPr/>
        </p:nvSpPr>
        <p:spPr>
          <a:xfrm>
            <a:off x="914400" y="3962400"/>
            <a:ext cx="10414000" cy="13462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F4E7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3CF658-83CE-A54C-9DC2-C273895E20FB}"/>
              </a:ext>
            </a:extLst>
          </p:cNvPr>
          <p:cNvSpPr txBox="1"/>
          <p:nvPr/>
        </p:nvSpPr>
        <p:spPr>
          <a:xfrm>
            <a:off x="1219200" y="4114800"/>
            <a:ext cx="9804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b="1">
                <a:solidFill>
                  <a:srgbClr val="3C3C3C"/>
                </a:solidFill>
                <a:latin typeface="Segoe UI"/>
                <a:cs typeface="Segoe UI"/>
              </a:rPr>
              <a:t>Les deux mesures qui rapportent le plus par euro engagé</a:t>
            </a:r>
            <a:endParaRPr lang="en-FR" sz="1600" b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8AC346-2304-9342-A9F3-7A664FEF944E}"/>
              </a:ext>
            </a:extLst>
          </p:cNvPr>
          <p:cNvSpPr txBox="1"/>
          <p:nvPr/>
        </p:nvSpPr>
        <p:spPr>
          <a:xfrm>
            <a:off x="1219200" y="4470400"/>
            <a:ext cx="98044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b="1">
                <a:solidFill>
                  <a:srgbClr val="1F4E79"/>
                </a:solidFill>
                <a:latin typeface="Segoe UI"/>
                <a:cs typeface="Segoe UI"/>
              </a:rPr>
              <a:t>→   comptes nommés et authentification forte pour le prestataire
→   séparation des réseaux bureautique et industriel des six sites</a:t>
            </a:r>
            <a:endParaRPr lang="en-FR" sz="19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8FEB7A-6EA5-AE47-9183-67B600C40868}"/>
              </a:ext>
            </a:extLst>
          </p:cNvPr>
          <p:cNvSpPr txBox="1"/>
          <p:nvPr/>
        </p:nvSpPr>
        <p:spPr>
          <a:xfrm>
            <a:off x="914400" y="54610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i="1">
                <a:solidFill>
                  <a:srgbClr val="1A1A1A"/>
                </a:solidFill>
                <a:latin typeface="Segoe UI"/>
                <a:cs typeface="Segoe UI"/>
              </a:rPr>
              <a:t>Chaque mesure a un porteur nommé et une échéance — la plus proche en novembre 2026.</a:t>
            </a:r>
            <a:endParaRPr lang="en-FR" sz="1600" i="1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6C32DC-9E6A-BA49-9A0A-CC3B4F2F6251}"/>
              </a:ext>
            </a:extLst>
          </p:cNvPr>
          <p:cNvSpPr txBox="1"/>
          <p:nvPr/>
        </p:nvSpPr>
        <p:spPr>
          <a:xfrm>
            <a:off x="914400" y="57912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>
                <a:solidFill>
                  <a:srgbClr val="3C3C3C"/>
                </a:solidFill>
                <a:latin typeface="Segoe UI"/>
                <a:cs typeface="Segoe UI"/>
              </a:rPr>
              <a:t>Preuve : S7-06-mesures-appliquees-couts-build-run.jpg · détail en annexe A6</a:t>
            </a:r>
            <a:endParaRPr lang="en-FR" sz="1500">
              <a:solidFill>
                <a:srgbClr val="3C3C3C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64407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C02E4BC-EFA9-2849-92DC-C5D34B84AEA2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200" b="1">
                <a:solidFill>
                  <a:srgbClr val="1F4E79"/>
                </a:solidFill>
                <a:latin typeface="Segoe UI"/>
                <a:cs typeface="Segoe UI"/>
              </a:rPr>
              <a:t>L'arbitrage — ce que cela coûte, contre quoi</a:t>
            </a:r>
            <a:endParaRPr lang="en-FR" sz="32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C08FF3-179B-D74F-A5C1-288C127AE40C}"/>
              </a:ext>
            </a:extLst>
          </p:cNvPr>
          <p:cNvSpPr/>
          <p:nvPr/>
        </p:nvSpPr>
        <p:spPr>
          <a:xfrm>
            <a:off x="914400" y="11938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542AE0-7562-7F48-9AA2-8A3F76AE609E}"/>
              </a:ext>
            </a:extLst>
          </p:cNvPr>
          <p:cNvSpPr/>
          <p:nvPr/>
        </p:nvSpPr>
        <p:spPr>
          <a:xfrm>
            <a:off x="6083300" y="1651000"/>
            <a:ext cx="25400" cy="3175000"/>
          </a:xfrm>
          <a:prstGeom prst="rect">
            <a:avLst/>
          </a:prstGeom>
          <a:solidFill>
            <a:srgbClr val="C7CD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1D248E-560E-3C4F-B6C2-4275BF4F2D37}"/>
              </a:ext>
            </a:extLst>
          </p:cNvPr>
          <p:cNvSpPr txBox="1"/>
          <p:nvPr/>
        </p:nvSpPr>
        <p:spPr>
          <a:xfrm>
            <a:off x="914400" y="17018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 b="1">
                <a:solidFill>
                  <a:srgbClr val="3C3C3C"/>
                </a:solidFill>
                <a:latin typeface="Segoe UI"/>
                <a:cs typeface="Segoe UI"/>
              </a:rPr>
              <a:t>CE QUE NOUS DEMANDONS</a:t>
            </a:r>
            <a:endParaRPr lang="en-FR" sz="1700" b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DE3434-B070-2649-B3BE-0B63593A50E3}"/>
              </a:ext>
            </a:extLst>
          </p:cNvPr>
          <p:cNvSpPr txBox="1"/>
          <p:nvPr/>
        </p:nvSpPr>
        <p:spPr>
          <a:xfrm>
            <a:off x="914400" y="2133600"/>
            <a:ext cx="482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4400" b="1">
                <a:solidFill>
                  <a:srgbClr val="1F4E79"/>
                </a:solidFill>
                <a:latin typeface="Segoe UI"/>
                <a:cs typeface="Segoe UI"/>
              </a:rPr>
              <a:t>82 000 € / an</a:t>
            </a:r>
            <a:endParaRPr lang="en-FR" sz="44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D2E1AB-F39B-DC41-8528-253761464815}"/>
              </a:ext>
            </a:extLst>
          </p:cNvPr>
          <p:cNvSpPr txBox="1"/>
          <p:nvPr/>
        </p:nvSpPr>
        <p:spPr>
          <a:xfrm>
            <a:off x="914400" y="30226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200">
                <a:solidFill>
                  <a:srgbClr val="1A1A1A"/>
                </a:solidFill>
                <a:latin typeface="Segoe UI"/>
                <a:cs typeface="Segoe UI"/>
              </a:rPr>
              <a:t>13 mesures</a:t>
            </a:r>
            <a:endParaRPr lang="en-FR" sz="22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CF11AB-118B-2E48-AB6C-768C3963A286}"/>
              </a:ext>
            </a:extLst>
          </p:cNvPr>
          <p:cNvSpPr txBox="1"/>
          <p:nvPr/>
        </p:nvSpPr>
        <p:spPr>
          <a:xfrm>
            <a:off x="914400" y="35306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i="1">
                <a:solidFill>
                  <a:srgbClr val="3C3C3C"/>
                </a:solidFill>
                <a:latin typeface="Segoe UI"/>
                <a:cs typeface="Segoe UI"/>
              </a:rPr>
              <a:t>certain · annuel · borné</a:t>
            </a:r>
            <a:endParaRPr lang="en-FR" sz="1900" i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48A59B-5DF1-D845-A811-54DA281429E3}"/>
              </a:ext>
            </a:extLst>
          </p:cNvPr>
          <p:cNvSpPr txBox="1"/>
          <p:nvPr/>
        </p:nvSpPr>
        <p:spPr>
          <a:xfrm>
            <a:off x="914400" y="4191000"/>
            <a:ext cx="482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b="1">
                <a:solidFill>
                  <a:srgbClr val="1F4E79"/>
                </a:solidFill>
                <a:latin typeface="Segoe UI"/>
                <a:cs typeface="Segoe UI"/>
              </a:rPr>
              <a:t>Le plan complet coûte moins de sept jours d'arrêt.</a:t>
            </a:r>
            <a:endParaRPr lang="en-FR" sz="19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A25259-FC1F-414F-8BE2-8674E2135F19}"/>
              </a:ext>
            </a:extLst>
          </p:cNvPr>
          <p:cNvSpPr txBox="1"/>
          <p:nvPr/>
        </p:nvSpPr>
        <p:spPr>
          <a:xfrm>
            <a:off x="6502400" y="17018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 b="1">
                <a:solidFill>
                  <a:srgbClr val="3C3C3C"/>
                </a:solidFill>
                <a:latin typeface="Segoe UI"/>
                <a:cs typeface="Segoe UI"/>
              </a:rPr>
              <a:t>CE QUE NOUS ÉVITONS</a:t>
            </a:r>
            <a:endParaRPr lang="en-FR" sz="1700" b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EFDE57-0C1F-8D48-A46A-EE4B757F3B0D}"/>
              </a:ext>
            </a:extLst>
          </p:cNvPr>
          <p:cNvSpPr txBox="1"/>
          <p:nvPr/>
        </p:nvSpPr>
        <p:spPr>
          <a:xfrm>
            <a:off x="6502400" y="2133600"/>
            <a:ext cx="482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3200" b="1">
                <a:solidFill>
                  <a:srgbClr val="1A1A1A"/>
                </a:solidFill>
                <a:latin typeface="Segoe UI"/>
                <a:cs typeface="Segoe UI"/>
              </a:rPr>
              <a:t>12 000 €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79B19F-AB14-B341-95F3-0CD376911AE8}"/>
              </a:ext>
            </a:extLst>
          </p:cNvPr>
          <p:cNvSpPr txBox="1"/>
          <p:nvPr/>
        </p:nvSpPr>
        <p:spPr>
          <a:xfrm>
            <a:off x="6502400" y="2692400"/>
            <a:ext cx="4826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>
                <a:solidFill>
                  <a:srgbClr val="3C3C3C"/>
                </a:solidFill>
                <a:latin typeface="Segoe UI"/>
                <a:cs typeface="Segoe UI"/>
              </a:rPr>
              <a:t>une seule journée d'arrêt — le tiers du coût annuel du plan</a:t>
            </a:r>
            <a:endParaRPr lang="en-FR" sz="16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FA9CE3-6CDB-5642-BF64-12E29C1C02CD}"/>
              </a:ext>
            </a:extLst>
          </p:cNvPr>
          <p:cNvSpPr txBox="1"/>
          <p:nvPr/>
        </p:nvSpPr>
        <p:spPr>
          <a:xfrm>
            <a:off x="6502400" y="3581400"/>
            <a:ext cx="482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200" b="1">
                <a:solidFill>
                  <a:srgbClr val="1A1A1A"/>
                </a:solidFill>
                <a:latin typeface="Segoe UI"/>
                <a:cs typeface="Segoe UI"/>
              </a:rPr>
              <a:t>plusieurs M€</a:t>
            </a:r>
            <a:endParaRPr lang="en-FR" sz="3200" b="1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EFA183-CB9C-794F-9AE3-B60F94F2ED32}"/>
              </a:ext>
            </a:extLst>
          </p:cNvPr>
          <p:cNvSpPr txBox="1"/>
          <p:nvPr/>
        </p:nvSpPr>
        <p:spPr>
          <a:xfrm>
            <a:off x="6502400" y="41402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>
                <a:solidFill>
                  <a:srgbClr val="3C3C3C"/>
                </a:solidFill>
                <a:latin typeface="Segoe UI"/>
                <a:cs typeface="Segoe UI"/>
              </a:rPr>
              <a:t>rançongiciel abouti — ordres de grandeur publics</a:t>
            </a:r>
            <a:endParaRPr lang="en-FR" sz="16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FF2158-4A55-8941-891C-629E830D23A7}"/>
              </a:ext>
            </a:extLst>
          </p:cNvPr>
          <p:cNvSpPr txBox="1"/>
          <p:nvPr/>
        </p:nvSpPr>
        <p:spPr>
          <a:xfrm>
            <a:off x="6502400" y="45466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i="1">
                <a:solidFill>
                  <a:srgbClr val="3C3C3C"/>
                </a:solidFill>
                <a:latin typeface="Segoe UI"/>
                <a:cs typeface="Segoe UI"/>
              </a:rPr>
              <a:t>plausible · non borné</a:t>
            </a:r>
            <a:endParaRPr lang="en-FR" sz="1900" i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F802DA-0161-1145-83B2-06E725B45D6F}"/>
              </a:ext>
            </a:extLst>
          </p:cNvPr>
          <p:cNvSpPr/>
          <p:nvPr/>
        </p:nvSpPr>
        <p:spPr>
          <a:xfrm>
            <a:off x="914400" y="5054600"/>
            <a:ext cx="10414000" cy="990600"/>
          </a:xfrm>
          <a:prstGeom prst="rect">
            <a:avLst/>
          </a:prstGeom>
          <a:solidFill>
            <a:srgbClr val="E8EB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6CC55E-E0FB-6540-AEB0-A3D7E089483D}"/>
              </a:ext>
            </a:extLst>
          </p:cNvPr>
          <p:cNvSpPr txBox="1"/>
          <p:nvPr/>
        </p:nvSpPr>
        <p:spPr>
          <a:xfrm>
            <a:off x="1219200" y="5232400"/>
            <a:ext cx="98044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b="1">
                <a:solidFill>
                  <a:srgbClr val="1F4E79"/>
                </a:solidFill>
                <a:latin typeface="Segoe UI"/>
                <a:cs typeface="Segoe UI"/>
              </a:rPr>
              <a:t>Un coût certain, annuel et borné, contre une perte plausible et non bornée — qui se réalise en un jour de plus que le plan n'en coûte en un an.</a:t>
            </a:r>
            <a:endParaRPr lang="en-FR" sz="19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46274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464FB017-9FC9-A34C-B747-DFBB75696AB7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200" b="1">
                <a:solidFill>
                  <a:srgbClr val="1F4E79"/>
                </a:solidFill>
                <a:latin typeface="Segoe UI"/>
                <a:cs typeface="Segoe UI"/>
              </a:rPr>
              <a:t>Ce qui reste ouvert — trois points, trois dates</a:t>
            </a:r>
            <a:endParaRPr lang="en-FR" sz="32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A223C4-B89F-9942-A368-9260C353CAD3}"/>
              </a:ext>
            </a:extLst>
          </p:cNvPr>
          <p:cNvSpPr/>
          <p:nvPr/>
        </p:nvSpPr>
        <p:spPr>
          <a:xfrm>
            <a:off x="914400" y="11938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ED9C32-6A27-0C43-8C82-B5BDE1B8FF5E}"/>
              </a:ext>
            </a:extLst>
          </p:cNvPr>
          <p:cNvSpPr txBox="1"/>
          <p:nvPr/>
        </p:nvSpPr>
        <p:spPr>
          <a:xfrm>
            <a:off x="914400" y="13462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3C3C3C"/>
                </a:solidFill>
                <a:latin typeface="Segoe UI"/>
                <a:cs typeface="Segoe UI"/>
              </a:rPr>
              <a:t>Trois points sans réponse aujourd'hui. Chacun porte une date.</a:t>
            </a:r>
            <a:endParaRPr lang="en-FR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9C7B56-369F-7042-91CC-086C6D591488}"/>
              </a:ext>
            </a:extLst>
          </p:cNvPr>
          <p:cNvSpPr txBox="1"/>
          <p:nvPr/>
        </p:nvSpPr>
        <p:spPr>
          <a:xfrm>
            <a:off x="914400" y="1930400"/>
            <a:ext cx="56896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>
                <a:solidFill>
                  <a:srgbClr val="1A1A1A"/>
                </a:solidFill>
                <a:latin typeface="Segoe UI"/>
                <a:cs typeface="Segoe UI"/>
              </a:rPr>
              <a:t>Combien de temps pour repartir après un arrêt ?</a:t>
            </a:r>
            <a:endParaRPr lang="en-FR" sz="19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EC6D00-21FF-BA4C-A7A3-CFD62A9BED27}"/>
              </a:ext>
            </a:extLst>
          </p:cNvPr>
          <p:cNvSpPr txBox="1"/>
          <p:nvPr/>
        </p:nvSpPr>
        <p:spPr>
          <a:xfrm>
            <a:off x="6858000" y="19304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b="1">
                <a:solidFill>
                  <a:srgbClr val="1F4E79"/>
                </a:solidFill>
                <a:latin typeface="Segoe UI"/>
                <a:cs typeface="Segoe UI"/>
              </a:rPr>
              <a:t>14 novembre 2026</a:t>
            </a:r>
            <a:endParaRPr lang="en-FR" sz="19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669216-23FC-1544-B111-981479584E58}"/>
              </a:ext>
            </a:extLst>
          </p:cNvPr>
          <p:cNvSpPr txBox="1"/>
          <p:nvPr/>
        </p:nvSpPr>
        <p:spPr>
          <a:xfrm>
            <a:off x="9601200" y="1955800"/>
            <a:ext cx="1727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>
                <a:solidFill>
                  <a:srgbClr val="3C3C3C"/>
                </a:solidFill>
                <a:latin typeface="Segoe UI"/>
                <a:cs typeface="Segoe UI"/>
              </a:rPr>
              <a:t>test de restauration</a:t>
            </a:r>
            <a:endParaRPr lang="en-FR" sz="15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B8C2C5-3004-DF45-9F0E-02D8FD8648E7}"/>
              </a:ext>
            </a:extLst>
          </p:cNvPr>
          <p:cNvSpPr/>
          <p:nvPr/>
        </p:nvSpPr>
        <p:spPr>
          <a:xfrm>
            <a:off x="914400" y="2717800"/>
            <a:ext cx="10414000" cy="12700"/>
          </a:xfrm>
          <a:prstGeom prst="rect">
            <a:avLst/>
          </a:prstGeom>
          <a:solidFill>
            <a:srgbClr val="E8EB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0C4A8F-9305-5545-9A01-CA8987217065}"/>
              </a:ext>
            </a:extLst>
          </p:cNvPr>
          <p:cNvSpPr txBox="1"/>
          <p:nvPr/>
        </p:nvSpPr>
        <p:spPr>
          <a:xfrm>
            <a:off x="914400" y="2895600"/>
            <a:ext cx="56896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>
                <a:solidFill>
                  <a:srgbClr val="1A1A1A"/>
                </a:solidFill>
                <a:latin typeface="Segoe UI"/>
                <a:cs typeface="Segoe UI"/>
              </a:rPr>
              <a:t>Le risque porté par l'intégrateur des automates ne descend pas plus bas — c'est un plancher</a:t>
            </a:r>
            <a:endParaRPr lang="en-FR" sz="19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264745-15D3-FF46-B3A8-4A633F1BAE1A}"/>
              </a:ext>
            </a:extLst>
          </p:cNvPr>
          <p:cNvSpPr txBox="1"/>
          <p:nvPr/>
        </p:nvSpPr>
        <p:spPr>
          <a:xfrm>
            <a:off x="6858000" y="28956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b="1">
                <a:solidFill>
                  <a:srgbClr val="1F4E79"/>
                </a:solidFill>
                <a:latin typeface="Segoe UI"/>
                <a:cs typeface="Segoe UI"/>
              </a:rPr>
              <a:t>sous 12 mois</a:t>
            </a:r>
            <a:endParaRPr lang="en-FR" sz="19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6D1D1F-A2EC-224F-96F4-649EE74D618F}"/>
              </a:ext>
            </a:extLst>
          </p:cNvPr>
          <p:cNvSpPr txBox="1"/>
          <p:nvPr/>
        </p:nvSpPr>
        <p:spPr>
          <a:xfrm>
            <a:off x="9601200" y="2921000"/>
            <a:ext cx="1727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>
                <a:solidFill>
                  <a:srgbClr val="3C3C3C"/>
                </a:solidFill>
                <a:latin typeface="Segoe UI"/>
                <a:cs typeface="Segoe UI"/>
              </a:rPr>
              <a:t>revue de l'écosystème</a:t>
            </a:r>
            <a:endParaRPr lang="en-FR" sz="15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CA35FF-3991-9248-AEC2-A956618BD168}"/>
              </a:ext>
            </a:extLst>
          </p:cNvPr>
          <p:cNvSpPr/>
          <p:nvPr/>
        </p:nvSpPr>
        <p:spPr>
          <a:xfrm>
            <a:off x="914400" y="3683000"/>
            <a:ext cx="10414000" cy="12700"/>
          </a:xfrm>
          <a:prstGeom prst="rect">
            <a:avLst/>
          </a:prstGeom>
          <a:solidFill>
            <a:srgbClr val="E8EB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0B546C-FED6-5E4B-9AF6-9F235022E026}"/>
              </a:ext>
            </a:extLst>
          </p:cNvPr>
          <p:cNvSpPr txBox="1"/>
          <p:nvPr/>
        </p:nvSpPr>
        <p:spPr>
          <a:xfrm>
            <a:off x="914400" y="3860800"/>
            <a:ext cx="56896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>
                <a:solidFill>
                  <a:srgbClr val="1A1A1A"/>
                </a:solidFill>
                <a:latin typeface="Segoe UI"/>
                <a:cs typeface="Segoe UI"/>
              </a:rPr>
              <a:t>La reprise du flux vers MERIDIAN Santé n'atteint sa cible qu'en fin de projet</a:t>
            </a:r>
            <a:endParaRPr lang="en-FR" sz="19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88AFDC-6E61-034F-9180-3B0D56F8CF09}"/>
              </a:ext>
            </a:extLst>
          </p:cNvPr>
          <p:cNvSpPr txBox="1"/>
          <p:nvPr/>
        </p:nvSpPr>
        <p:spPr>
          <a:xfrm>
            <a:off x="6858000" y="38608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b="1">
                <a:solidFill>
                  <a:srgbClr val="1F4E79"/>
                </a:solidFill>
                <a:latin typeface="Segoe UI"/>
                <a:cs typeface="Segoe UI"/>
              </a:rPr>
              <a:t>14 septembre 2027</a:t>
            </a:r>
            <a:endParaRPr lang="en-FR" sz="19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FB7ED2-F58C-BD40-8A4C-396192DB5054}"/>
              </a:ext>
            </a:extLst>
          </p:cNvPr>
          <p:cNvSpPr txBox="1"/>
          <p:nvPr/>
        </p:nvSpPr>
        <p:spPr>
          <a:xfrm>
            <a:off x="9601200" y="3886200"/>
            <a:ext cx="1727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>
                <a:solidFill>
                  <a:srgbClr val="3C3C3C"/>
                </a:solidFill>
                <a:latin typeface="Segoe UI"/>
                <a:cs typeface="Segoe UI"/>
              </a:rPr>
              <a:t>sixième jalon du projet</a:t>
            </a:r>
            <a:endParaRPr lang="en-FR" sz="15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8D7712-DC0F-6442-BE18-924B61F9FF3D}"/>
              </a:ext>
            </a:extLst>
          </p:cNvPr>
          <p:cNvSpPr/>
          <p:nvPr/>
        </p:nvSpPr>
        <p:spPr>
          <a:xfrm>
            <a:off x="914400" y="4648200"/>
            <a:ext cx="10414000" cy="12700"/>
          </a:xfrm>
          <a:prstGeom prst="rect">
            <a:avLst/>
          </a:prstGeom>
          <a:solidFill>
            <a:srgbClr val="E8EB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C907773-45CE-5F47-9B30-128229E29C14}"/>
              </a:ext>
            </a:extLst>
          </p:cNvPr>
          <p:cNvSpPr/>
          <p:nvPr/>
        </p:nvSpPr>
        <p:spPr>
          <a:xfrm>
            <a:off x="914400" y="5003800"/>
            <a:ext cx="10414000" cy="1041400"/>
          </a:xfrm>
          <a:prstGeom prst="rect">
            <a:avLst/>
          </a:prstGeom>
          <a:solidFill>
            <a:srgbClr val="E8EB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221EB0-2CA3-1A48-8BD9-A79A842A8135}"/>
              </a:ext>
            </a:extLst>
          </p:cNvPr>
          <p:cNvSpPr txBox="1"/>
          <p:nvPr/>
        </p:nvSpPr>
        <p:spPr>
          <a:xfrm>
            <a:off x="1219200" y="5257800"/>
            <a:ext cx="98044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b="1">
                <a:solidFill>
                  <a:srgbClr val="1F4E79"/>
                </a:solidFill>
                <a:latin typeface="Segoe UI"/>
                <a:cs typeface="Segoe UI"/>
              </a:rPr>
              <a:t>Un comité fait confiance à qui lui donne les dates de ce qu'il ne sait pas encore. Voici les nôtres.</a:t>
            </a:r>
            <a:endParaRPr lang="en-FR" sz="19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92801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402914-A558-5C4F-A66E-C0E7E7FE7BA9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200" b="1">
                <a:solidFill>
                  <a:srgbClr val="1F4E79"/>
                </a:solidFill>
                <a:latin typeface="Segoe UI"/>
                <a:cs typeface="Segoe UI"/>
              </a:rPr>
              <a:t>Deux périmètres — et comment vous le saurez</a:t>
            </a:r>
            <a:endParaRPr lang="en-FR" sz="32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99A6C0-A7B5-7A4F-BE50-DCFD6B8CA36F}"/>
              </a:ext>
            </a:extLst>
          </p:cNvPr>
          <p:cNvSpPr/>
          <p:nvPr/>
        </p:nvSpPr>
        <p:spPr>
          <a:xfrm>
            <a:off x="914400" y="11938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45A3AD-B63E-2E41-8CD7-69390FB0F44E}"/>
              </a:ext>
            </a:extLst>
          </p:cNvPr>
          <p:cNvSpPr txBox="1"/>
          <p:nvPr/>
        </p:nvSpPr>
        <p:spPr>
          <a:xfrm>
            <a:off x="914400" y="13462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b="1">
                <a:solidFill>
                  <a:srgbClr val="8A8F98"/>
                </a:solidFill>
                <a:latin typeface="Segoe UI"/>
                <a:cs typeface="Segoe UI"/>
              </a:rPr>
              <a:t>DEUX PÉRIMÈTRES, PAS UN</a:t>
            </a:r>
            <a:endParaRPr lang="en-FR" b="1">
              <a:solidFill>
                <a:srgbClr val="8A8F98"/>
              </a:solidFill>
              <a:latin typeface="Segoe UI"/>
              <a:cs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4AA0C-2B04-634C-B310-0E0E18BFEF4A}"/>
              </a:ext>
            </a:extLst>
          </p:cNvPr>
          <p:cNvSpPr/>
          <p:nvPr/>
        </p:nvSpPr>
        <p:spPr>
          <a:xfrm>
            <a:off x="914400" y="1752600"/>
            <a:ext cx="10414000" cy="2184400"/>
          </a:xfrm>
          <a:prstGeom prst="rect">
            <a:avLst/>
          </a:prstGeom>
          <a:solidFill>
            <a:srgbClr val="F2F3F5"/>
          </a:solidFill>
          <a:ln w="19050" cap="flat" cmpd="sng" algn="ctr">
            <a:solidFill>
              <a:srgbClr val="1F4E7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7F2017-2675-E34F-8774-FE5A3CE3C230}"/>
              </a:ext>
            </a:extLst>
          </p:cNvPr>
          <p:cNvSpPr txBox="1"/>
          <p:nvPr/>
        </p:nvSpPr>
        <p:spPr>
          <a:xfrm>
            <a:off x="1168400" y="1879600"/>
            <a:ext cx="990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 b="1">
                <a:solidFill>
                  <a:srgbClr val="1F4E79"/>
                </a:solidFill>
                <a:latin typeface="Segoe UI"/>
                <a:cs typeface="Segoe UI"/>
              </a:rPr>
              <a:t>Le système de management  →  la filiale entière · 6 exclusions nommées · 4 interfaces déclarées</a:t>
            </a:r>
            <a:endParaRPr lang="en-FR" sz="17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1E718F-3850-DA40-8164-7EEF99DBD9C3}"/>
              </a:ext>
            </a:extLst>
          </p:cNvPr>
          <p:cNvSpPr/>
          <p:nvPr/>
        </p:nvSpPr>
        <p:spPr>
          <a:xfrm>
            <a:off x="1270000" y="2311400"/>
            <a:ext cx="9702800" cy="1498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7CD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E7224A-C5AE-1D46-84DD-59D52051A001}"/>
              </a:ext>
            </a:extLst>
          </p:cNvPr>
          <p:cNvSpPr txBox="1"/>
          <p:nvPr/>
        </p:nvSpPr>
        <p:spPr>
          <a:xfrm>
            <a:off x="1524000" y="2463800"/>
            <a:ext cx="9194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 b="1">
                <a:solidFill>
                  <a:srgbClr val="1A1A1A"/>
                </a:solidFill>
                <a:latin typeface="Segoe UI"/>
                <a:cs typeface="Segoe UI"/>
              </a:rPr>
              <a:t>La première certification  →  seulement les services reçus par le client pharmaceutique</a:t>
            </a:r>
            <a:endParaRPr lang="en-FR" sz="1700" b="1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F9BE3-6214-9546-BFC6-E5DD762940CC}"/>
              </a:ext>
            </a:extLst>
          </p:cNvPr>
          <p:cNvSpPr txBox="1"/>
          <p:nvPr/>
        </p:nvSpPr>
        <p:spPr>
          <a:xfrm>
            <a:off x="1524000" y="2844800"/>
            <a:ext cx="91948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>
                <a:solidFill>
                  <a:srgbClr val="3C3C3C"/>
                </a:solidFill>
                <a:latin typeface="Segoe UI"/>
                <a:cs typeface="Segoe UI"/>
              </a:rPr>
              <a:t>chaîne du froid + flux d'entrepôt des sites E1 et E4
HORS automatisation d'E4, jusqu'au 14 juin 2027</a:t>
            </a:r>
            <a:endParaRPr lang="en-FR" sz="17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A26930-571A-184C-B809-5CABF3F4F689}"/>
              </a:ext>
            </a:extLst>
          </p:cNvPr>
          <p:cNvSpPr txBox="1"/>
          <p:nvPr/>
        </p:nvSpPr>
        <p:spPr>
          <a:xfrm>
            <a:off x="914400" y="40640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1A1A1A"/>
                </a:solidFill>
                <a:latin typeface="Segoe UI"/>
                <a:cs typeface="Segoe UI"/>
              </a:rPr>
              <a:t>Pourquoi : E4 est à la fois dédié à ce client ET porteur d'automates sur un réseau non séparé.
Certifier large aujourd'hui reviendrait à certifier ce défaut.</a:t>
            </a:r>
            <a:endParaRPr lang="en-FR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D3A469-A942-2F42-9146-056A012768BE}"/>
              </a:ext>
            </a:extLst>
          </p:cNvPr>
          <p:cNvSpPr/>
          <p:nvPr/>
        </p:nvSpPr>
        <p:spPr>
          <a:xfrm>
            <a:off x="914400" y="4826000"/>
            <a:ext cx="10414000" cy="12700"/>
          </a:xfrm>
          <a:prstGeom prst="rect">
            <a:avLst/>
          </a:prstGeom>
          <a:solidFill>
            <a:srgbClr val="C7CD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16A2E7-42A1-5F49-9535-4DCEAFC48A74}"/>
              </a:ext>
            </a:extLst>
          </p:cNvPr>
          <p:cNvSpPr txBox="1"/>
          <p:nvPr/>
        </p:nvSpPr>
        <p:spPr>
          <a:xfrm>
            <a:off x="914400" y="49784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b="1">
                <a:solidFill>
                  <a:srgbClr val="1F4E79"/>
                </a:solidFill>
                <a:latin typeface="Segoe UI"/>
                <a:cs typeface="Segoe UI"/>
              </a:rPr>
              <a:t>COMMENT VOUS LE SAUREZ</a:t>
            </a:r>
            <a:endParaRPr lang="en-FR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F8B4EC-0B66-D343-97AF-DCD7C6CD8E56}"/>
              </a:ext>
            </a:extLst>
          </p:cNvPr>
          <p:cNvSpPr/>
          <p:nvPr/>
        </p:nvSpPr>
        <p:spPr>
          <a:xfrm>
            <a:off x="914400" y="5334000"/>
            <a:ext cx="10414000" cy="711200"/>
          </a:xfrm>
          <a:prstGeom prst="rect">
            <a:avLst/>
          </a:prstGeom>
          <a:solidFill>
            <a:srgbClr val="E8EBEF"/>
          </a:solidFill>
          <a:ln w="12700" cap="flat" cmpd="sng" algn="ctr">
            <a:solidFill>
              <a:srgbClr val="C7CD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071377-7873-4645-A139-82F2E1C29FC0}"/>
              </a:ext>
            </a:extLst>
          </p:cNvPr>
          <p:cNvSpPr txBox="1"/>
          <p:nvPr/>
        </p:nvSpPr>
        <p:spPr>
          <a:xfrm>
            <a:off x="1219200" y="5461000"/>
            <a:ext cx="98044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 i="1">
                <a:solidFill>
                  <a:srgbClr val="3C3C3C"/>
                </a:solidFill>
                <a:latin typeface="Segoe UI"/>
                <a:cs typeface="Segoe UI"/>
              </a:rPr>
              <a:t>[ à compléter avec D9 — séance 9 ] 5 à 8 indicateurs · les deux ou trois qui parlent au comité
point trimestriel du responsable sécurité · revue au moins annuelle</a:t>
            </a:r>
            <a:endParaRPr lang="en-FR" sz="1700" i="1">
              <a:solidFill>
                <a:srgbClr val="3C3C3C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47070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B11E2334-BD39-9B45-B595-CD608ABEB139}"/>
              </a:ext>
            </a:extLst>
          </p:cNvPr>
          <p:cNvSpPr/>
          <p:nvPr/>
        </p:nvSpPr>
        <p:spPr>
          <a:xfrm>
            <a:off x="711200" y="3454400"/>
            <a:ext cx="10617200" cy="685800"/>
          </a:xfrm>
          <a:prstGeom prst="rect">
            <a:avLst/>
          </a:prstGeom>
          <a:solidFill>
            <a:srgbClr val="F2F3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5E06D9B-D61D-1C4F-90AA-C2337301D136}"/>
              </a:ext>
            </a:extLst>
          </p:cNvPr>
          <p:cNvSpPr/>
          <p:nvPr/>
        </p:nvSpPr>
        <p:spPr>
          <a:xfrm>
            <a:off x="711200" y="2032000"/>
            <a:ext cx="10617200" cy="685800"/>
          </a:xfrm>
          <a:prstGeom prst="rect">
            <a:avLst/>
          </a:prstGeom>
          <a:solidFill>
            <a:srgbClr val="F2F3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549A6F7-2242-874B-B6A8-7549494412C2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200" b="1">
                <a:solidFill>
                  <a:srgbClr val="1F4E79"/>
                </a:solidFill>
                <a:latin typeface="Segoe UI"/>
                <a:cs typeface="Segoe UI"/>
              </a:rPr>
              <a:t>Ce que nous vous demandons de signer</a:t>
            </a:r>
            <a:endParaRPr lang="en-FR" sz="32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3F85934-DDC8-8F49-8A8D-F9FDE1874B39}"/>
              </a:ext>
            </a:extLst>
          </p:cNvPr>
          <p:cNvSpPr/>
          <p:nvPr/>
        </p:nvSpPr>
        <p:spPr>
          <a:xfrm>
            <a:off x="914400" y="11938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B3C983-A597-3043-9AEE-657A04E58BD0}"/>
              </a:ext>
            </a:extLst>
          </p:cNvPr>
          <p:cNvSpPr txBox="1"/>
          <p:nvPr/>
        </p:nvSpPr>
        <p:spPr>
          <a:xfrm>
            <a:off x="914400" y="13462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b="1">
                <a:solidFill>
                  <a:srgbClr val="3C3C3C"/>
                </a:solidFill>
                <a:latin typeface="Segoe UI"/>
                <a:cs typeface="Segoe UI"/>
              </a:rPr>
              <a:t>QUATRE DEMANDES</a:t>
            </a:r>
            <a:endParaRPr lang="en-FR" b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37D7C0-0318-3347-AED4-1D18765F77C1}"/>
              </a:ext>
            </a:extLst>
          </p:cNvPr>
          <p:cNvSpPr txBox="1"/>
          <p:nvPr/>
        </p:nvSpPr>
        <p:spPr>
          <a:xfrm>
            <a:off x="1397000" y="16510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 b="1">
                <a:solidFill>
                  <a:srgbClr val="3C3C3C"/>
                </a:solidFill>
                <a:latin typeface="Segoe UI"/>
                <a:cs typeface="Segoe UI"/>
              </a:rPr>
              <a:t>la demande</a:t>
            </a:r>
            <a:endParaRPr lang="en-FR" sz="1500" b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D29E34-43D2-5B4D-B699-5158A426A386}"/>
              </a:ext>
            </a:extLst>
          </p:cNvPr>
          <p:cNvSpPr txBox="1"/>
          <p:nvPr/>
        </p:nvSpPr>
        <p:spPr>
          <a:xfrm>
            <a:off x="6223000" y="1651000"/>
            <a:ext cx="241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 b="1">
                <a:solidFill>
                  <a:srgbClr val="3C3C3C"/>
                </a:solidFill>
                <a:latin typeface="Segoe UI"/>
                <a:cs typeface="Segoe UI"/>
              </a:rPr>
              <a:t>qui signe</a:t>
            </a:r>
            <a:endParaRPr lang="en-FR" sz="1500" b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4160CB2-3B62-ED46-9B46-2A343AA8FFFB}"/>
              </a:ext>
            </a:extLst>
          </p:cNvPr>
          <p:cNvSpPr txBox="1"/>
          <p:nvPr/>
        </p:nvSpPr>
        <p:spPr>
          <a:xfrm>
            <a:off x="8763000" y="1651000"/>
            <a:ext cx="2565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 b="1">
                <a:solidFill>
                  <a:srgbClr val="3C3C3C"/>
                </a:solidFill>
                <a:latin typeface="Segoe UI"/>
                <a:cs typeface="Segoe UI"/>
              </a:rPr>
              <a:t>quand</a:t>
            </a:r>
            <a:endParaRPr lang="en-FR" sz="1500" b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70C9AD5-1EC2-C549-A00D-CFC9B024915A}"/>
              </a:ext>
            </a:extLst>
          </p:cNvPr>
          <p:cNvSpPr/>
          <p:nvPr/>
        </p:nvSpPr>
        <p:spPr>
          <a:xfrm>
            <a:off x="914400" y="1981200"/>
            <a:ext cx="10414000" cy="25400"/>
          </a:xfrm>
          <a:prstGeom prst="rect">
            <a:avLst/>
          </a:prstGeom>
          <a:solidFill>
            <a:srgbClr val="C7CD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CE42EF-D155-3E4F-AE7A-3AD3AD869DB5}"/>
              </a:ext>
            </a:extLst>
          </p:cNvPr>
          <p:cNvSpPr txBox="1"/>
          <p:nvPr/>
        </p:nvSpPr>
        <p:spPr>
          <a:xfrm>
            <a:off x="965200" y="2133600"/>
            <a:ext cx="355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2000" b="1">
                <a:solidFill>
                  <a:srgbClr val="1F4E79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8FAD213-3768-A249-8BB6-6023943563C7}"/>
              </a:ext>
            </a:extLst>
          </p:cNvPr>
          <p:cNvSpPr txBox="1"/>
          <p:nvPr/>
        </p:nvSpPr>
        <p:spPr>
          <a:xfrm>
            <a:off x="1397000" y="2133600"/>
            <a:ext cx="469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b="1">
                <a:solidFill>
                  <a:srgbClr val="1A1A1A"/>
                </a:solidFill>
                <a:latin typeface="Segoe UI"/>
                <a:cs typeface="Segoe UI"/>
              </a:rPr>
              <a:t>Confirmer le seuil d'acceptation du risque</a:t>
            </a:r>
            <a:endParaRPr lang="en-FR" sz="1900" b="1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589A51-177D-7E4D-A97E-716E3C44DE35}"/>
              </a:ext>
            </a:extLst>
          </p:cNvPr>
          <p:cNvSpPr txBox="1"/>
          <p:nvPr/>
        </p:nvSpPr>
        <p:spPr>
          <a:xfrm>
            <a:off x="6223000" y="2159000"/>
            <a:ext cx="2413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>
                <a:solidFill>
                  <a:srgbClr val="3C3C3C"/>
                </a:solidFill>
                <a:latin typeface="Segoe UI"/>
                <a:cs typeface="Segoe UI"/>
              </a:rPr>
              <a:t>Direction Générale · Conseil</a:t>
            </a:r>
            <a:endParaRPr lang="en-FR" sz="16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902FD5-4168-8249-9E2A-CC4E0D4AA5EC}"/>
              </a:ext>
            </a:extLst>
          </p:cNvPr>
          <p:cNvSpPr txBox="1"/>
          <p:nvPr/>
        </p:nvSpPr>
        <p:spPr>
          <a:xfrm>
            <a:off x="8763000" y="2159000"/>
            <a:ext cx="2565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>
                <a:solidFill>
                  <a:srgbClr val="3C3C3C"/>
                </a:solidFill>
                <a:latin typeface="Segoe UI"/>
                <a:cs typeface="Segoe UI"/>
              </a:rPr>
              <a:t>immédiat</a:t>
            </a:r>
            <a:endParaRPr lang="en-FR" sz="15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73B7CEE-CD97-6145-AFFF-82073757C7AC}"/>
              </a:ext>
            </a:extLst>
          </p:cNvPr>
          <p:cNvSpPr txBox="1"/>
          <p:nvPr/>
        </p:nvSpPr>
        <p:spPr>
          <a:xfrm>
            <a:off x="965200" y="2844800"/>
            <a:ext cx="355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2000" b="1">
                <a:solidFill>
                  <a:srgbClr val="1F4E79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30D88C0-BEC6-004D-B715-F9F15CDAB111}"/>
              </a:ext>
            </a:extLst>
          </p:cNvPr>
          <p:cNvSpPr txBox="1"/>
          <p:nvPr/>
        </p:nvSpPr>
        <p:spPr>
          <a:xfrm>
            <a:off x="1397000" y="2844800"/>
            <a:ext cx="469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b="1">
                <a:solidFill>
                  <a:srgbClr val="1A1A1A"/>
                </a:solidFill>
                <a:latin typeface="Segoe UI"/>
                <a:cs typeface="Segoe UI"/>
              </a:rPr>
              <a:t>Financer le plan : 82 000 € / an, 13 mesures</a:t>
            </a:r>
            <a:endParaRPr lang="en-FR" sz="1900" b="1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1D370D8-3564-DB46-9556-3FE17180E90F}"/>
              </a:ext>
            </a:extLst>
          </p:cNvPr>
          <p:cNvSpPr txBox="1"/>
          <p:nvPr/>
        </p:nvSpPr>
        <p:spPr>
          <a:xfrm>
            <a:off x="6223000" y="2870200"/>
            <a:ext cx="2413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>
                <a:solidFill>
                  <a:srgbClr val="3C3C3C"/>
                </a:solidFill>
                <a:latin typeface="Segoe UI"/>
                <a:cs typeface="Segoe UI"/>
              </a:rPr>
              <a:t>Direction Financière</a:t>
            </a:r>
            <a:endParaRPr lang="en-FR" sz="16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39A3D22-ACE7-7B43-A30A-9CB386DE6991}"/>
              </a:ext>
            </a:extLst>
          </p:cNvPr>
          <p:cNvSpPr txBox="1"/>
          <p:nvPr/>
        </p:nvSpPr>
        <p:spPr>
          <a:xfrm>
            <a:off x="8763000" y="2870200"/>
            <a:ext cx="2565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>
                <a:solidFill>
                  <a:srgbClr val="3C3C3C"/>
                </a:solidFill>
                <a:latin typeface="Segoe UI"/>
                <a:cs typeface="Segoe UI"/>
              </a:rPr>
              <a:t>exercice 2027</a:t>
            </a:r>
            <a:endParaRPr lang="en-FR" sz="15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2CA156F-EFB2-064E-8761-A4226D8B2350}"/>
              </a:ext>
            </a:extLst>
          </p:cNvPr>
          <p:cNvSpPr txBox="1"/>
          <p:nvPr/>
        </p:nvSpPr>
        <p:spPr>
          <a:xfrm>
            <a:off x="965200" y="3556000"/>
            <a:ext cx="355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2000" b="1">
                <a:solidFill>
                  <a:srgbClr val="1F4E79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5F327A-9303-EE4C-87C1-8E2071536070}"/>
              </a:ext>
            </a:extLst>
          </p:cNvPr>
          <p:cNvSpPr txBox="1"/>
          <p:nvPr/>
        </p:nvSpPr>
        <p:spPr>
          <a:xfrm>
            <a:off x="1397000" y="3556000"/>
            <a:ext cx="469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b="1">
                <a:solidFill>
                  <a:srgbClr val="1A1A1A"/>
                </a:solidFill>
                <a:latin typeface="Segoe UI"/>
                <a:cs typeface="Segoe UI"/>
              </a:rPr>
              <a:t>Autoriser deux avenants contractuels</a:t>
            </a:r>
            <a:endParaRPr lang="en-FR" sz="1900" b="1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62B002C-C5B4-2D40-8F68-9FB4F82CAF8A}"/>
              </a:ext>
            </a:extLst>
          </p:cNvPr>
          <p:cNvSpPr txBox="1"/>
          <p:nvPr/>
        </p:nvSpPr>
        <p:spPr>
          <a:xfrm>
            <a:off x="6223000" y="3581400"/>
            <a:ext cx="2413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>
                <a:solidFill>
                  <a:srgbClr val="3C3C3C"/>
                </a:solidFill>
                <a:latin typeface="Segoe UI"/>
                <a:cs typeface="Segoe UI"/>
              </a:rPr>
              <a:t>Directeur de la filiale</a:t>
            </a:r>
            <a:endParaRPr lang="en-FR" sz="16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5D4A237-30E5-D348-AE76-ABBB92CDF662}"/>
              </a:ext>
            </a:extLst>
          </p:cNvPr>
          <p:cNvSpPr txBox="1"/>
          <p:nvPr/>
        </p:nvSpPr>
        <p:spPr>
          <a:xfrm>
            <a:off x="8763000" y="3581400"/>
            <a:ext cx="2565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 b="1">
                <a:solidFill>
                  <a:srgbClr val="1F4E79"/>
                </a:solidFill>
                <a:latin typeface="Segoe UI"/>
                <a:cs typeface="Segoe UI"/>
              </a:rPr>
              <a:t>AVANT novembre 2026</a:t>
            </a:r>
            <a:endParaRPr lang="en-FR" sz="15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74FAFE5-5A31-D940-A466-44ACCCD85371}"/>
              </a:ext>
            </a:extLst>
          </p:cNvPr>
          <p:cNvSpPr txBox="1"/>
          <p:nvPr/>
        </p:nvSpPr>
        <p:spPr>
          <a:xfrm>
            <a:off x="965200" y="4267200"/>
            <a:ext cx="355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2000" b="1">
                <a:solidFill>
                  <a:srgbClr val="1F4E79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74CD705-031D-8E46-8583-F814B4E770E2}"/>
              </a:ext>
            </a:extLst>
          </p:cNvPr>
          <p:cNvSpPr txBox="1"/>
          <p:nvPr/>
        </p:nvSpPr>
        <p:spPr>
          <a:xfrm>
            <a:off x="1397000" y="4267200"/>
            <a:ext cx="469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b="1">
                <a:solidFill>
                  <a:srgbClr val="1A1A1A"/>
                </a:solidFill>
                <a:latin typeface="Segoe UI"/>
                <a:cs typeface="Segoe UI"/>
              </a:rPr>
              <a:t>Arrêter le périmètre de la première certification</a:t>
            </a:r>
            <a:endParaRPr lang="en-FR" sz="1900" b="1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6F8908E-2621-C647-A30E-A0D4E7B9003F}"/>
              </a:ext>
            </a:extLst>
          </p:cNvPr>
          <p:cNvSpPr txBox="1"/>
          <p:nvPr/>
        </p:nvSpPr>
        <p:spPr>
          <a:xfrm>
            <a:off x="6223000" y="4292600"/>
            <a:ext cx="2413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>
                <a:solidFill>
                  <a:srgbClr val="3C3C3C"/>
                </a:solidFill>
                <a:latin typeface="Segoe UI"/>
                <a:cs typeface="Segoe UI"/>
              </a:rPr>
              <a:t>Comité Exécutif</a:t>
            </a:r>
            <a:endParaRPr lang="en-FR" sz="16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EBA9A28-5836-CA46-8B75-0ADD71645398}"/>
              </a:ext>
            </a:extLst>
          </p:cNvPr>
          <p:cNvSpPr txBox="1"/>
          <p:nvPr/>
        </p:nvSpPr>
        <p:spPr>
          <a:xfrm>
            <a:off x="8763000" y="4292600"/>
            <a:ext cx="2565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>
                <a:solidFill>
                  <a:srgbClr val="3C3C3C"/>
                </a:solidFill>
                <a:latin typeface="Segoe UI"/>
                <a:cs typeface="Segoe UI"/>
              </a:rPr>
              <a:t>immédiat</a:t>
            </a:r>
            <a:endParaRPr lang="en-FR" sz="1500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E59F3BC-61F3-E543-AC08-1C0D0FEB5E9A}"/>
              </a:ext>
            </a:extLst>
          </p:cNvPr>
          <p:cNvSpPr/>
          <p:nvPr/>
        </p:nvSpPr>
        <p:spPr>
          <a:xfrm>
            <a:off x="914400" y="5130800"/>
            <a:ext cx="10414000" cy="914400"/>
          </a:xfrm>
          <a:prstGeom prst="rect">
            <a:avLst/>
          </a:prstGeom>
          <a:solidFill>
            <a:srgbClr val="E8EB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38199F9-EEB8-EA42-9781-00FF1C621D12}"/>
              </a:ext>
            </a:extLst>
          </p:cNvPr>
          <p:cNvSpPr txBox="1"/>
          <p:nvPr/>
        </p:nvSpPr>
        <p:spPr>
          <a:xfrm>
            <a:off x="1219200" y="5308600"/>
            <a:ext cx="6604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>
                <a:solidFill>
                  <a:srgbClr val="1A1A1A"/>
                </a:solidFill>
                <a:latin typeface="Segoe UI"/>
                <a:cs typeface="Segoe UI"/>
              </a:rPr>
              <a:t>Deux signatures accompagnent : l'acceptation formelle du risque
chaîne du froid, l'acceptation simple sur les données d'expédition.</a:t>
            </a:r>
            <a:endParaRPr lang="en-FR" sz="16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E38606A-FF6F-524F-B5DB-5AE61F44118F}"/>
              </a:ext>
            </a:extLst>
          </p:cNvPr>
          <p:cNvSpPr txBox="1"/>
          <p:nvPr/>
        </p:nvSpPr>
        <p:spPr>
          <a:xfrm>
            <a:off x="8229600" y="5334000"/>
            <a:ext cx="279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b="1">
                <a:solidFill>
                  <a:srgbClr val="1F4E79"/>
                </a:solidFill>
                <a:latin typeface="Segoe UI"/>
                <a:cs typeface="Segoe UI"/>
              </a:rPr>
              <a:t>Aucune dérogation demandée.</a:t>
            </a:r>
            <a:endParaRPr lang="en-FR" b="1">
              <a:solidFill>
                <a:srgbClr val="1F4E79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59749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5ED9C0B-99FF-E842-9149-5BAE8051BF65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200" b="1">
                <a:solidFill>
                  <a:srgbClr val="1F4E79"/>
                </a:solidFill>
                <a:latin typeface="Segoe UI"/>
                <a:cs typeface="Segoe UI"/>
              </a:rPr>
              <a:t>La limite</a:t>
            </a:r>
            <a:endParaRPr lang="en-FR" sz="32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63852C-7635-9E4A-93A8-FC52BC23D917}"/>
              </a:ext>
            </a:extLst>
          </p:cNvPr>
          <p:cNvSpPr/>
          <p:nvPr/>
        </p:nvSpPr>
        <p:spPr>
          <a:xfrm>
            <a:off x="914400" y="11938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849772-64FD-0E40-B76F-8BF60DC6D9FA}"/>
              </a:ext>
            </a:extLst>
          </p:cNvPr>
          <p:cNvSpPr txBox="1"/>
          <p:nvPr/>
        </p:nvSpPr>
        <p:spPr>
          <a:xfrm>
            <a:off x="914400" y="1574800"/>
            <a:ext cx="10414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600" b="1">
                <a:solidFill>
                  <a:srgbClr val="1A1A1A"/>
                </a:solidFill>
                <a:latin typeface="Segoe UI"/>
                <a:cs typeface="Segoe UI"/>
              </a:rPr>
              <a:t>Un dossier prouve une méthode. Jamais la sécurité elle-même.</a:t>
            </a:r>
            <a:endParaRPr lang="en-FR" sz="2600" b="1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34CDA9-FDAC-2544-8BA9-90E11E1C464B}"/>
              </a:ext>
            </a:extLst>
          </p:cNvPr>
          <p:cNvSpPr txBox="1"/>
          <p:nvPr/>
        </p:nvSpPr>
        <p:spPr>
          <a:xfrm>
            <a:off x="914400" y="21336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i="1">
                <a:solidFill>
                  <a:srgbClr val="3C3C3C"/>
                </a:solidFill>
                <a:latin typeface="Segoe UI"/>
                <a:cs typeface="Segoe UI"/>
              </a:rPr>
              <a:t>Des serveurs mal configurés se moquent de la qualité du classeur.</a:t>
            </a:r>
            <a:endParaRPr lang="en-FR" i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F3264A-F097-DA42-AFA5-E2421D13CD23}"/>
              </a:ext>
            </a:extLst>
          </p:cNvPr>
          <p:cNvSpPr txBox="1"/>
          <p:nvPr/>
        </p:nvSpPr>
        <p:spPr>
          <a:xfrm>
            <a:off x="914400" y="27432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b="1">
                <a:solidFill>
                  <a:srgbClr val="3C3C3C"/>
                </a:solidFill>
                <a:latin typeface="Segoe UI"/>
                <a:cs typeface="Segoe UI"/>
              </a:rPr>
              <a:t>Ce que nous venons d'établir</a:t>
            </a:r>
            <a:endParaRPr lang="en-FR" sz="1600" b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184B67-388D-AF45-B834-35A87D005B8E}"/>
              </a:ext>
            </a:extLst>
          </p:cNvPr>
          <p:cNvSpPr txBox="1"/>
          <p:nvPr/>
        </p:nvSpPr>
        <p:spPr>
          <a:xfrm>
            <a:off x="4978400" y="2717800"/>
            <a:ext cx="635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1A1A1A"/>
                </a:solidFill>
                <a:latin typeface="Segoe UI"/>
                <a:cs typeface="Segoe UI"/>
              </a:rPr>
              <a:t>où nous en sommes, ce qui nous menace,
ce que coûte le traitement</a:t>
            </a:r>
            <a:endParaRPr lang="en-FR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F534FD-577C-9D45-AD79-783821F20B0D}"/>
              </a:ext>
            </a:extLst>
          </p:cNvPr>
          <p:cNvSpPr txBox="1"/>
          <p:nvPr/>
        </p:nvSpPr>
        <p:spPr>
          <a:xfrm>
            <a:off x="914400" y="34544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b="1">
                <a:solidFill>
                  <a:srgbClr val="3C3C3C"/>
                </a:solidFill>
                <a:latin typeface="Segoe UI"/>
                <a:cs typeface="Segoe UI"/>
              </a:rPr>
              <a:t>Ce que nous n'avons pas établi</a:t>
            </a:r>
            <a:endParaRPr lang="en-FR" sz="1600" b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848A35-A293-D54B-8821-70CF1BFD1C5B}"/>
              </a:ext>
            </a:extLst>
          </p:cNvPr>
          <p:cNvSpPr txBox="1"/>
          <p:nvPr/>
        </p:nvSpPr>
        <p:spPr>
          <a:xfrm>
            <a:off x="4978400" y="34290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 b="1">
                <a:solidFill>
                  <a:srgbClr val="1F4E79"/>
                </a:solidFill>
                <a:latin typeface="Segoe UI"/>
                <a:cs typeface="Segoe UI"/>
              </a:rPr>
              <a:t>que nous sommes protégés</a:t>
            </a:r>
            <a:endParaRPr lang="en-FR" sz="19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4D67C5-80AC-AE41-81C4-31DABED0E715}"/>
              </a:ext>
            </a:extLst>
          </p:cNvPr>
          <p:cNvSpPr/>
          <p:nvPr/>
        </p:nvSpPr>
        <p:spPr>
          <a:xfrm>
            <a:off x="914400" y="4013200"/>
            <a:ext cx="10414000" cy="12700"/>
          </a:xfrm>
          <a:prstGeom prst="rect">
            <a:avLst/>
          </a:prstGeom>
          <a:solidFill>
            <a:srgbClr val="C7CD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D80B51-7034-2440-8F18-69D4F08349DD}"/>
              </a:ext>
            </a:extLst>
          </p:cNvPr>
          <p:cNvSpPr txBox="1"/>
          <p:nvPr/>
        </p:nvSpPr>
        <p:spPr>
          <a:xfrm>
            <a:off x="914400" y="41656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b="1">
                <a:solidFill>
                  <a:srgbClr val="3C3C3C"/>
                </a:solidFill>
                <a:latin typeface="Segoe UI"/>
                <a:cs typeface="Segoe UI"/>
              </a:rPr>
              <a:t>Les trois dates qui transforment la méthode en preuve</a:t>
            </a:r>
            <a:endParaRPr lang="en-FR" sz="1600" b="1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63AABB-80A9-D846-8685-DB20C188E76C}"/>
              </a:ext>
            </a:extLst>
          </p:cNvPr>
          <p:cNvSpPr txBox="1"/>
          <p:nvPr/>
        </p:nvSpPr>
        <p:spPr>
          <a:xfrm>
            <a:off x="914400" y="45974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100" b="1">
                <a:solidFill>
                  <a:srgbClr val="1F4E79"/>
                </a:solidFill>
                <a:latin typeface="Segoe UI"/>
                <a:cs typeface="Segoe UI"/>
              </a:rPr>
              <a:t>14 novembre 2026</a:t>
            </a:r>
            <a:endParaRPr lang="en-FR" sz="21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EFD7D1-EA64-294C-BDE9-C331C80C4689}"/>
              </a:ext>
            </a:extLst>
          </p:cNvPr>
          <p:cNvSpPr txBox="1"/>
          <p:nvPr/>
        </p:nvSpPr>
        <p:spPr>
          <a:xfrm>
            <a:off x="4064000" y="4622800"/>
            <a:ext cx="7264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>
                <a:solidFill>
                  <a:srgbClr val="1A1A1A"/>
                </a:solidFill>
                <a:latin typeface="Segoe UI"/>
                <a:cs typeface="Segoe UI"/>
              </a:rPr>
              <a:t>le test de restauration</a:t>
            </a:r>
            <a:endParaRPr lang="en-FR" sz="19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F311DF-1ACF-5348-991A-A1139138767C}"/>
              </a:ext>
            </a:extLst>
          </p:cNvPr>
          <p:cNvSpPr txBox="1"/>
          <p:nvPr/>
        </p:nvSpPr>
        <p:spPr>
          <a:xfrm>
            <a:off x="914400" y="50800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100" b="1">
                <a:solidFill>
                  <a:srgbClr val="1F4E79"/>
                </a:solidFill>
                <a:latin typeface="Segoe UI"/>
                <a:cs typeface="Segoe UI"/>
              </a:rPr>
              <a:t>14 janvier 2027</a:t>
            </a:r>
            <a:endParaRPr lang="en-FR" sz="21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0A060E-AD9D-BB4B-814B-C8D83A4F2ECC}"/>
              </a:ext>
            </a:extLst>
          </p:cNvPr>
          <p:cNvSpPr txBox="1"/>
          <p:nvPr/>
        </p:nvSpPr>
        <p:spPr>
          <a:xfrm>
            <a:off x="4064000" y="5105400"/>
            <a:ext cx="7264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>
                <a:solidFill>
                  <a:srgbClr val="1A1A1A"/>
                </a:solidFill>
                <a:latin typeface="Segoe UI"/>
                <a:cs typeface="Segoe UI"/>
              </a:rPr>
              <a:t>les comptes nommés du prestataire</a:t>
            </a:r>
            <a:endParaRPr lang="en-FR" sz="1900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A800A4-D524-9E47-BAA4-9DB97B384811}"/>
              </a:ext>
            </a:extLst>
          </p:cNvPr>
          <p:cNvSpPr txBox="1"/>
          <p:nvPr/>
        </p:nvSpPr>
        <p:spPr>
          <a:xfrm>
            <a:off x="914400" y="55626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100" b="1">
                <a:solidFill>
                  <a:srgbClr val="1F4E79"/>
                </a:solidFill>
                <a:latin typeface="Segoe UI"/>
                <a:cs typeface="Segoe UI"/>
              </a:rPr>
              <a:t>14 juin 2027</a:t>
            </a:r>
            <a:endParaRPr lang="en-FR" sz="21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7F9A87-3E50-8D42-9D68-AF7172CD88BC}"/>
              </a:ext>
            </a:extLst>
          </p:cNvPr>
          <p:cNvSpPr txBox="1"/>
          <p:nvPr/>
        </p:nvSpPr>
        <p:spPr>
          <a:xfrm>
            <a:off x="4064000" y="5588000"/>
            <a:ext cx="7264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900">
                <a:solidFill>
                  <a:srgbClr val="1A1A1A"/>
                </a:solidFill>
                <a:latin typeface="Segoe UI"/>
                <a:cs typeface="Segoe UI"/>
              </a:rPr>
              <a:t>la séparation des réseaux</a:t>
            </a:r>
            <a:endParaRPr lang="en-FR" sz="1900">
              <a:solidFill>
                <a:srgbClr val="1A1A1A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625019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4B8736-84DF-1A43-B21E-A012B5059A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E2283F-BBA8-CA40-BEC5-B8A0C7C60526}"/>
              </a:ext>
            </a:extLst>
          </p:cNvPr>
          <p:cNvSpPr txBox="1"/>
          <p:nvPr/>
        </p:nvSpPr>
        <p:spPr>
          <a:xfrm>
            <a:off x="914400" y="3048000"/>
            <a:ext cx="10414000" cy="889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5400" b="1">
                <a:solidFill>
                  <a:srgbClr val="FFFFFF"/>
                </a:solidFill>
                <a:latin typeface="Segoe UI Semibold"/>
                <a:cs typeface="Segoe UI Semibold"/>
              </a:rPr>
              <a:t>ANNEXES</a:t>
            </a:r>
            <a:endParaRPr lang="en-FR" sz="5400" b="1">
              <a:solidFill>
                <a:srgbClr val="FFFFFF"/>
              </a:solidFill>
              <a:latin typeface="Segoe UI Semibold"/>
              <a:cs typeface="Segoe UI Semi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DBA1DC-7B36-354F-B136-7BCF9A2A8C32}"/>
              </a:ext>
            </a:extLst>
          </p:cNvPr>
          <p:cNvSpPr txBox="1"/>
          <p:nvPr/>
        </p:nvSpPr>
        <p:spPr>
          <a:xfrm>
            <a:off x="914400" y="3987800"/>
            <a:ext cx="1041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C7CDD4"/>
                </a:solidFill>
                <a:latin typeface="Segoe UI"/>
                <a:cs typeface="Segoe UI"/>
              </a:rPr>
              <a:t>hors décompte · appelées par leur numéro en réponse à une question</a:t>
            </a:r>
            <a:endParaRPr lang="en-FR">
              <a:solidFill>
                <a:srgbClr val="C7CDD4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04846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7B40D7-CB29-AA4C-9895-14A426FCEEB9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000" b="1">
                <a:solidFill>
                  <a:srgbClr val="1F4E79"/>
                </a:solidFill>
                <a:latin typeface="Segoe UI"/>
                <a:cs typeface="Segoe UI"/>
              </a:rPr>
              <a:t>A1 · Qui a porté quoi</a:t>
            </a:r>
            <a:endParaRPr lang="en-FR" sz="30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475A23-9377-CF47-9386-4D2ACB48FFC7}"/>
              </a:ext>
            </a:extLst>
          </p:cNvPr>
          <p:cNvSpPr/>
          <p:nvPr/>
        </p:nvSpPr>
        <p:spPr>
          <a:xfrm>
            <a:off x="914400" y="11684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EC41F1-4168-5E49-9465-69789E77E0A3}"/>
              </a:ext>
            </a:extLst>
          </p:cNvPr>
          <p:cNvSpPr txBox="1"/>
          <p:nvPr/>
        </p:nvSpPr>
        <p:spPr>
          <a:xfrm>
            <a:off x="914400" y="13208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8A8F98"/>
                </a:solidFill>
                <a:latin typeface="Segoe UI"/>
                <a:cs typeface="Segoe UI"/>
              </a:rPr>
              <a:t>le partage déclaré Miguel / Maxime, séance par séance</a:t>
            </a:r>
            <a:endParaRPr lang="en-FR">
              <a:solidFill>
                <a:srgbClr val="8A8F98"/>
              </a:solidFill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AE4D2B-1490-C648-994F-8AB72B5A58A0}"/>
              </a:ext>
            </a:extLst>
          </p:cNvPr>
          <p:cNvSpPr txBox="1"/>
          <p:nvPr/>
        </p:nvSpPr>
        <p:spPr>
          <a:xfrm>
            <a:off x="914400" y="16510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 b="1">
                <a:solidFill>
                  <a:srgbClr val="1F4E79"/>
                </a:solidFill>
                <a:latin typeface="Segoe UI"/>
                <a:cs typeface="Segoe UI"/>
              </a:rPr>
              <a:t>Appelée quand on demande : « qui a fait quoi ? » — la question individuelle</a:t>
            </a:r>
            <a:endParaRPr lang="en-FR" sz="17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C06DFE-0B83-5A44-9164-0EA2E7E3E5D8}"/>
              </a:ext>
            </a:extLst>
          </p:cNvPr>
          <p:cNvSpPr/>
          <p:nvPr/>
        </p:nvSpPr>
        <p:spPr>
          <a:xfrm>
            <a:off x="914400" y="2032000"/>
            <a:ext cx="10414000" cy="3581400"/>
          </a:xfrm>
          <a:prstGeom prst="rect">
            <a:avLst/>
          </a:prstGeom>
          <a:solidFill>
            <a:srgbClr val="F2F3F5"/>
          </a:solidFill>
          <a:ln w="12700" cap="flat" cmpd="sng" algn="ctr">
            <a:solidFill>
              <a:srgbClr val="C7CD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>
                <a:solidFill>
                  <a:srgbClr val="3C3C3C"/>
                </a:solidFill>
                <a:latin typeface="Segoe UI"/>
                <a:cs typeface="Segoe UI"/>
              </a:rPr>
              <a:t>À composer : le partage déclaré Miguel / Maxime, séance par séance
(source : SOUTENANCE-S10.md §6.2 — accord des deux orateurs requis)</a:t>
            </a:r>
            <a:endParaRPr lang="en-FR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033973-DFBE-594E-A699-8E60D34C2DCA}"/>
              </a:ext>
            </a:extLst>
          </p:cNvPr>
          <p:cNvSpPr txBox="1"/>
          <p:nvPr/>
        </p:nvSpPr>
        <p:spPr>
          <a:xfrm>
            <a:off x="914400" y="57404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>
                <a:solidFill>
                  <a:srgbClr val="3C3C3C"/>
                </a:solidFill>
                <a:latin typeface="Segoe UI"/>
                <a:cs typeface="Segoe UI"/>
              </a:rPr>
              <a:t>Source : SOUTENANCE-S10.md §6.2 — à reporter ici, accord des deux orateurs requis</a:t>
            </a:r>
            <a:endParaRPr lang="en-FR" sz="1600">
              <a:solidFill>
                <a:srgbClr val="3C3C3C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82835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F6BDE3-314D-314D-8DDA-39D894383DAB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000" b="1">
                <a:solidFill>
                  <a:srgbClr val="1F4E79"/>
                </a:solidFill>
                <a:latin typeface="Segoe UI"/>
                <a:cs typeface="Segoe UI"/>
              </a:rPr>
              <a:t>A2 · Les échelles et la matrice 4×4</a:t>
            </a:r>
            <a:endParaRPr lang="en-FR" sz="30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54C80A-FAAB-4545-B416-D3602502305D}"/>
              </a:ext>
            </a:extLst>
          </p:cNvPr>
          <p:cNvSpPr/>
          <p:nvPr/>
        </p:nvSpPr>
        <p:spPr>
          <a:xfrm>
            <a:off x="914400" y="11684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F86D4-9E57-A743-B77E-8E03B249AFF6}"/>
              </a:ext>
            </a:extLst>
          </p:cNvPr>
          <p:cNvSpPr txBox="1"/>
          <p:nvPr/>
        </p:nvSpPr>
        <p:spPr>
          <a:xfrm>
            <a:off x="914400" y="13208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8A8F98"/>
                </a:solidFill>
                <a:latin typeface="Segoe UI"/>
                <a:cs typeface="Segoe UI"/>
              </a:rPr>
              <a:t>gravité, vraisemblance, seuil d'acceptation</a:t>
            </a:r>
            <a:endParaRPr lang="en-FR">
              <a:solidFill>
                <a:srgbClr val="8A8F98"/>
              </a:solidFill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8449EE-D096-A54D-A649-9D04B4F707AA}"/>
              </a:ext>
            </a:extLst>
          </p:cNvPr>
          <p:cNvSpPr txBox="1"/>
          <p:nvPr/>
        </p:nvSpPr>
        <p:spPr>
          <a:xfrm>
            <a:off x="914400" y="16510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 b="1">
                <a:solidFill>
                  <a:srgbClr val="1F4E79"/>
                </a:solidFill>
                <a:latin typeface="Segoe UI"/>
                <a:cs typeface="Segoe UI"/>
              </a:rPr>
              <a:t>Appelée quand on demande : « d'où sortent vos niveaux de risque ? »</a:t>
            </a:r>
            <a:endParaRPr lang="en-FR" sz="17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F6CBF2-8905-BE4D-B316-0A59BC3F80E2}"/>
              </a:ext>
            </a:extLst>
          </p:cNvPr>
          <p:cNvSpPr/>
          <p:nvPr/>
        </p:nvSpPr>
        <p:spPr>
          <a:xfrm>
            <a:off x="914400" y="2032000"/>
            <a:ext cx="10414000" cy="3581400"/>
          </a:xfrm>
          <a:prstGeom prst="rect">
            <a:avLst/>
          </a:prstGeom>
          <a:solidFill>
            <a:srgbClr val="F2F3F5"/>
          </a:solidFill>
          <a:ln w="12700" cap="flat" cmpd="sng" algn="ctr">
            <a:solidFill>
              <a:srgbClr val="C7CD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endParaRPr lang="en-FR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08F41-BF9D-6146-8F5F-3B548E3C19B6}"/>
              </a:ext>
            </a:extLst>
          </p:cNvPr>
          <p:cNvSpPr txBox="1"/>
          <p:nvPr/>
        </p:nvSpPr>
        <p:spPr>
          <a:xfrm>
            <a:off x="914400" y="57404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>
                <a:solidFill>
                  <a:srgbClr val="3C3C3C"/>
                </a:solidFill>
                <a:latin typeface="Segoe UI"/>
                <a:cs typeface="Segoe UI"/>
              </a:rPr>
              <a:t>Source : S5-06-matrice-4x4-niveaux-de-risque.jpg</a:t>
            </a:r>
            <a:endParaRPr lang="en-FR" sz="1600">
              <a:solidFill>
                <a:srgbClr val="3C3C3C"/>
              </a:solidFill>
              <a:latin typeface="Segoe UI"/>
              <a:cs typeface="Segoe U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095A77-3346-BE9D-F235-6CA48958EC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96" t="56374"/>
          <a:stretch>
            <a:fillRect/>
          </a:stretch>
        </p:blipFill>
        <p:spPr>
          <a:xfrm>
            <a:off x="2039821" y="2057400"/>
            <a:ext cx="7127336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20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C3F21-4FA1-1C48-8543-7EF48830264F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000" b="1">
                <a:solidFill>
                  <a:srgbClr val="1F4E79"/>
                </a:solidFill>
                <a:latin typeface="Segoe UI"/>
                <a:cs typeface="Segoe UI"/>
              </a:rPr>
              <a:t>A3 · Les sept événements redoutés cotés</a:t>
            </a:r>
            <a:endParaRPr lang="en-FR" sz="30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BBD3A7-7F5A-2D44-8EF0-DDD9222246D9}"/>
              </a:ext>
            </a:extLst>
          </p:cNvPr>
          <p:cNvSpPr/>
          <p:nvPr/>
        </p:nvSpPr>
        <p:spPr>
          <a:xfrm>
            <a:off x="914400" y="11684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096218-5321-F048-97BA-50011BBC8BDB}"/>
              </a:ext>
            </a:extLst>
          </p:cNvPr>
          <p:cNvSpPr txBox="1"/>
          <p:nvPr/>
        </p:nvSpPr>
        <p:spPr>
          <a:xfrm>
            <a:off x="914400" y="13208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8A8F98"/>
                </a:solidFill>
                <a:latin typeface="Segoe UI"/>
                <a:cs typeface="Segoe UI"/>
              </a:rPr>
              <a:t>les sept événements, leur cotation</a:t>
            </a:r>
            <a:endParaRPr lang="en-FR">
              <a:solidFill>
                <a:srgbClr val="8A8F98"/>
              </a:solidFill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A8FF5-E007-324E-89AD-0260841379D0}"/>
              </a:ext>
            </a:extLst>
          </p:cNvPr>
          <p:cNvSpPr txBox="1"/>
          <p:nvPr/>
        </p:nvSpPr>
        <p:spPr>
          <a:xfrm>
            <a:off x="914400" y="16510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 b="1">
                <a:solidFill>
                  <a:srgbClr val="1F4E79"/>
                </a:solidFill>
                <a:latin typeface="Segoe UI"/>
                <a:cs typeface="Segoe UI"/>
              </a:rPr>
              <a:t>Appelée quand on demande : « vous n'avez regardé que trois scénarios ? »</a:t>
            </a:r>
            <a:endParaRPr lang="en-FR" sz="17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C40D26-8EB9-6C48-9245-CD849D662F64}"/>
              </a:ext>
            </a:extLst>
          </p:cNvPr>
          <p:cNvSpPr/>
          <p:nvPr/>
        </p:nvSpPr>
        <p:spPr>
          <a:xfrm>
            <a:off x="914400" y="2032000"/>
            <a:ext cx="10414000" cy="3581400"/>
          </a:xfrm>
          <a:prstGeom prst="rect">
            <a:avLst/>
          </a:prstGeom>
          <a:solidFill>
            <a:srgbClr val="F2F3F5"/>
          </a:solidFill>
          <a:ln w="12700" cap="flat" cmpd="sng" algn="ctr">
            <a:solidFill>
              <a:srgbClr val="C7CD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endParaRPr lang="en-FR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DC2B77-0F8A-5F4A-92CF-C6A76B21DFB9}"/>
              </a:ext>
            </a:extLst>
          </p:cNvPr>
          <p:cNvSpPr txBox="1"/>
          <p:nvPr/>
        </p:nvSpPr>
        <p:spPr>
          <a:xfrm>
            <a:off x="914400" y="57404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>
                <a:solidFill>
                  <a:srgbClr val="3C3C3C"/>
                </a:solidFill>
                <a:latin typeface="Segoe UI"/>
                <a:cs typeface="Segoe UI"/>
              </a:rPr>
              <a:t>Source : S5-06-ER7-ajoute-7-evenements-redoutes.jpg</a:t>
            </a:r>
            <a:endParaRPr lang="en-FR" sz="1600">
              <a:solidFill>
                <a:srgbClr val="3C3C3C"/>
              </a:solidFill>
              <a:latin typeface="Segoe UI"/>
              <a:cs typeface="Segoe U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86A414-E521-F5C3-8D42-A488B8033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999" y="2057400"/>
            <a:ext cx="61408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28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398AD5-9F68-374D-A9FD-A5636859C956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000" b="1">
                <a:solidFill>
                  <a:srgbClr val="1F4E79"/>
                </a:solidFill>
                <a:latin typeface="Segoe UI"/>
                <a:cs typeface="Segoe UI"/>
              </a:rPr>
              <a:t>A4 · La carte de dangerosité de l'écosystème</a:t>
            </a:r>
            <a:endParaRPr lang="en-FR" sz="30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EC8E70-A633-174B-97E4-AEE324139037}"/>
              </a:ext>
            </a:extLst>
          </p:cNvPr>
          <p:cNvSpPr/>
          <p:nvPr/>
        </p:nvSpPr>
        <p:spPr>
          <a:xfrm>
            <a:off x="914400" y="11684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412F96-16EF-1049-B381-9D7EC9C415D9}"/>
              </a:ext>
            </a:extLst>
          </p:cNvPr>
          <p:cNvSpPr txBox="1"/>
          <p:nvPr/>
        </p:nvSpPr>
        <p:spPr>
          <a:xfrm>
            <a:off x="914400" y="13208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8A8F98"/>
                </a:solidFill>
                <a:latin typeface="Segoe UI"/>
                <a:cs typeface="Segoe UI"/>
              </a:rPr>
              <a:t>les quatre critères, les cinq cotations, le seuil</a:t>
            </a:r>
            <a:endParaRPr lang="en-FR">
              <a:solidFill>
                <a:srgbClr val="8A8F98"/>
              </a:solidFill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2B03A1-1C4A-484D-8BF3-73938EBA3D29}"/>
              </a:ext>
            </a:extLst>
          </p:cNvPr>
          <p:cNvSpPr txBox="1"/>
          <p:nvPr/>
        </p:nvSpPr>
        <p:spPr>
          <a:xfrm>
            <a:off x="914400" y="16510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 b="1">
                <a:solidFill>
                  <a:srgbClr val="1F4E79"/>
                </a:solidFill>
                <a:latin typeface="Segoe UI"/>
                <a:cs typeface="Segoe UI"/>
              </a:rPr>
              <a:t>Appelée quand on demande : « comment cotez-vous un partenaire ? »</a:t>
            </a:r>
            <a:endParaRPr lang="en-FR" sz="17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F7F5D8-F39C-AB4F-B66A-58EDAD48ECB9}"/>
              </a:ext>
            </a:extLst>
          </p:cNvPr>
          <p:cNvSpPr/>
          <p:nvPr/>
        </p:nvSpPr>
        <p:spPr>
          <a:xfrm>
            <a:off x="914400" y="2032000"/>
            <a:ext cx="10414000" cy="3581400"/>
          </a:xfrm>
          <a:prstGeom prst="rect">
            <a:avLst/>
          </a:prstGeom>
          <a:solidFill>
            <a:srgbClr val="F2F3F5"/>
          </a:solidFill>
          <a:ln w="12700" cap="flat" cmpd="sng" algn="ctr">
            <a:solidFill>
              <a:srgbClr val="C7CD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endParaRPr lang="en-FR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978A84-3DDE-E94E-AA9D-0B3D3A8D7A56}"/>
              </a:ext>
            </a:extLst>
          </p:cNvPr>
          <p:cNvSpPr txBox="1"/>
          <p:nvPr/>
        </p:nvSpPr>
        <p:spPr>
          <a:xfrm>
            <a:off x="914400" y="57404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>
                <a:solidFill>
                  <a:srgbClr val="3C3C3C"/>
                </a:solidFill>
                <a:latin typeface="Segoe UI"/>
                <a:cs typeface="Segoe UI"/>
              </a:rPr>
              <a:t>Source : S6-05-ex3-carte-dangerosite-classement.jpg</a:t>
            </a:r>
            <a:endParaRPr lang="en-FR" sz="1600">
              <a:solidFill>
                <a:srgbClr val="3C3C3C"/>
              </a:solidFill>
              <a:latin typeface="Segoe UI"/>
              <a:cs typeface="Segoe U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5C1FCF-7A69-6639-D52C-50B41B487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671" y="2057400"/>
            <a:ext cx="2285457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06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5382A2-1D90-D04C-8F37-1E826A6D29C0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000" b="1">
                <a:solidFill>
                  <a:srgbClr val="1F4E79"/>
                </a:solidFill>
                <a:latin typeface="Segoe UI"/>
                <a:cs typeface="Segoe UI"/>
              </a:rPr>
              <a:t>A5 · Le registre à huit lignes</a:t>
            </a:r>
            <a:endParaRPr lang="en-FR" sz="30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F37956-BDD9-6441-B9F5-E9A2CC25F062}"/>
              </a:ext>
            </a:extLst>
          </p:cNvPr>
          <p:cNvSpPr/>
          <p:nvPr/>
        </p:nvSpPr>
        <p:spPr>
          <a:xfrm>
            <a:off x="914400" y="11684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906396-7282-9B47-9F44-5B51BEC202CA}"/>
              </a:ext>
            </a:extLst>
          </p:cNvPr>
          <p:cNvSpPr txBox="1"/>
          <p:nvPr/>
        </p:nvSpPr>
        <p:spPr>
          <a:xfrm>
            <a:off x="914400" y="13208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8A8F98"/>
                </a:solidFill>
                <a:latin typeface="Segoe UI"/>
                <a:cs typeface="Segoe UI"/>
              </a:rPr>
              <a:t>actuel, résiduel, mesures, porteurs</a:t>
            </a:r>
            <a:endParaRPr lang="en-FR">
              <a:solidFill>
                <a:srgbClr val="8A8F98"/>
              </a:solidFill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8C3B07-2DD7-B148-B9E4-991A7CC16DD3}"/>
              </a:ext>
            </a:extLst>
          </p:cNvPr>
          <p:cNvSpPr txBox="1"/>
          <p:nvPr/>
        </p:nvSpPr>
        <p:spPr>
          <a:xfrm>
            <a:off x="914400" y="16510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 b="1">
                <a:solidFill>
                  <a:srgbClr val="1F4E79"/>
                </a:solidFill>
                <a:latin typeface="Segoe UI"/>
                <a:cs typeface="Segoe UI"/>
              </a:rPr>
              <a:t>Appelée quand on demande : « montrez-moi le registre »</a:t>
            </a:r>
            <a:endParaRPr lang="en-FR" sz="17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EE2619-92DB-314D-8480-172E0614AC47}"/>
              </a:ext>
            </a:extLst>
          </p:cNvPr>
          <p:cNvSpPr/>
          <p:nvPr/>
        </p:nvSpPr>
        <p:spPr>
          <a:xfrm>
            <a:off x="914400" y="2032000"/>
            <a:ext cx="10414000" cy="3581400"/>
          </a:xfrm>
          <a:prstGeom prst="rect">
            <a:avLst/>
          </a:prstGeom>
          <a:solidFill>
            <a:srgbClr val="F2F3F5"/>
          </a:solidFill>
          <a:ln w="12700" cap="flat" cmpd="sng" algn="ctr">
            <a:solidFill>
              <a:srgbClr val="C7CD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endParaRPr lang="en-FR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A03897-9D69-CC48-A486-BD319BB3C74E}"/>
              </a:ext>
            </a:extLst>
          </p:cNvPr>
          <p:cNvSpPr txBox="1"/>
          <p:nvPr/>
        </p:nvSpPr>
        <p:spPr>
          <a:xfrm>
            <a:off x="914400" y="57404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>
                <a:solidFill>
                  <a:srgbClr val="3C3C3C"/>
                </a:solidFill>
                <a:latin typeface="Segoe UI"/>
                <a:cs typeface="Segoe UI"/>
              </a:rPr>
              <a:t>Source : S7-05-ex3-registre-genere.jpg</a:t>
            </a:r>
            <a:endParaRPr lang="en-FR" sz="1600">
              <a:solidFill>
                <a:srgbClr val="3C3C3C"/>
              </a:solidFill>
              <a:latin typeface="Segoe UI"/>
              <a:cs typeface="Segoe U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4D0F66-FD34-6E89-D1F4-D4E0677CB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243" y="2057400"/>
            <a:ext cx="6134312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40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956FF9-925E-E64E-B12F-258DD78B3BC5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000" b="1">
                <a:solidFill>
                  <a:srgbClr val="1F4E79"/>
                </a:solidFill>
                <a:latin typeface="Segoe UI"/>
                <a:cs typeface="Segoe UI"/>
              </a:rPr>
              <a:t>A6 · Les treize mesures avec leurs coûts</a:t>
            </a:r>
            <a:endParaRPr lang="en-FR" sz="30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9D6E63-CA76-9347-BEFD-FEA04977EF18}"/>
              </a:ext>
            </a:extLst>
          </p:cNvPr>
          <p:cNvSpPr/>
          <p:nvPr/>
        </p:nvSpPr>
        <p:spPr>
          <a:xfrm>
            <a:off x="914400" y="11684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65D56-134E-B947-BD17-CF45F028D6BA}"/>
              </a:ext>
            </a:extLst>
          </p:cNvPr>
          <p:cNvSpPr txBox="1"/>
          <p:nvPr/>
        </p:nvSpPr>
        <p:spPr>
          <a:xfrm>
            <a:off x="914400" y="13208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8A8F98"/>
                </a:solidFill>
                <a:latin typeface="Segoe UI"/>
                <a:cs typeface="Segoe UI"/>
              </a:rPr>
              <a:t>build, run, amortissement, annuité, porteur, échéance</a:t>
            </a:r>
            <a:endParaRPr lang="en-FR">
              <a:solidFill>
                <a:srgbClr val="8A8F98"/>
              </a:solidFill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BCF637-334A-E04F-92D6-235BA3026F2A}"/>
              </a:ext>
            </a:extLst>
          </p:cNvPr>
          <p:cNvSpPr txBox="1"/>
          <p:nvPr/>
        </p:nvSpPr>
        <p:spPr>
          <a:xfrm>
            <a:off x="914400" y="16510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 b="1">
                <a:solidFill>
                  <a:srgbClr val="1F4E79"/>
                </a:solidFill>
                <a:latin typeface="Segoe UI"/>
                <a:cs typeface="Segoe UI"/>
              </a:rPr>
              <a:t>Appelée quand on demande : « détaillez les 82 000 € »</a:t>
            </a:r>
            <a:endParaRPr lang="en-FR" sz="17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32ED4B-40E8-7F45-BA42-B9AB1D731E4B}"/>
              </a:ext>
            </a:extLst>
          </p:cNvPr>
          <p:cNvSpPr/>
          <p:nvPr/>
        </p:nvSpPr>
        <p:spPr>
          <a:xfrm>
            <a:off x="914400" y="2032000"/>
            <a:ext cx="10414000" cy="3581400"/>
          </a:xfrm>
          <a:prstGeom prst="rect">
            <a:avLst/>
          </a:prstGeom>
          <a:solidFill>
            <a:srgbClr val="F2F3F5"/>
          </a:solidFill>
          <a:ln w="12700" cap="flat" cmpd="sng" algn="ctr">
            <a:solidFill>
              <a:srgbClr val="C7CD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endParaRPr lang="en-FR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4C2C7D-86B7-6D49-B075-CA900AA2EFB0}"/>
              </a:ext>
            </a:extLst>
          </p:cNvPr>
          <p:cNvSpPr txBox="1"/>
          <p:nvPr/>
        </p:nvSpPr>
        <p:spPr>
          <a:xfrm>
            <a:off x="914400" y="57404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>
                <a:solidFill>
                  <a:srgbClr val="3C3C3C"/>
                </a:solidFill>
                <a:latin typeface="Segoe UI"/>
                <a:cs typeface="Segoe UI"/>
              </a:rPr>
              <a:t>Source : D7 §1 · S7-06-mesures-appliquees-couts-build-run.jpg</a:t>
            </a:r>
            <a:endParaRPr lang="en-FR" sz="1600">
              <a:solidFill>
                <a:srgbClr val="3C3C3C"/>
              </a:solidFill>
              <a:latin typeface="Segoe UI"/>
              <a:cs typeface="Segoe U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E71CF5-5303-EB7A-146A-BC0830337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989" y="2057400"/>
            <a:ext cx="582882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378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C3D44B-1A23-2A47-90D4-C0C5B3ED5337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000" b="1">
                <a:solidFill>
                  <a:srgbClr val="1F4E79"/>
                </a:solidFill>
                <a:latin typeface="Segoe UI"/>
                <a:cs typeface="Segoe UI"/>
              </a:rPr>
              <a:t>A7 · La déclaration d'applicabilité</a:t>
            </a:r>
            <a:endParaRPr lang="en-FR" sz="30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51D486-9DF3-3448-877E-3A7B80B89A70}"/>
              </a:ext>
            </a:extLst>
          </p:cNvPr>
          <p:cNvSpPr/>
          <p:nvPr/>
        </p:nvSpPr>
        <p:spPr>
          <a:xfrm>
            <a:off x="914400" y="11684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6B425-3575-F94F-80BE-35B6DA540168}"/>
              </a:ext>
            </a:extLst>
          </p:cNvPr>
          <p:cNvSpPr txBox="1"/>
          <p:nvPr/>
        </p:nvSpPr>
        <p:spPr>
          <a:xfrm>
            <a:off x="914400" y="13208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8A8F98"/>
                </a:solidFill>
                <a:latin typeface="Segoe UI"/>
                <a:cs typeface="Segoe UI"/>
              </a:rPr>
              <a:t>15 contrôles, taux de couverture, l'exclusion et son motif</a:t>
            </a:r>
            <a:endParaRPr lang="en-FR">
              <a:solidFill>
                <a:srgbClr val="8A8F98"/>
              </a:solidFill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E350C-6C9E-0941-8C1C-540AAF47F7B0}"/>
              </a:ext>
            </a:extLst>
          </p:cNvPr>
          <p:cNvSpPr txBox="1"/>
          <p:nvPr/>
        </p:nvSpPr>
        <p:spPr>
          <a:xfrm>
            <a:off x="914400" y="16510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 b="1">
                <a:solidFill>
                  <a:srgbClr val="1F4E79"/>
                </a:solidFill>
                <a:latin typeface="Segoe UI"/>
                <a:cs typeface="Segoe UI"/>
              </a:rPr>
              <a:t>Appelée quand on demande : « pourquoi si peu de contrôles ? »</a:t>
            </a:r>
            <a:endParaRPr lang="en-FR" sz="17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CACA1E-95CA-5645-B16C-35A7953E7270}"/>
              </a:ext>
            </a:extLst>
          </p:cNvPr>
          <p:cNvSpPr/>
          <p:nvPr/>
        </p:nvSpPr>
        <p:spPr>
          <a:xfrm>
            <a:off x="914400" y="2032000"/>
            <a:ext cx="10414000" cy="3581400"/>
          </a:xfrm>
          <a:prstGeom prst="rect">
            <a:avLst/>
          </a:prstGeom>
          <a:solidFill>
            <a:srgbClr val="F2F3F5"/>
          </a:solidFill>
          <a:ln w="12700" cap="flat" cmpd="sng" algn="ctr">
            <a:solidFill>
              <a:srgbClr val="C7CD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endParaRPr lang="en-FR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5E6B5D-DFDB-DC4C-A549-5E3E7FBFF7AE}"/>
              </a:ext>
            </a:extLst>
          </p:cNvPr>
          <p:cNvSpPr txBox="1"/>
          <p:nvPr/>
        </p:nvSpPr>
        <p:spPr>
          <a:xfrm>
            <a:off x="914400" y="57404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>
                <a:solidFill>
                  <a:srgbClr val="3C3C3C"/>
                </a:solidFill>
                <a:latin typeface="Segoe UI"/>
                <a:cs typeface="Segoe UI"/>
              </a:rPr>
              <a:t>Source : S8-05-annexe-A-declaration-applicabilite-15-controles.jpg  (+ exclusion A.8.28 justifiée)</a:t>
            </a:r>
            <a:endParaRPr lang="en-FR" sz="1500">
              <a:solidFill>
                <a:srgbClr val="3C3C3C"/>
              </a:solidFill>
              <a:latin typeface="Segoe UI"/>
              <a:cs typeface="Segoe U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2EC07A-756A-BCBE-4564-FA96F4F90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110" y="2057400"/>
            <a:ext cx="6724579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19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6F2CC0-AE6E-4041-A30B-019EA3F5061C}"/>
              </a:ext>
            </a:extLst>
          </p:cNvPr>
          <p:cNvSpPr txBox="1"/>
          <p:nvPr/>
        </p:nvSpPr>
        <p:spPr>
          <a:xfrm>
            <a:off x="914400" y="5080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000" b="1">
                <a:solidFill>
                  <a:srgbClr val="1F4E79"/>
                </a:solidFill>
                <a:latin typeface="Segoe UI"/>
                <a:cs typeface="Segoe UI"/>
              </a:rPr>
              <a:t>A8 · Le tableau de bord d'indicateurs, daté</a:t>
            </a:r>
            <a:endParaRPr lang="en-FR" sz="30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3853DD-2DE2-4440-AD93-FB02E2D865CE}"/>
              </a:ext>
            </a:extLst>
          </p:cNvPr>
          <p:cNvSpPr/>
          <p:nvPr/>
        </p:nvSpPr>
        <p:spPr>
          <a:xfrm>
            <a:off x="914400" y="11684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B5AC4-24AE-2646-9032-0EB3D5B18B29}"/>
              </a:ext>
            </a:extLst>
          </p:cNvPr>
          <p:cNvSpPr txBox="1"/>
          <p:nvPr/>
        </p:nvSpPr>
        <p:spPr>
          <a:xfrm>
            <a:off x="914400" y="13208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8A8F98"/>
                </a:solidFill>
                <a:latin typeface="Segoe UI"/>
                <a:cs typeface="Segoe UI"/>
              </a:rPr>
              <a:t>les indicateurs, leur rythme, leur propriétaire</a:t>
            </a:r>
            <a:endParaRPr lang="en-FR">
              <a:solidFill>
                <a:srgbClr val="8A8F98"/>
              </a:solidFill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18896-9FD3-E544-8562-1D9208BD1B9F}"/>
              </a:ext>
            </a:extLst>
          </p:cNvPr>
          <p:cNvSpPr txBox="1"/>
          <p:nvPr/>
        </p:nvSpPr>
        <p:spPr>
          <a:xfrm>
            <a:off x="914400" y="16510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700" b="1">
                <a:solidFill>
                  <a:srgbClr val="1F4E79"/>
                </a:solidFill>
                <a:latin typeface="Segoe UI"/>
                <a:cs typeface="Segoe UI"/>
              </a:rPr>
              <a:t>Appelée quand on demande : « comment saurez-vous que ça marche ? »</a:t>
            </a:r>
            <a:endParaRPr lang="en-FR" sz="1700" b="1">
              <a:solidFill>
                <a:srgbClr val="1F4E79"/>
              </a:solidFill>
              <a:latin typeface="Segoe UI"/>
              <a:cs typeface="Segoe U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35C6AE-3E11-1A46-B4D5-6444F2B2BB20}"/>
              </a:ext>
            </a:extLst>
          </p:cNvPr>
          <p:cNvSpPr/>
          <p:nvPr/>
        </p:nvSpPr>
        <p:spPr>
          <a:xfrm>
            <a:off x="914400" y="2032000"/>
            <a:ext cx="10414000" cy="3581400"/>
          </a:xfrm>
          <a:prstGeom prst="rect">
            <a:avLst/>
          </a:prstGeom>
          <a:solidFill>
            <a:srgbClr val="F2F3F5"/>
          </a:solidFill>
          <a:ln w="12700" cap="flat" cmpd="sng" algn="ctr">
            <a:solidFill>
              <a:srgbClr val="C7CD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>
                <a:solidFill>
                  <a:srgbClr val="3C3C3C"/>
                </a:solidFill>
                <a:latin typeface="Segoe UI"/>
                <a:cs typeface="Segoe UI"/>
              </a:rPr>
              <a:t>À produire en séance 9 : capture datée du tableau de bord d'indicateurs
(exigée par le TP 2)</a:t>
            </a:r>
            <a:endParaRPr lang="en-FR">
              <a:solidFill>
                <a:srgbClr val="3C3C3C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9F6F2-F918-BC40-8354-5C6699AD92D4}"/>
              </a:ext>
            </a:extLst>
          </p:cNvPr>
          <p:cNvSpPr txBox="1"/>
          <p:nvPr/>
        </p:nvSpPr>
        <p:spPr>
          <a:xfrm>
            <a:off x="914400" y="57404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>
                <a:solidFill>
                  <a:srgbClr val="3C3C3C"/>
                </a:solidFill>
                <a:latin typeface="Segoe UI"/>
                <a:cs typeface="Segoe UI"/>
              </a:rPr>
              <a:t>Source : à produire en séance 9 — capture datée exigée par le TP 2</a:t>
            </a:r>
            <a:endParaRPr lang="en-FR" sz="1600">
              <a:solidFill>
                <a:srgbClr val="3C3C3C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84919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9545212958]">
  <a:themeElements>
    <a:clrScheme name="Office">
      <a:dk1>
        <a:srgbClr val="1A1A1A"/>
      </a:dk1>
      <a:lt1>
        <a:srgbClr val="FFFFFF"/>
      </a:lt1>
      <a:dk2>
        <a:srgbClr val="3C3C3C"/>
      </a:dk2>
      <a:lt2>
        <a:srgbClr val="F2F3F5"/>
      </a:lt2>
      <a:accent1>
        <a:srgbClr val="1F4E79"/>
      </a:accent1>
      <a:accent2>
        <a:srgbClr val="4A6E8A"/>
      </a:accent2>
      <a:accent3>
        <a:srgbClr val="8A8F98"/>
      </a:accent3>
      <a:accent4>
        <a:srgbClr val="C7CDD4"/>
      </a:accent4>
      <a:accent5>
        <a:srgbClr val="E8EBEF"/>
      </a:accent5>
      <a:accent6>
        <a:srgbClr val="B03A2E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D6A44B-D228-9F42-80A8-F6C01C258E5D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c9957092-3692-40a8-91f8-6bf1a8da854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1723</Words>
  <Application>Microsoft Macintosh PowerPoint</Application>
  <PresentationFormat>Widescreen</PresentationFormat>
  <Paragraphs>221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Segoe UI</vt:lpstr>
      <vt:lpstr>Segoe UI Semibold</vt:lpstr>
      <vt:lpstr>Office Theme [1789545212958]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MONEREO DE LA SOTA Miguel</dc:creator>
  <cp:lastModifiedBy>MONEREO DE LA SOTA Miguel</cp:lastModifiedBy>
  <cp:revision>7</cp:revision>
  <dcterms:created xsi:type="dcterms:W3CDTF">2026-09-16T07:18:19Z</dcterms:created>
  <dcterms:modified xsi:type="dcterms:W3CDTF">2026-09-16T08:18:21Z</dcterms:modified>
</cp:coreProperties>
</file>