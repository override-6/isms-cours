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26"/>
  </p:notesMasterIdLst>
  <p:sldIdLst>
    <p:sldId id="293" r:id="rId2"/>
    <p:sldId id="294" r:id="rId3"/>
    <p:sldId id="295" r:id="rId4"/>
    <p:sldId id="296" r:id="rId5"/>
    <p:sldId id="297" r:id="rId6"/>
    <p:sldId id="298" r:id="rId7"/>
    <p:sldId id="299" r:id="rId8"/>
    <p:sldId id="300" r:id="rId9"/>
    <p:sldId id="301" r:id="rId10"/>
    <p:sldId id="302" r:id="rId11"/>
    <p:sldId id="303" r:id="rId12"/>
    <p:sldId id="304" r:id="rId13"/>
    <p:sldId id="305" r:id="rId14"/>
    <p:sldId id="306" r:id="rId15"/>
    <p:sldId id="307" r:id="rId16"/>
    <p:sldId id="273" r:id="rId17"/>
    <p:sldId id="274" r:id="rId18"/>
    <p:sldId id="275" r:id="rId19"/>
    <p:sldId id="276" r:id="rId20"/>
    <p:sldId id="277" r:id="rId21"/>
    <p:sldId id="278" r:id="rId22"/>
    <p:sldId id="279" r:id="rId23"/>
    <p:sldId id="280" r:id="rId24"/>
    <p:sldId id="281" r:id="rId25"/>
  </p:sldIdLst>
  <p:sldSz cx="12192000" cy="6858000"/>
  <p:notesSz cx="6858000" cy="9144000"/>
  <p:defaultText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146"/>
    <p:restoredTop sz="94640"/>
  </p:normalViewPr>
  <p:slideViewPr>
    <p:cSldViewPr snapToGrid="0">
      <p:cViewPr>
        <p:scale>
          <a:sx n="129" d="100"/>
          <a:sy n="129" d="100"/>
        </p:scale>
        <p:origin x="896" y="14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barChart>
        <c:barDir val="col"/>
        <c:grouping val="stacked"/>
        <c:varyColors val="0"/>
        <c:ser>
          <c:idx val="0"/>
          <c:order val="0"/>
          <c:tx>
            <c:v>Faible</c:v>
          </c:tx>
          <c:spPr>
            <a:solidFill>
              <a:srgbClr val="C7CDD4"/>
            </a:solidFill>
            <a:ln>
              <a:solidFill>
                <a:srgbClr val="FFFFFF"/>
              </a:solidFill>
            </a:ln>
          </c:spPr>
          <c:invertIfNegative val="1"/>
          <c:dLbls>
            <c:numFmt formatCode="#,##0;\-#,##0;" sourceLinked="0"/>
            <c:spPr>
              <a:noFill/>
              <a:ln>
                <a:noFill/>
              </a:ln>
              <a:effectLst/>
            </c:spPr>
            <c:txPr>
              <a:bodyPr/>
              <a:lstStyle/>
              <a:p>
                <a:pPr>
                  <a:defRPr sz="1400" b="0">
                    <a:solidFill>
                      <a:srgbClr val="1A1A1A"/>
                    </a:solidFill>
                    <a:latin typeface="Segoe U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AVANT traitement</c:v>
              </c:pt>
              <c:pt idx="1">
                <c:v>APRÈS traitement</c:v>
              </c:pt>
            </c:strLit>
          </c:cat>
          <c:val>
            <c:numLit>
              <c:formatCode>General</c:formatCode>
              <c:ptCount val="2"/>
              <c:pt idx="0">
                <c:v>2</c:v>
              </c:pt>
              <c:pt idx="1">
                <c:v>2</c:v>
              </c:pt>
            </c:numLit>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0-EB4C-FE40-98B2-CCC9CE8FC298}"/>
            </c:ext>
          </c:extLst>
        </c:ser>
        <c:ser>
          <c:idx val="1"/>
          <c:order val="1"/>
          <c:tx>
            <c:v>Moyen</c:v>
          </c:tx>
          <c:spPr>
            <a:solidFill>
              <a:srgbClr val="8A8F98"/>
            </a:solidFill>
            <a:ln>
              <a:solidFill>
                <a:srgbClr val="FFFFFF"/>
              </a:solidFill>
            </a:ln>
          </c:spPr>
          <c:invertIfNegative val="1"/>
          <c:dLbls>
            <c:numFmt formatCode="#,##0;\-#,##0;" sourceLinked="0"/>
            <c:spPr>
              <a:noFill/>
              <a:ln>
                <a:noFill/>
              </a:ln>
              <a:effectLst/>
            </c:spPr>
            <c:txPr>
              <a:bodyPr/>
              <a:lstStyle/>
              <a:p>
                <a:pPr>
                  <a:defRPr sz="1400" b="0">
                    <a:solidFill>
                      <a:srgbClr val="1A1A1A"/>
                    </a:solidFill>
                    <a:latin typeface="Segoe U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AVANT traitement</c:v>
              </c:pt>
              <c:pt idx="1">
                <c:v>APRÈS traitement</c:v>
              </c:pt>
            </c:strLit>
          </c:cat>
          <c:val>
            <c:numLit>
              <c:formatCode>General</c:formatCode>
              <c:ptCount val="2"/>
              <c:pt idx="0">
                <c:v>0</c:v>
              </c:pt>
              <c:pt idx="1">
                <c:v>6</c:v>
              </c:pt>
            </c:numLit>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1-EB4C-FE40-98B2-CCC9CE8FC298}"/>
            </c:ext>
          </c:extLst>
        </c:ser>
        <c:ser>
          <c:idx val="2"/>
          <c:order val="2"/>
          <c:tx>
            <c:v>Élevé</c:v>
          </c:tx>
          <c:spPr>
            <a:solidFill>
              <a:srgbClr val="4A6E8A"/>
            </a:solidFill>
            <a:ln>
              <a:solidFill>
                <a:srgbClr val="FFFFFF"/>
              </a:solidFill>
            </a:ln>
          </c:spPr>
          <c:invertIfNegative val="1"/>
          <c:dLbls>
            <c:numFmt formatCode="#,##0;\-#,##0;" sourceLinked="0"/>
            <c:spPr>
              <a:noFill/>
              <a:ln>
                <a:noFill/>
              </a:ln>
              <a:effectLst/>
            </c:spPr>
            <c:txPr>
              <a:bodyPr/>
              <a:lstStyle/>
              <a:p>
                <a:pPr>
                  <a:defRPr sz="1400" b="0">
                    <a:solidFill>
                      <a:srgbClr val="FFFFFF"/>
                    </a:solidFill>
                    <a:latin typeface="Segoe U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AVANT traitement</c:v>
              </c:pt>
              <c:pt idx="1">
                <c:v>APRÈS traitement</c:v>
              </c:pt>
            </c:strLit>
          </c:cat>
          <c:val>
            <c:numLit>
              <c:formatCode>General</c:formatCode>
              <c:ptCount val="2"/>
              <c:pt idx="0">
                <c:v>3</c:v>
              </c:pt>
              <c:pt idx="1">
                <c:v>0</c:v>
              </c:pt>
            </c:numLit>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2-EB4C-FE40-98B2-CCC9CE8FC298}"/>
            </c:ext>
          </c:extLst>
        </c:ser>
        <c:ser>
          <c:idx val="3"/>
          <c:order val="3"/>
          <c:tx>
            <c:v>Critique</c:v>
          </c:tx>
          <c:spPr>
            <a:solidFill>
              <a:srgbClr val="1F4E79"/>
            </a:solidFill>
            <a:ln>
              <a:solidFill>
                <a:srgbClr val="FFFFFF"/>
              </a:solidFill>
            </a:ln>
          </c:spPr>
          <c:invertIfNegative val="1"/>
          <c:dLbls>
            <c:numFmt formatCode="#,##0;\-#,##0;" sourceLinked="0"/>
            <c:spPr>
              <a:noFill/>
              <a:ln>
                <a:noFill/>
              </a:ln>
              <a:effectLst/>
            </c:spPr>
            <c:txPr>
              <a:bodyPr/>
              <a:lstStyle/>
              <a:p>
                <a:pPr>
                  <a:defRPr sz="1400" b="0">
                    <a:solidFill>
                      <a:srgbClr val="FFFFFF"/>
                    </a:solidFill>
                    <a:latin typeface="Segoe U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AVANT traitement</c:v>
              </c:pt>
              <c:pt idx="1">
                <c:v>APRÈS traitement</c:v>
              </c:pt>
            </c:strLit>
          </c:cat>
          <c:val>
            <c:numLit>
              <c:formatCode>General</c:formatCode>
              <c:ptCount val="2"/>
              <c:pt idx="0">
                <c:v>3</c:v>
              </c:pt>
              <c:pt idx="1">
                <c:v>0</c:v>
              </c:pt>
            </c:numLit>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3-EB4C-FE40-98B2-CCC9CE8FC298}"/>
            </c:ext>
          </c:extLst>
        </c:ser>
        <c:ser>
          <c:idx val="4"/>
          <c:order val="4"/>
          <c:tx>
            <c:v>Totals</c:v>
          </c:tx>
          <c:spPr>
            <a:noFill/>
            <a:ln>
              <a:noFill/>
            </a:ln>
          </c:spPr>
          <c:invertIfNegative val="1"/>
          <c:dLbls>
            <c:numFmt formatCode="#,##0&quot; scénarios&quot;" sourceLinked="0"/>
            <c:spPr>
              <a:noFill/>
              <a:ln>
                <a:noFill/>
              </a:ln>
              <a:effectLst/>
            </c:spPr>
            <c:txPr>
              <a:bodyPr/>
              <a:lstStyle/>
              <a:p>
                <a:pPr>
                  <a:defRPr sz="1400" b="1">
                    <a:solidFill>
                      <a:srgbClr val="595959"/>
                    </a:solidFill>
                    <a:latin typeface="Segoe UI"/>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AVANT traitement</c:v>
              </c:pt>
              <c:pt idx="1">
                <c:v>APRÈS traitement</c:v>
              </c:pt>
            </c:strLit>
          </c:cat>
          <c:val>
            <c:numLit>
              <c:formatCode>General</c:formatCode>
              <c:ptCount val="2"/>
              <c:pt idx="0">
                <c:v>8</c:v>
              </c:pt>
              <c:pt idx="1">
                <c:v>8</c:v>
              </c:pt>
            </c:numLit>
          </c:val>
          <c:extLst>
            <c:ext xmlns:c16="http://schemas.microsoft.com/office/drawing/2014/chart" uri="{C3380CC4-5D6E-409C-BE32-E72D297353CC}">
              <c16:uniqueId val="{00000004-EB4C-FE40-98B2-CCC9CE8FC298}"/>
            </c:ext>
          </c:extLst>
        </c:ser>
        <c:dLbls>
          <c:showLegendKey val="0"/>
          <c:showVal val="0"/>
          <c:showCatName val="0"/>
          <c:showSerName val="0"/>
          <c:showPercent val="0"/>
          <c:showBubbleSize val="0"/>
        </c:dLbls>
        <c:gapWidth val="50"/>
        <c:overlap val="10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1A1A1A"/>
                </a:solidFill>
                <a:latin typeface="Segoe UI"/>
              </a:defRPr>
            </a:pPr>
            <a:endParaRPr lang="en-US"/>
          </a:p>
        </c:txPr>
        <c:crossAx val="2"/>
        <c:crosses val="autoZero"/>
        <c:auto val="1"/>
        <c:lblAlgn val="ctr"/>
        <c:lblOffset val="100"/>
        <c:noMultiLvlLbl val="1"/>
      </c:catAx>
      <c:valAx>
        <c:axId val="2"/>
        <c:scaling>
          <c:orientation val="minMax"/>
          <c:max val="10"/>
          <c:min val="0"/>
        </c:scaling>
        <c:delete val="1"/>
        <c:axPos val="l"/>
        <c:numFmt formatCode="General" sourceLinked="1"/>
        <c:majorTickMark val="none"/>
        <c:minorTickMark val="none"/>
        <c:tickLblPos val="none"/>
        <c:crossAx val="1"/>
        <c:crosses val="autoZero"/>
        <c:crossBetween val="between"/>
      </c:valAx>
      <c:spPr>
        <a:noFill/>
        <a:ln>
          <a:noFill/>
        </a:ln>
      </c:spPr>
    </c:plotArea>
    <c:legend>
      <c:legendPos val="b"/>
      <c:legendEntry>
        <c:idx val="4"/>
        <c:delete val="1"/>
      </c:legendEntry>
      <c:overlay val="0"/>
      <c:txPr>
        <a:bodyPr rot="0" vert="horz"/>
        <a:lstStyle/>
        <a:p>
          <a:pPr>
            <a:defRPr sz="1400" b="0">
              <a:solidFill>
                <a:srgbClr val="3C3C3C"/>
              </a:solidFill>
              <a:latin typeface="Segoe UI"/>
            </a:defRPr>
          </a:pPr>
          <a:endParaRPr lang="en-US"/>
        </a:p>
      </c:txPr>
    </c:legend>
    <c:plotVisOnly val="1"/>
    <c:dispBlanksAs val="gap"/>
    <c:showDLblsOverMax val="1"/>
  </c:chart>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F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C1DF72-3AE9-DC48-AC73-6913F76D8B60}" type="datetimeFigureOut">
              <a:rPr lang="en-FR" smtClean="0"/>
              <a:t>16/09/2026</a:t>
            </a:fld>
            <a:endParaRPr lang="en-F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F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F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5BDED24-37C4-074C-AE90-3D14477ED167}" type="slidenum">
              <a:rPr lang="en-FR" smtClean="0"/>
              <a:t>‹#›</a:t>
            </a:fld>
            <a:endParaRPr lang="en-FR"/>
          </a:p>
        </p:txBody>
      </p:sp>
    </p:spTree>
    <p:extLst>
      <p:ext uri="{BB962C8B-B14F-4D97-AF65-F5344CB8AC3E}">
        <p14:creationId xmlns:p14="http://schemas.microsoft.com/office/powerpoint/2010/main" val="14929112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1 · Titre — 00:00 → 00:20 · Miguel</a:t>
            </a:r>
          </a:p>
          <a:p>
            <a:r>
              <a:rPr lang="fr-FR" dirty="0"/>
              <a:t>Bonjour. Miguel Monereo, et Maxime. Nous portons la sécurité de l'information chez MERIDIAN Logistique.</a:t>
            </a:r>
          </a:p>
          <a:p>
            <a:r>
              <a:rPr lang="fr-FR" dirty="0"/>
              <a:t>Nous avons dix-huit minutes. Nous n'allons pas vous faire un rapport : nous venons vous demander quatre décisions, et vous dire ce qu'elles coûtent.</a:t>
            </a:r>
          </a:p>
          <a:p>
            <a:r>
              <a:rPr lang="fr-FR" dirty="0"/>
              <a:t>[Clic immédiat. Pas de slide « sommaire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2 · Le message en une minute — 00:20 → 01:05 · Miguel</a:t>
            </a:r>
          </a:p>
          <a:p>
            <a:r>
              <a:rPr lang="fr-FR" dirty="0"/>
              <a:t>Je commence par le résumé, pour que vous l'ayez tout de suite.</a:t>
            </a:r>
          </a:p>
          <a:p>
            <a:r>
              <a:rPr lang="fr-FR" dirty="0"/>
              <a:t>Quarante pour cent de tout ce que le groupe expédie passe par un seul système informatique. Sur un seul site. Et nous n'avons jamais vérifié que nous savions le redémarrer.</a:t>
            </a:r>
          </a:p>
          <a:p>
            <a:r>
              <a:rPr lang="fr-FR" dirty="0"/>
              <a:t>Une journée d'arrêt nous coûte douze mille euros de pénalités. Ce n'est pas une estimation, c'est notre contrat.</a:t>
            </a:r>
          </a:p>
          <a:p>
            <a:r>
              <a:rPr lang="fr-FR" dirty="0"/>
              <a:t>° En 2017, la même situation a coûté près de trois cents millions de dollars à un transporteur européen ; Maxime y reviendra.</a:t>
            </a:r>
          </a:p>
          <a:p>
            <a:r>
              <a:rPr lang="fr-FR" dirty="0"/>
              <a:t>Nous venons vous demander quatre-vingt-deux mille euros par an. LE PLAN COMPLET COÛTE MOINS DE SEPT JOURS D'ARRÊT.</a:t>
            </a:r>
          </a:p>
          <a:p>
            <a:r>
              <a:rPr lang="fr-FR" dirty="0"/>
              <a:t>Voilà la décision que nous vous apportons. Les quinze minutes qui suivent l'expliquent.</a:t>
            </a:r>
          </a:p>
          <a:p>
            <a:r>
              <a:rPr lang="fr-FR" dirty="0"/>
              <a:t>[Pause d'une seconde. Puis :] Commençons par ce que nous protégeons.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3 · Les cinq éléments critiques — 01:05 → 03:00 · Miguel</a:t>
            </a:r>
          </a:p>
          <a:p>
            <a:r>
              <a:rPr lang="fr-FR" dirty="0"/>
              <a:t>Première question : qu'est-ce que nous protégeons ?</a:t>
            </a:r>
          </a:p>
          <a:p>
            <a:r>
              <a:rPr lang="fr-FR" dirty="0"/>
              <a:t>Nous avons cartographié la filiale. Quatre activités. Treize équipements ou logiciels qui les font tourner. Et parmi eux, cinq qui comptent plus que les autres.</a:t>
            </a:r>
          </a:p>
          <a:p>
            <a:r>
              <a:rPr lang="fr-FR" dirty="0"/>
              <a:t>Un mot sur la méthode, parce qu'elle vaut plus que la liste : NOUS AVONS ÉCRIT LE CRITÈRE DE CLASSEMENT AVANT DE CLASSER. Quatre conditions. L'activité qu'il porte est vitale. Si on y touche, ça dépasse la filiale. La faiblesse est connue et réelle aujourd'hui. Et il n'existe pas de remplacement rapide.</a:t>
            </a:r>
          </a:p>
          <a:p>
            <a:r>
              <a:rPr lang="fr-FR" dirty="0"/>
              <a:t>Deux choses ressortent, et ce sont elles que je voudrais que vous reteniez.</a:t>
            </a:r>
          </a:p>
          <a:p>
            <a:r>
              <a:rPr lang="fr-FR" dirty="0"/>
              <a:t>La première, c'est la portée. Ces cinq-là débordent la filiale. Le premier, notre système d'entrepôt, arrête quarante pour cent du volume du groupe. ° Le quatrième, le logiciel des sondes de température, porte à la fois la chaîne du froid et la preuve que nous devons à notre client pharmaceutique.</a:t>
            </a:r>
          </a:p>
          <a:p>
            <a:r>
              <a:rPr lang="fr-FR" dirty="0"/>
              <a:t>La deuxième est plus inhabituelle. [Pause.] Le troisième de cette liste n'est ni un serveur, ni un logiciel. C'est une personne. Notre responsable d'exploitation est le seul à connaître l'organisation des six entrepôts. Rien n'est écrit. C'EST LE SEUL ÉLÉMENT DE CETTE LISTE QU'AUCUN BUDGET NE REMPLACE APRÈS COUP.</a:t>
            </a:r>
          </a:p>
          <a:p>
            <a:r>
              <a:rPr lang="fr-FR" dirty="0"/>
              <a:t>° Et pour vous montrer que ce classement a vraiment été fait : nos trois cents scannettes n'y sont pas, parce qu'elles sont nombreuses, donc remplaçables. Le local serveur non plus : s'il chauffe, on le voit venir.</a:t>
            </a:r>
          </a:p>
          <a:p>
            <a:r>
              <a:rPr lang="fr-FR" dirty="0"/>
              <a:t>Voilà ce que nous protégeons. La question suivante, c'est : est-ce que c'est protégé ?</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4 · Ce que la mesure a donné — 03:00 → 05:00 · Miguel</a:t>
            </a:r>
          </a:p>
          <a:p>
            <a:r>
              <a:rPr lang="fr-FR" dirty="0"/>
              <a:t>Nous l'avons mesuré, pour la première fois, avec le référentiel que vous avez adopté.</a:t>
            </a:r>
          </a:p>
          <a:p>
            <a:r>
              <a:rPr lang="fr-FR" dirty="0"/>
              <a:t>Le résultat tient en une phrase : DES FONDATIONS ÉCRITES, UNE APPLICATION NON PROUVÉE, DES ANGLES MORTS QUE NOUS NOMMONS.</a:t>
            </a:r>
          </a:p>
          <a:p>
            <a:r>
              <a:rPr lang="fr-FR" dirty="0"/>
              <a:t>Sur ce que nous avons regardé, presque rien n'est en place. Je dis bien : sur ce que nous avons regardé. ° Jamais « nous sommes conformes à neuf pour cent » — la différence compte devant un client, et la seconde formule se retournerait contre nous au premier contrôle.</a:t>
            </a:r>
          </a:p>
          <a:p>
            <a:r>
              <a:rPr lang="fr-FR" dirty="0"/>
              <a:t>Mais le vrai message de cette page n'est pas ce chiffre. [Pause. Désigner la ligne.] Regardez la troisième ligne. Le domaine physique : zéro exigence examinée sur quatorze. Zéro. Alors que nous exploitons six entrepôts, des chambres froides, et un seul local serveur.</a:t>
            </a:r>
          </a:p>
          <a:p>
            <a:r>
              <a:rPr lang="fr-FR" dirty="0"/>
              <a:t>Ce n'est pas un mauvais résultat. C'est un trou dans notre propre évaluation. Et il n'apparaît que parce que nous avons détaillé domaine par domaine. Le total seul le cachait.</a:t>
            </a:r>
          </a:p>
          <a:p>
            <a:r>
              <a:rPr lang="fr-FR" dirty="0"/>
              <a:t>Deuxième chose : les deux problèmes les plus graves touchent le même système. Celui de la page précédente, le premier de la liste. D'un côté, le réseau de bureau et le réseau des machines ne sont pas séparés. De l'autre, un compte d'administration est partagé avec notre prestataire, et nous ne savons pas combien de personnes s'en servent.</a:t>
            </a:r>
          </a:p>
          <a:p>
            <a:r>
              <a:rPr lang="fr-FR" dirty="0"/>
              <a:t>Enfin, la limite, et je préfère la dire moi-même : cette mesure, c'est nous qui l'avons faite. Il lui manque l'indépendance. Notre rapport l'écrit en première page.</a:t>
            </a:r>
          </a:p>
          <a:p>
            <a:r>
              <a:rPr lang="fr-FR" dirty="0"/>
              <a:t>[Passage de parole.] Maxime prend la suite : contre qui ?</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5 · Trois acteurs, trois cibles — 05:00 → 06:30 · Maxime</a:t>
            </a:r>
          </a:p>
          <a:p>
            <a:r>
              <a:rPr lang="fr-FR" dirty="0"/>
              <a:t>Maxime. Je porte les risques, les partenaires et le périmètre.</a:t>
            </a:r>
          </a:p>
          <a:p>
            <a:r>
              <a:rPr lang="fr-FR" dirty="0"/>
              <a:t>Nous avons examiné cinq profils d'attaquants. Nous en retenons trois. ° Les deux écartés le sont avec un motif écrit — c'est un choix de méthode, pas un oubli.</a:t>
            </a:r>
          </a:p>
          <a:p>
            <a:r>
              <a:rPr lang="fr-FR" dirty="0"/>
              <a:t>Le premier : un groupe criminel organisé. Il chiffre notre système d'entrepôt, l'expédition s'arrête, il demande une rançon.</a:t>
            </a:r>
          </a:p>
          <a:p>
            <a:r>
              <a:rPr lang="fr-FR" dirty="0"/>
              <a:t>Le deuxième : quelqu'un de chez nous. Un salarié mécontent, ou sur le départ. Il fausse les données de préparation, et il emporte le savoir-faire des six sites — celui dont Miguel vient de dire qu'il n'est écrit nulle part. C'EST LE SEUL DES TROIS QUI N'A BESOIN DE FORCER AUCUNE PORTE.</a:t>
            </a:r>
          </a:p>
          <a:p>
            <a:r>
              <a:rPr lang="fr-FR" dirty="0"/>
              <a:t>Le troisième : un concurrent, qui capte nos données d'exploitation et celles de notre client pharmaceutique.</a:t>
            </a:r>
          </a:p>
          <a:p>
            <a:r>
              <a:rPr lang="fr-FR" dirty="0"/>
              <a:t>Ce qui compte ici, ce n'est pas la liste. C'est que chacun de ces trois vise l'un des cinq éléments de la page précédente. Une analyse qui les ignorerait décrirait une autre entreprise que la nôtre.</a:t>
            </a:r>
          </a:p>
          <a:p>
            <a:r>
              <a:rPr lang="fr-FR" dirty="0"/>
              <a:t>Il y a un quatrième acteur. Je le garde pour dans deux minutes, parce qu'il n'entre pas par la même porte.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6 · L'événement le plus grave — 06:30 → 08:00 · Maxime (pas de coupe)</a:t>
            </a:r>
          </a:p>
          <a:p>
            <a:r>
              <a:rPr lang="fr-FR" dirty="0"/>
              <a:t>Parmi tout cela, un événement se détache : l'arrêt non prévu de l'expédition au-delà de six heures.</a:t>
            </a:r>
          </a:p>
          <a:p>
            <a:r>
              <a:rPr lang="fr-FR" dirty="0"/>
              <a:t>Qu'il soit grave, vous le savez déjà : quarante pour cent du volume du groupe, douze mille euros par jour. Ce n'est pas ce que je viens vous dire. Je viens vous dire qu'il est CRÉDIBLE. Trois faits.</a:t>
            </a:r>
          </a:p>
          <a:p>
            <a:r>
              <a:rPr lang="fr-FR" dirty="0"/>
              <a:t>Un : le système est sur un seul site, sans secours.</a:t>
            </a:r>
          </a:p>
          <a:p>
            <a:r>
              <a:rPr lang="fr-FR" dirty="0"/>
              <a:t>Deux : nos sauvegardes tournent tous les jours, et elles n'ont jamais été restaurées. Pas une seule fois depuis la mise en service. Nous ne savons donc pas si elles fonctionnent.</a:t>
            </a:r>
          </a:p>
          <a:p>
            <a:r>
              <a:rPr lang="fr-FR" dirty="0"/>
              <a:t>Trois. [Pause.] C'est déjà arrivé. En avril. Le système s'est arrêté. Trois chefs d'entrepôt ont appelé le prestataire, deux ont appelé l'intégrateur, un a appelé le responsable informatique, qui était en congé. Et personne n'a noté l'heure.</a:t>
            </a:r>
          </a:p>
          <a:p>
            <a:r>
              <a:rPr lang="fr-FR" dirty="0"/>
              <a:t>Résultat : aujourd'hui, je ne peux pas vous dire combien de temps il nous faudrait pour repartir. C'est exactement ce que la première mesure de notre plan va mesurer, au 14 novembre.</a:t>
            </a:r>
          </a:p>
          <a:p>
            <a:r>
              <a:rPr lang="fr-FR" dirty="0"/>
              <a:t>Et il y a une porte d'entrée que nous n'avions pas vue en premier.</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7 · Le risque entre par le contrat — 08:00 → 09:45 · Maxime</a:t>
            </a:r>
          </a:p>
          <a:p>
            <a:r>
              <a:rPr lang="fr-FR" dirty="0"/>
              <a:t>Nous avons noté nos cinq partenaires sur deux choses : à quel point nous dépendons d'eux, et à quel point nous les maîtrisons. LE SEUIL A ÉTÉ FIXÉ AVANT LA NOTATION. Deux le dépassent.</a:t>
            </a:r>
          </a:p>
          <a:p>
            <a:r>
              <a:rPr lang="fr-FR" dirty="0"/>
              <a:t>L'intégrateur de nos machines de tri, tout en haut. Il se connecte en permanence à nos automates, par une liaison mobile qui ne passe pas par notre réseau surveillé. Son contrat ne contient aucune exigence de sécurité. Aucune.</a:t>
            </a:r>
          </a:p>
          <a:p>
            <a:r>
              <a:rPr lang="fr-FR" dirty="0"/>
              <a:t>Le prestataire qui maintient notre système d'entrepôt, juste en dessous. Il intervient avec un compte partagé, et nous ne savons pas combien de personnes s'en servent.</a:t>
            </a:r>
          </a:p>
          <a:p>
            <a:r>
              <a:rPr lang="fr-FR" dirty="0"/>
              <a:t>° Ce ne sont pas nos plus gros fournisseurs. Ce sont ceux dont nous dépendons le plus et que nous maîtrisons le moins.</a:t>
            </a:r>
          </a:p>
          <a:p>
            <a:r>
              <a:rPr lang="fr-FR" dirty="0"/>
              <a:t>Voilà pourquoi le scénario que nous jugeons le plus grave n'est pas quelqu'un qui force notre porte. C'est quelqu'un qui entre par celle de notre prestataire — une porte que nous lui avons ouverte par contrat.</a:t>
            </a:r>
          </a:p>
          <a:p>
            <a:r>
              <a:rPr lang="fr-FR" dirty="0"/>
              <a:t>En 2017, un transporteur européen s'est retrouvé exactement là. Il n'était pas visé. Il n'a pas été piraté. Il a installé, de bonne foi, la mise à jour d'un fournisseur compromis. Deux cent cinquante à trois cents millions de dollars, en un trimestre.</a:t>
            </a:r>
          </a:p>
          <a:p>
            <a:r>
              <a:rPr lang="fr-FR" dirty="0"/>
              <a:t>Je le résume comme ça : CHEZ NOUS, LE POINT D'ENTRÉE EST SIGNÉ, IL N'EST PAS PIRATÉ.</a:t>
            </a:r>
          </a:p>
          <a:p>
            <a:r>
              <a:rPr lang="fr-FR" dirty="0"/>
              <a:t>Et un risque qui entre par un contrat se traite par un contrat.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8 · La règle que nous adoptons — 09:45 → 10:35 · Maxime</a:t>
            </a:r>
          </a:p>
          <a:p>
            <a:r>
              <a:rPr lang="fr-FR" dirty="0"/>
              <a:t>Voici donc la règle que nous vous proposons.</a:t>
            </a:r>
          </a:p>
          <a:p>
            <a:r>
              <a:rPr lang="fr-FR" dirty="0"/>
              <a:t>Aucun contrat donnant accès à l'un de nos cinq éléments critiques n'est signé ni renouvelé sans trois exigences. Savoir qui a fait quoi, nom par nom. Être prévenus en vingt-quatre heures si le prestataire est attaqué. Et pouvoir partir.</a:t>
            </a:r>
          </a:p>
          <a:p>
            <a:r>
              <a:rPr lang="fr-FR" dirty="0"/>
              <a:t>Elles ne coûtent rien la première année : ce sont des conditions de signature, pas des achats. C'est la direction juridique qui les oppose, avant signature.</a:t>
            </a:r>
          </a:p>
          <a:p>
            <a:r>
              <a:rPr lang="fr-FR" dirty="0"/>
              <a:t>Premier cas d'application : le contrat de maintenance de notre système d'entrepôt. IL ARRIVE À RENOUVELLEMENT EN NOVEMBRE, ET IL N'EN CONTIENT AUJOURD'HUI AUCUNE DES TROIS.</a:t>
            </a:r>
          </a:p>
          <a:p>
            <a:r>
              <a:rPr lang="fr-FR" dirty="0"/>
              <a:t>° Nous appliquons la même logique en amont des projets : six étapes de sécurité, chacune avec un critère vérifiable. Premier projet à y passer, la reprise du flux vers MERIDIAN Santé, bloqué depuis trois mois.</a:t>
            </a:r>
          </a:p>
          <a:p>
            <a:r>
              <a:rPr lang="fr-FR" dirty="0"/>
              <a:t>[Passage de parole.]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9 · Le registre après traitement — 10:35 → 11:50 · Miguel</a:t>
            </a:r>
          </a:p>
          <a:p>
            <a:r>
              <a:rPr lang="fr-FR" dirty="0"/>
              <a:t>Miguel. Je reprends pour le plan et le budget.</a:t>
            </a:r>
          </a:p>
          <a:p>
            <a:r>
              <a:rPr lang="fr-FR" dirty="0"/>
              <a:t>Voici où nous en sommes après traitement. Huit risques au registre. Avant : trois au rouge. Après : plus aucun.</a:t>
            </a:r>
          </a:p>
          <a:p>
            <a:r>
              <a:rPr lang="fr-FR" dirty="0"/>
              <a:t>Cela suppose une règle que nous vous demandons de confirmer, et je la dis simplement. Un risque élevé : inacceptable, on le traite avant toute mise en service. Un risque moyen : toléré, mais daté, surveillé, et confié à quelqu'un de nommé. Un risque faible : accepté tel quel.</a:t>
            </a:r>
          </a:p>
          <a:p>
            <a:r>
              <a:rPr lang="fr-FR" dirty="0"/>
              <a:t>Maintenant, l'honnêteté. [Pause.] NOUS NE FERMONS AUCUN RISQUE. Aucun ne disparaît. Ils passent d'inacceptable à toléré-formalisé. Ce n'est pas la même chose, et nous ne le maquillons pas.</a:t>
            </a:r>
          </a:p>
          <a:p>
            <a:r>
              <a:rPr lang="fr-FR" dirty="0"/>
              <a:t>Sept fiches d'acceptation sont à signer. Et nous ne vous demandons aucune dérogation. C'est une position, pas un détail.</a:t>
            </a:r>
          </a:p>
          <a:p>
            <a:r>
              <a:rPr lang="fr-FR" dirty="0"/>
              <a:t>° Un exemple, pour vous montrer que la règle est vraiment appliquée. Sur la chaîne du froid, le risque ne baisse pas, alors que nous prenons une mesure. Parce que cette mesure est une surveillance, pas une correction. On ne baisse pas un niveau parce qu'on a agi ; on le baisse parce que la cause a changé.</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10 · Treize mesures, rangées par décision — 11:50 → 12:50 · Miguel</a:t>
            </a:r>
          </a:p>
          <a:p>
            <a:r>
              <a:rPr lang="fr-FR" dirty="0"/>
              <a:t>Le plan, maintenant. Treize mesures.</a:t>
            </a:r>
          </a:p>
          <a:p>
            <a:r>
              <a:rPr lang="fr-FR" dirty="0"/>
              <a:t>Nous les avons rangées par décision, pas par risque. C'est volontaire : VOUS NE SIGNEZ PAS UN SCÉNARIO, VOUS SIGNEZ UN AVENANT, UN BUDGET OU UNE ACCEPTATION.</a:t>
            </a:r>
          </a:p>
          <a:p>
            <a:r>
              <a:rPr lang="fr-FR" dirty="0"/>
              <a:t>Cinq relèvent de vous : deux avenants contractuels, deux acceptations de risque, et le pilotage du projet avec MERIDIAN Santé.</a:t>
            </a:r>
          </a:p>
          <a:p>
            <a:r>
              <a:rPr lang="fr-FR" dirty="0"/>
              <a:t>Huit relèvent de l'exécution. Et dans ces huit, deux comptent double, parce qu'elles traitent plusieurs risques à la fois. La première : des comptes nominatifs et une authentification forte pour notre prestataire. La seconde : séparer le réseau de bureau du réseau des machines, sur les six sites.</a:t>
            </a:r>
          </a:p>
          <a:p>
            <a:r>
              <a:rPr lang="fr-FR" dirty="0"/>
              <a:t>Si vous ne deviez en financer que deux, ce sont ces deux-là.</a:t>
            </a:r>
          </a:p>
          <a:p>
            <a:r>
              <a:rPr lang="fr-FR" dirty="0"/>
              <a:t>° Chaque mesure a un responsable nommé et une date. La plus proche est en novembre, la plus lointaine en septembre 2027.</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11 · L'arbitrage — 12:50 → 13:50 · Miguel</a:t>
            </a:r>
          </a:p>
          <a:p>
            <a:r>
              <a:rPr lang="fr-FR" dirty="0"/>
              <a:t>Et voici ce que cela coûte.</a:t>
            </a:r>
          </a:p>
          <a:p>
            <a:r>
              <a:rPr lang="fr-FR" dirty="0"/>
              <a:t>À gauche, ce que nous demandons : quatre-vingt-deux mille euros par an, treize mesures. Un coût certain, annuel, borné.</a:t>
            </a:r>
          </a:p>
          <a:p>
            <a:r>
              <a:rPr lang="fr-FR" dirty="0"/>
              <a:t>À droite, ce que nous évitons. Douze mille euros pour une seule journée d'arrêt — déjà le tiers du budget annuel du plan, pour une seule journée de l'accident que ce plan traite. Et plusieurs millions si l'attaque aboutit.</a:t>
            </a:r>
          </a:p>
          <a:p>
            <a:r>
              <a:rPr lang="fr-FR" dirty="0"/>
              <a:t>La phrase que je voudrais que vous reteniez est celle-ci. [Pause.] UN COÛT CERTAIN, ANNUEL ET BORNÉ, CONTRE UNE PERTE PLAUSIBLE ET NON BORNÉE. UNE PERTE QUI SE RÉALISE EN UN JOUR DE PLUS QUE LE PLAN N'EN COÛTE EN UN AN.</a:t>
            </a:r>
          </a:p>
          <a:p>
            <a:r>
              <a:rPr lang="fr-FR" dirty="0"/>
              <a:t>° Un mot sur la solidité de ces chiffres. Le douze mille est contractuel. La borne haute est un ordre de grandeur, et nous l'assumons comme tel — c'est justement pour la remplacer par un chiffre mesuré que nous demandons le test de novembre.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12 · Ce qui reste ouvert — 13:50 → 14:35 · Miguel</a:t>
            </a:r>
          </a:p>
          <a:p>
            <a:r>
              <a:rPr lang="fr-FR" dirty="0"/>
              <a:t>Trois choses n'ont pas de réponse aujourd'hui. Chacune porte une date. Je préfère vous les donner plutôt que d'attendre que vous les trouviez.</a:t>
            </a:r>
          </a:p>
          <a:p>
            <a:r>
              <a:rPr lang="fr-FR" dirty="0"/>
              <a:t>Un : combien de temps pour repartir après un arrêt. Nous ne le savons pas. Test de restauration, 14 novembre.</a:t>
            </a:r>
          </a:p>
          <a:p>
            <a:r>
              <a:rPr lang="fr-FR" dirty="0"/>
              <a:t>Deux : le risque porté par l'intégrateur de nos machines reste à moyen, et il ne descendra pas plus bas, quel que soit le budget. ° C'est une limite de ce type de partenaire, pas un échec du plan. Revue sous douze mois.</a:t>
            </a:r>
          </a:p>
          <a:p>
            <a:r>
              <a:rPr lang="fr-FR" dirty="0"/>
              <a:t>Trois : la reprise du flux vers MERIDIAN Santé n'atteint sa cible qu'en fin de projet, en septembre 2027. D'ici là, le risque reste élevé dans les faits.</a:t>
            </a:r>
          </a:p>
          <a:p>
            <a:r>
              <a:rPr lang="fr-FR" dirty="0"/>
              <a:t>[Passage de parole.] Maxime conclut.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13 · Deux périmètres, et comment vous le saurez — 14:35 → 16:05 · Maxime</a:t>
            </a:r>
          </a:p>
          <a:p>
            <a:r>
              <a:rPr lang="fr-FR" dirty="0"/>
              <a:t>Deux périmètres, et c'est un choix.</a:t>
            </a:r>
          </a:p>
          <a:p>
            <a:r>
              <a:rPr lang="fr-FR" dirty="0"/>
              <a:t>Le système de management couvre la filiale entière : six exclusions nommées, quatre interfaces déclarées.</a:t>
            </a:r>
          </a:p>
          <a:p>
            <a:r>
              <a:rPr lang="fr-FR" dirty="0"/>
              <a:t>Le périmètre de la première certification est plus étroit : seulement les services que reçoit notre client pharmaceutique. Avec une exception écrite — l'automatisation du site E4 en est exclue, jusqu'au 14 juin 2027.</a:t>
            </a:r>
          </a:p>
          <a:p>
            <a:r>
              <a:rPr lang="fr-FR" dirty="0"/>
              <a:t>Pourquoi ? Parce que ce site sert ce client, et qu'il porte aussi des machines de tri sur un réseau qui n'est pas séparé du reste. CERTIFIER CE PÉRIMÈTRE AUJOURD'HUI, CE SERAIT CERTIFIER CE DÉFAUT. L'exclusion tombera sur preuve, pas à la date.</a:t>
            </a:r>
          </a:p>
          <a:p>
            <a:r>
              <a:rPr lang="fr-FR" dirty="0"/>
              <a:t>° Et nous ne faisons pas attendre le client dix-huit mois : nous lui répondons dès maintenant, au titre d'une démarche documentée équivalente. Le référentiel, l'audit, le plan chiffré. Les trois pièces existent.</a:t>
            </a:r>
          </a:p>
          <a:p>
            <a:r>
              <a:rPr lang="fr-FR" dirty="0"/>
              <a:t>Dernier point : comment saurez-vous que tout cela tient ? Sept indicateurs, un point trimestriel, une revue annuelle. Chacun se présente sous la même forme : CE CHIFFRE VOUS DIT SI… ET S'IL FRANCHIT LE SEUIL, LA DÉCISION À PRENDRE EST…</a:t>
            </a:r>
          </a:p>
          <a:p>
            <a:r>
              <a:rPr lang="fr-FR" dirty="0"/>
              <a:t>Un seul exemple, celui qui commande cette page. La séparation des réseaux : zéro entrepôt sur six aujourd'hui. Ce chiffre vous dit si l'exclusion du site E4 peut tomber au 14 juin 2027. S'il n'est pas à six sur six à cette date, la décision à prendre est de reporter la certification, ou de la lancer sans ce site.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14 · Ce que nous vous demandons de signer — 16:05 → 17:20 · les deux (pas de coupe)</a:t>
            </a:r>
          </a:p>
          <a:p>
            <a:r>
              <a:rPr lang="fr-FR" dirty="0"/>
              <a:t>MIGUEL : Voilà ce que nous vous demandons de signer. Quatre décisions, pas une de plus.</a:t>
            </a:r>
          </a:p>
          <a:p>
            <a:r>
              <a:rPr lang="fr-FR" dirty="0"/>
              <a:t>Un. Confirmer la règle d'acceptation du risque que j'ai énoncée tout à l'heure. C'est la direction générale qui la fixe, le conseil l'approuve. Sans elle, nos treize mesures n'ont plus d'ordre de priorité.</a:t>
            </a:r>
          </a:p>
          <a:p>
            <a:r>
              <a:rPr lang="fr-FR" dirty="0"/>
              <a:t>Deux. Financer le plan : quatre-vingt-deux mille euros par an, sur l'exercice 2027.</a:t>
            </a:r>
          </a:p>
          <a:p>
            <a:r>
              <a:rPr lang="fr-FR" dirty="0"/>
              <a:t>MAXIME : Trois. Autoriser deux avenants contractuels — avec notre prestataire de maintenance, et avec l'intégrateur de nos machines. AVANT LE RENOUVELLEMENT DE NOVEMBRE. Après, la fenêtre se referme : les mêmes exigences se paient, ou ne s'obtiennent pas.</a:t>
            </a:r>
          </a:p>
          <a:p>
            <a:r>
              <a:rPr lang="fr-FR" dirty="0"/>
              <a:t>Quatre. Arrêter le périmètre de la première certification, tel que je viens de le décrire.</a:t>
            </a:r>
          </a:p>
          <a:p>
            <a:r>
              <a:rPr lang="fr-FR" dirty="0"/>
              <a:t>Deux signatures les accompagnent : l'acceptation formelle du risque sur la chaîne du froid, et une acceptation simple sur les données d'expédition du client. Et je le redis : AUCUNE DÉROGATION DEMANDÉE.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15 · La limite — 17:20 → 18:00 · Maxime (pas de coupe)</a:t>
            </a:r>
          </a:p>
          <a:p>
            <a:r>
              <a:rPr lang="fr-FR" dirty="0"/>
              <a:t>Un dernier mot, et c'est une limite que je préfère poser moi-même.</a:t>
            </a:r>
          </a:p>
          <a:p>
            <a:r>
              <a:rPr lang="fr-FR" dirty="0"/>
              <a:t>UN DOSSIER PROUVE UNE MÉTHODE. IL NE PROUVE JAMAIS LA SÉCURITÉ. Des serveurs mal configurés se moquent de la qualité du classeur.</a:t>
            </a:r>
          </a:p>
          <a:p>
            <a:r>
              <a:rPr lang="fr-FR" dirty="0"/>
              <a:t>Ce que nous venons d'établir : où nous en sommes, ce qui nous menace, et ce que coûte le traitement. Ce que nous n'avons pas établi : que nous sommes protégés.</a:t>
            </a:r>
          </a:p>
          <a:p>
            <a:r>
              <a:rPr lang="fr-FR" dirty="0"/>
              <a:t>° Notre propre mesure est une auto-évaluation, pas un audit indépendant, et notre dossier le dit.</a:t>
            </a:r>
          </a:p>
          <a:p>
            <a:r>
              <a:rPr lang="fr-FR" dirty="0"/>
              <a:t>Trois dates transformeront cette méthode en preuve. Le 14 novembre, le test de restauration. Le 14 janvier, les comptes nominatifs de notre prestataire. Le 14 juin, la séparation des réseaux.</a:t>
            </a:r>
          </a:p>
          <a:p>
            <a:r>
              <a:rPr lang="fr-FR" dirty="0"/>
              <a:t>Nous prenons vos questions.</a:t>
            </a:r>
          </a:p>
          <a:p>
            <a:r>
              <a:rPr lang="fr-FR" dirty="0"/>
              <a:t>[La slide 15 reste affichée pendant les douze minutes de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29AB78-7310-7AAB-252E-5B6482A2EC8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FR"/>
          </a:p>
        </p:txBody>
      </p:sp>
      <p:sp>
        <p:nvSpPr>
          <p:cNvPr id="3" name="Subtitle 2">
            <a:extLst>
              <a:ext uri="{FF2B5EF4-FFF2-40B4-BE49-F238E27FC236}">
                <a16:creationId xmlns:a16="http://schemas.microsoft.com/office/drawing/2014/main" id="{EA6A92E5-0455-4D87-EFCD-9E38EAAC0B8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FR"/>
          </a:p>
        </p:txBody>
      </p:sp>
      <p:sp>
        <p:nvSpPr>
          <p:cNvPr id="4" name="Date Placeholder 3">
            <a:extLst>
              <a:ext uri="{FF2B5EF4-FFF2-40B4-BE49-F238E27FC236}">
                <a16:creationId xmlns:a16="http://schemas.microsoft.com/office/drawing/2014/main" id="{81AC68F4-1555-2496-08EF-5ABA54B27B8B}"/>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5" name="Footer Placeholder 4">
            <a:extLst>
              <a:ext uri="{FF2B5EF4-FFF2-40B4-BE49-F238E27FC236}">
                <a16:creationId xmlns:a16="http://schemas.microsoft.com/office/drawing/2014/main" id="{ED43A5DB-964A-2FEF-A717-126A9CE56374}"/>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0E7AB569-6B6B-59E7-98ED-3765A8351D2B}"/>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32621131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8EFDF5-87EE-DE84-D838-04DA8FCFFA23}"/>
              </a:ext>
            </a:extLst>
          </p:cNvPr>
          <p:cNvSpPr>
            <a:spLocks noGrp="1"/>
          </p:cNvSpPr>
          <p:nvPr>
            <p:ph type="title"/>
          </p:nvPr>
        </p:nvSpPr>
        <p:spPr/>
        <p:txBody>
          <a:bodyPr/>
          <a:lstStyle/>
          <a:p>
            <a:r>
              <a:rPr lang="en-GB"/>
              <a:t>Click to edit Master title style</a:t>
            </a:r>
            <a:endParaRPr lang="en-FR"/>
          </a:p>
        </p:txBody>
      </p:sp>
      <p:sp>
        <p:nvSpPr>
          <p:cNvPr id="3" name="Content Placeholder 2">
            <a:extLst>
              <a:ext uri="{FF2B5EF4-FFF2-40B4-BE49-F238E27FC236}">
                <a16:creationId xmlns:a16="http://schemas.microsoft.com/office/drawing/2014/main" id="{BFF58D06-CF27-56C9-8362-2B4CDB457222}"/>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FC7F277B-746B-729A-2EFA-95928AF072EE}"/>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5" name="Footer Placeholder 4">
            <a:extLst>
              <a:ext uri="{FF2B5EF4-FFF2-40B4-BE49-F238E27FC236}">
                <a16:creationId xmlns:a16="http://schemas.microsoft.com/office/drawing/2014/main" id="{70D8BED5-9979-4C61-769E-C058FA038621}"/>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2F12CB84-6410-010A-3F30-DF3726D151C5}"/>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40835045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BF02A-4E8A-1CED-ADB0-AA2DA27494D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FR"/>
          </a:p>
        </p:txBody>
      </p:sp>
      <p:sp>
        <p:nvSpPr>
          <p:cNvPr id="3" name="Text Placeholder 2">
            <a:extLst>
              <a:ext uri="{FF2B5EF4-FFF2-40B4-BE49-F238E27FC236}">
                <a16:creationId xmlns:a16="http://schemas.microsoft.com/office/drawing/2014/main" id="{2BA61E22-8ACB-8992-ED9D-52E0A951959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39A5DFC4-4A32-B923-6346-719F47CE6028}"/>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5" name="Footer Placeholder 4">
            <a:extLst>
              <a:ext uri="{FF2B5EF4-FFF2-40B4-BE49-F238E27FC236}">
                <a16:creationId xmlns:a16="http://schemas.microsoft.com/office/drawing/2014/main" id="{FC1CB2C9-714E-EB06-75F1-2CE01D6ECCED}"/>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F77EBB84-5B4C-F447-9444-F185EB7640C6}"/>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30102874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3DBB7-CCFD-C39E-1E10-38A84FEC4994}"/>
              </a:ext>
            </a:extLst>
          </p:cNvPr>
          <p:cNvSpPr>
            <a:spLocks noGrp="1"/>
          </p:cNvSpPr>
          <p:nvPr>
            <p:ph type="title"/>
          </p:nvPr>
        </p:nvSpPr>
        <p:spPr/>
        <p:txBody>
          <a:bodyPr/>
          <a:lstStyle/>
          <a:p>
            <a:r>
              <a:rPr lang="en-GB"/>
              <a:t>Click to edit Master title style</a:t>
            </a:r>
            <a:endParaRPr lang="en-FR"/>
          </a:p>
        </p:txBody>
      </p:sp>
      <p:sp>
        <p:nvSpPr>
          <p:cNvPr id="3" name="Content Placeholder 2">
            <a:extLst>
              <a:ext uri="{FF2B5EF4-FFF2-40B4-BE49-F238E27FC236}">
                <a16:creationId xmlns:a16="http://schemas.microsoft.com/office/drawing/2014/main" id="{5A4E08E1-2573-5EC1-B9AE-7F315CE8122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Content Placeholder 3">
            <a:extLst>
              <a:ext uri="{FF2B5EF4-FFF2-40B4-BE49-F238E27FC236}">
                <a16:creationId xmlns:a16="http://schemas.microsoft.com/office/drawing/2014/main" id="{57B6E3B1-D9E1-55F8-DD52-274EB48CE06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5" name="Date Placeholder 4">
            <a:extLst>
              <a:ext uri="{FF2B5EF4-FFF2-40B4-BE49-F238E27FC236}">
                <a16:creationId xmlns:a16="http://schemas.microsoft.com/office/drawing/2014/main" id="{C1C5F60D-966A-D454-77EA-40FCC638DDD8}"/>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6" name="Footer Placeholder 5">
            <a:extLst>
              <a:ext uri="{FF2B5EF4-FFF2-40B4-BE49-F238E27FC236}">
                <a16:creationId xmlns:a16="http://schemas.microsoft.com/office/drawing/2014/main" id="{F09E5FFA-82CC-3FDD-D3AC-CFCE2E43E8B0}"/>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07828F34-68BC-F0BF-F218-BA25D4CB652E}"/>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28690266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ADEE5-803D-CE03-8C54-FD1FDA373D49}"/>
              </a:ext>
            </a:extLst>
          </p:cNvPr>
          <p:cNvSpPr>
            <a:spLocks noGrp="1"/>
          </p:cNvSpPr>
          <p:nvPr>
            <p:ph type="title"/>
          </p:nvPr>
        </p:nvSpPr>
        <p:spPr>
          <a:xfrm>
            <a:off x="839788" y="365125"/>
            <a:ext cx="10515600" cy="1325563"/>
          </a:xfrm>
        </p:spPr>
        <p:txBody>
          <a:bodyPr/>
          <a:lstStyle/>
          <a:p>
            <a:r>
              <a:rPr lang="en-GB"/>
              <a:t>Click to edit Master title style</a:t>
            </a:r>
            <a:endParaRPr lang="en-FR"/>
          </a:p>
        </p:txBody>
      </p:sp>
      <p:sp>
        <p:nvSpPr>
          <p:cNvPr id="3" name="Text Placeholder 2">
            <a:extLst>
              <a:ext uri="{FF2B5EF4-FFF2-40B4-BE49-F238E27FC236}">
                <a16:creationId xmlns:a16="http://schemas.microsoft.com/office/drawing/2014/main" id="{B16D6737-A374-D037-6E65-468690505BB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07E4511-8C58-EC83-4CBF-D994108B58B3}"/>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5" name="Text Placeholder 4">
            <a:extLst>
              <a:ext uri="{FF2B5EF4-FFF2-40B4-BE49-F238E27FC236}">
                <a16:creationId xmlns:a16="http://schemas.microsoft.com/office/drawing/2014/main" id="{77AF0717-526E-D3EB-D143-ED2A5BAAB05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1A3CA8C3-0127-7EC4-A5C0-E1E85E561157}"/>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7" name="Date Placeholder 6">
            <a:extLst>
              <a:ext uri="{FF2B5EF4-FFF2-40B4-BE49-F238E27FC236}">
                <a16:creationId xmlns:a16="http://schemas.microsoft.com/office/drawing/2014/main" id="{1B92F31C-E7AC-74A6-EAE0-A141991B01C0}"/>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8" name="Footer Placeholder 7">
            <a:extLst>
              <a:ext uri="{FF2B5EF4-FFF2-40B4-BE49-F238E27FC236}">
                <a16:creationId xmlns:a16="http://schemas.microsoft.com/office/drawing/2014/main" id="{9401799D-BA3F-9E2F-09DB-89B101375EAC}"/>
              </a:ext>
            </a:extLst>
          </p:cNvPr>
          <p:cNvSpPr>
            <a:spLocks noGrp="1"/>
          </p:cNvSpPr>
          <p:nvPr>
            <p:ph type="ftr" sz="quarter" idx="11"/>
          </p:nvPr>
        </p:nvSpPr>
        <p:spPr/>
        <p:txBody>
          <a:bodyPr/>
          <a:lstStyle/>
          <a:p>
            <a:endParaRPr lang="en-FR"/>
          </a:p>
        </p:txBody>
      </p:sp>
      <p:sp>
        <p:nvSpPr>
          <p:cNvPr id="9" name="Slide Number Placeholder 8">
            <a:extLst>
              <a:ext uri="{FF2B5EF4-FFF2-40B4-BE49-F238E27FC236}">
                <a16:creationId xmlns:a16="http://schemas.microsoft.com/office/drawing/2014/main" id="{7A4C6EA4-C0BA-A377-B7F9-AEC345025348}"/>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36753072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8A990-C36B-2995-447F-8C37D19DBD27}"/>
              </a:ext>
            </a:extLst>
          </p:cNvPr>
          <p:cNvSpPr>
            <a:spLocks noGrp="1"/>
          </p:cNvSpPr>
          <p:nvPr>
            <p:ph type="title"/>
          </p:nvPr>
        </p:nvSpPr>
        <p:spPr/>
        <p:txBody>
          <a:bodyPr/>
          <a:lstStyle/>
          <a:p>
            <a:r>
              <a:rPr lang="en-GB"/>
              <a:t>Click to edit Master title style</a:t>
            </a:r>
            <a:endParaRPr lang="en-FR"/>
          </a:p>
        </p:txBody>
      </p:sp>
      <p:sp>
        <p:nvSpPr>
          <p:cNvPr id="3" name="Date Placeholder 2">
            <a:extLst>
              <a:ext uri="{FF2B5EF4-FFF2-40B4-BE49-F238E27FC236}">
                <a16:creationId xmlns:a16="http://schemas.microsoft.com/office/drawing/2014/main" id="{D075AA70-83DB-43FA-BCB2-D2537B3289FE}"/>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4" name="Footer Placeholder 3">
            <a:extLst>
              <a:ext uri="{FF2B5EF4-FFF2-40B4-BE49-F238E27FC236}">
                <a16:creationId xmlns:a16="http://schemas.microsoft.com/office/drawing/2014/main" id="{768A7386-A9B6-822F-5C44-82B4320288F6}"/>
              </a:ext>
            </a:extLst>
          </p:cNvPr>
          <p:cNvSpPr>
            <a:spLocks noGrp="1"/>
          </p:cNvSpPr>
          <p:nvPr>
            <p:ph type="ftr" sz="quarter" idx="11"/>
          </p:nvPr>
        </p:nvSpPr>
        <p:spPr/>
        <p:txBody>
          <a:bodyPr/>
          <a:lstStyle/>
          <a:p>
            <a:endParaRPr lang="en-FR"/>
          </a:p>
        </p:txBody>
      </p:sp>
      <p:sp>
        <p:nvSpPr>
          <p:cNvPr id="5" name="Slide Number Placeholder 4">
            <a:extLst>
              <a:ext uri="{FF2B5EF4-FFF2-40B4-BE49-F238E27FC236}">
                <a16:creationId xmlns:a16="http://schemas.microsoft.com/office/drawing/2014/main" id="{429367D0-8ECD-B251-294D-14726B4A3C1C}"/>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19722060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BD0C68-D28E-F47C-482E-C0BF049F438D}"/>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3" name="Footer Placeholder 2">
            <a:extLst>
              <a:ext uri="{FF2B5EF4-FFF2-40B4-BE49-F238E27FC236}">
                <a16:creationId xmlns:a16="http://schemas.microsoft.com/office/drawing/2014/main" id="{01A1035C-53C9-E5C5-9F19-A4C83FB17A23}"/>
              </a:ext>
            </a:extLst>
          </p:cNvPr>
          <p:cNvSpPr>
            <a:spLocks noGrp="1"/>
          </p:cNvSpPr>
          <p:nvPr>
            <p:ph type="ftr" sz="quarter" idx="11"/>
          </p:nvPr>
        </p:nvSpPr>
        <p:spPr/>
        <p:txBody>
          <a:bodyPr/>
          <a:lstStyle/>
          <a:p>
            <a:endParaRPr lang="en-FR"/>
          </a:p>
        </p:txBody>
      </p:sp>
      <p:sp>
        <p:nvSpPr>
          <p:cNvPr id="4" name="Slide Number Placeholder 3">
            <a:extLst>
              <a:ext uri="{FF2B5EF4-FFF2-40B4-BE49-F238E27FC236}">
                <a16:creationId xmlns:a16="http://schemas.microsoft.com/office/drawing/2014/main" id="{980F7A41-BFFD-EAA4-2685-6D889C5E530A}"/>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14227844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67435-8FAF-47A6-4899-9BA1069635F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R"/>
          </a:p>
        </p:txBody>
      </p:sp>
      <p:sp>
        <p:nvSpPr>
          <p:cNvPr id="3" name="Content Placeholder 2">
            <a:extLst>
              <a:ext uri="{FF2B5EF4-FFF2-40B4-BE49-F238E27FC236}">
                <a16:creationId xmlns:a16="http://schemas.microsoft.com/office/drawing/2014/main" id="{41854345-FA01-6E9A-5259-BB8351634DB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Text Placeholder 3">
            <a:extLst>
              <a:ext uri="{FF2B5EF4-FFF2-40B4-BE49-F238E27FC236}">
                <a16:creationId xmlns:a16="http://schemas.microsoft.com/office/drawing/2014/main" id="{34268A8C-277E-C5F1-0331-5EC204BD20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CF73742-DAF2-879E-C7FA-32144B6E3F9F}"/>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6" name="Footer Placeholder 5">
            <a:extLst>
              <a:ext uri="{FF2B5EF4-FFF2-40B4-BE49-F238E27FC236}">
                <a16:creationId xmlns:a16="http://schemas.microsoft.com/office/drawing/2014/main" id="{FC087C7A-9B4E-0D0B-B2C6-F55392841B19}"/>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A4887803-03A6-B898-CC7B-97A58E590CAC}"/>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23453889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6C35D-4F88-1F4B-AA11-DCF7C38A79B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R"/>
          </a:p>
        </p:txBody>
      </p:sp>
      <p:sp>
        <p:nvSpPr>
          <p:cNvPr id="3" name="Picture Placeholder 2">
            <a:extLst>
              <a:ext uri="{FF2B5EF4-FFF2-40B4-BE49-F238E27FC236}">
                <a16:creationId xmlns:a16="http://schemas.microsoft.com/office/drawing/2014/main" id="{21308701-BFA4-D65B-77D5-EEF1A1072C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FR"/>
          </a:p>
        </p:txBody>
      </p:sp>
      <p:sp>
        <p:nvSpPr>
          <p:cNvPr id="4" name="Text Placeholder 3">
            <a:extLst>
              <a:ext uri="{FF2B5EF4-FFF2-40B4-BE49-F238E27FC236}">
                <a16:creationId xmlns:a16="http://schemas.microsoft.com/office/drawing/2014/main" id="{0C8C6EF2-C63A-EBDE-0678-9A85E1E9C8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962DFC8-E77F-F955-3BF7-0A9CB5666B69}"/>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6" name="Footer Placeholder 5">
            <a:extLst>
              <a:ext uri="{FF2B5EF4-FFF2-40B4-BE49-F238E27FC236}">
                <a16:creationId xmlns:a16="http://schemas.microsoft.com/office/drawing/2014/main" id="{7343136E-6C03-AC6B-6BBE-D0F3CC1C6C50}"/>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8D3D5099-73AC-6BF2-609B-683CC8EBB07E}"/>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2707367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A202A-345D-1BFE-4497-EBCB2F3A48AE}"/>
              </a:ext>
            </a:extLst>
          </p:cNvPr>
          <p:cNvSpPr>
            <a:spLocks noGrp="1"/>
          </p:cNvSpPr>
          <p:nvPr>
            <p:ph type="title"/>
          </p:nvPr>
        </p:nvSpPr>
        <p:spPr/>
        <p:txBody>
          <a:bodyPr/>
          <a:lstStyle/>
          <a:p>
            <a:r>
              <a:rPr lang="en-GB"/>
              <a:t>Click to edit Master title style</a:t>
            </a:r>
            <a:endParaRPr lang="en-FR"/>
          </a:p>
        </p:txBody>
      </p:sp>
      <p:sp>
        <p:nvSpPr>
          <p:cNvPr id="3" name="Vertical Text Placeholder 2">
            <a:extLst>
              <a:ext uri="{FF2B5EF4-FFF2-40B4-BE49-F238E27FC236}">
                <a16:creationId xmlns:a16="http://schemas.microsoft.com/office/drawing/2014/main" id="{EB9595C0-AD3F-D5BB-21DC-03E648A6A314}"/>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9DA9BEEF-AA4C-758D-FC86-1D2A18B1E63B}"/>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5" name="Footer Placeholder 4">
            <a:extLst>
              <a:ext uri="{FF2B5EF4-FFF2-40B4-BE49-F238E27FC236}">
                <a16:creationId xmlns:a16="http://schemas.microsoft.com/office/drawing/2014/main" id="{88ABCED4-464F-D407-2DC8-47FAC27021A5}"/>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AC64A66A-DB87-D822-CC6F-288ED06C4487}"/>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40423520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B7477B3-C62A-5680-C71D-7DEBCD655B51}"/>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FR"/>
          </a:p>
        </p:txBody>
      </p:sp>
      <p:sp>
        <p:nvSpPr>
          <p:cNvPr id="3" name="Vertical Text Placeholder 2">
            <a:extLst>
              <a:ext uri="{FF2B5EF4-FFF2-40B4-BE49-F238E27FC236}">
                <a16:creationId xmlns:a16="http://schemas.microsoft.com/office/drawing/2014/main" id="{AA93EA70-9DB7-EBE4-347A-E71366EE23D2}"/>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56F3F3C1-BB52-4F27-8909-618EB794FE41}"/>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5" name="Footer Placeholder 4">
            <a:extLst>
              <a:ext uri="{FF2B5EF4-FFF2-40B4-BE49-F238E27FC236}">
                <a16:creationId xmlns:a16="http://schemas.microsoft.com/office/drawing/2014/main" id="{09A17870-11BF-5764-CD65-49F7CF37DDAB}"/>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07E6032D-237A-0149-1D81-3FC1365F3E86}"/>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30641628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2876F37-C339-1CC5-B72C-294015B1F9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FR"/>
          </a:p>
        </p:txBody>
      </p:sp>
      <p:sp>
        <p:nvSpPr>
          <p:cNvPr id="3" name="Text Placeholder 2">
            <a:extLst>
              <a:ext uri="{FF2B5EF4-FFF2-40B4-BE49-F238E27FC236}">
                <a16:creationId xmlns:a16="http://schemas.microsoft.com/office/drawing/2014/main" id="{3D1280D8-B2DC-F51B-748D-C299EDC7123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B627A7E4-6D39-2E6E-68F2-1D3DD14DCD0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A9559C4-E7D0-094E-8E6D-986DD0EF0E73}" type="datetimeFigureOut">
              <a:rPr lang="en-FR" smtClean="0"/>
              <a:t>16/09/2026</a:t>
            </a:fld>
            <a:endParaRPr lang="en-FR"/>
          </a:p>
        </p:txBody>
      </p:sp>
      <p:sp>
        <p:nvSpPr>
          <p:cNvPr id="5" name="Footer Placeholder 4">
            <a:extLst>
              <a:ext uri="{FF2B5EF4-FFF2-40B4-BE49-F238E27FC236}">
                <a16:creationId xmlns:a16="http://schemas.microsoft.com/office/drawing/2014/main" id="{F6E7E39F-FC6E-1745-1E97-A9E19BE1636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FR"/>
          </a:p>
        </p:txBody>
      </p:sp>
      <p:sp>
        <p:nvSpPr>
          <p:cNvPr id="6" name="Slide Number Placeholder 5">
            <a:extLst>
              <a:ext uri="{FF2B5EF4-FFF2-40B4-BE49-F238E27FC236}">
                <a16:creationId xmlns:a16="http://schemas.microsoft.com/office/drawing/2014/main" id="{B4F04E9D-B79A-5A8F-C87E-E458285479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44EE44D-83FF-EF4F-908A-14F66C54EE08}" type="slidenum">
              <a:rPr lang="en-FR" smtClean="0"/>
              <a:t>‹#›</a:t>
            </a:fld>
            <a:endParaRPr lang="en-FR"/>
          </a:p>
        </p:txBody>
      </p:sp>
      <p:sp>
        <p:nvSpPr>
          <p:cNvPr id="90" name="FooterRule"/>
          <p:cNvSpPr/>
          <p:nvPr/>
        </p:nvSpPr>
        <p:spPr>
          <a:xfrm>
            <a:off x="914400" y="6400800"/>
            <a:ext cx="10414000" cy="9525"/>
          </a:xfrm>
          <a:prstGeom prst="rect">
            <a:avLst/>
          </a:prstGeom>
          <a:solidFill>
            <a:srgbClr val="C7CDD4"/>
          </a:solidFill>
          <a:ln>
            <a:noFill/>
          </a:ln>
        </p:spPr>
        <p:txBody>
          <a:bodyPr/>
          <a:lstStyle/>
          <a:p>
            <a:endParaRPr/>
          </a:p>
        </p:txBody>
      </p:sp>
      <p:sp>
        <p:nvSpPr>
          <p:cNvPr id="91" name="FooterText"/>
          <p:cNvSpPr txBox="1"/>
          <p:nvPr/>
        </p:nvSpPr>
        <p:spPr>
          <a:xfrm>
            <a:off x="914400" y="6438900"/>
            <a:ext cx="7000000" cy="190500"/>
          </a:xfrm>
          <a:prstGeom prst="rect">
            <a:avLst/>
          </a:prstGeom>
          <a:noFill/>
        </p:spPr>
        <p:txBody>
          <a:bodyPr wrap="square" lIns="0" tIns="0" rIns="0" bIns="0" anchor="ctr"/>
          <a:lstStyle/>
          <a:p>
            <a:pPr algn="l">
              <a:buNone/>
            </a:pPr>
            <a:r>
              <a:rPr lang="fr-FR" sz="900" dirty="0">
                <a:solidFill>
                  <a:srgbClr val="8A8F98"/>
                </a:solidFill>
              </a:rPr>
              <a:t>MERIDIAN Logistique · soutenance ISMS</a:t>
            </a:r>
          </a:p>
        </p:txBody>
      </p:sp>
      <p:sp>
        <p:nvSpPr>
          <p:cNvPr id="92" name="FooterNum"/>
          <p:cNvSpPr txBox="1"/>
          <p:nvPr/>
        </p:nvSpPr>
        <p:spPr>
          <a:xfrm>
            <a:off x="10036400" y="6438900"/>
            <a:ext cx="1292000" cy="190500"/>
          </a:xfrm>
          <a:prstGeom prst="rect">
            <a:avLst/>
          </a:prstGeom>
          <a:noFill/>
        </p:spPr>
        <p:txBody>
          <a:bodyPr wrap="square" lIns="0" tIns="0" rIns="0" bIns="0" anchor="ctr"/>
          <a:lstStyle/>
          <a:p>
            <a:pPr algn="r">
              <a:buNone/>
            </a:pPr>
            <a:fld id="{B7B2E1A0-1C2D-4E3F-9A11-000000000001}" type="slidenum">
              <a:rPr lang="fr-FR" sz="900" b="1" dirty="0">
                <a:solidFill>
                  <a:srgbClr val="1F4E79"/>
                </a:solidFill>
              </a:rPr>
              <a:t>‹#›</a:t>
            </a:fld>
            <a:endParaRPr lang="fr-FR" sz="900" b="1" dirty="0">
              <a:solidFill>
                <a:srgbClr val="1F4E79"/>
              </a:solidFill>
            </a:endParaRPr>
          </a:p>
        </p:txBody>
      </p:sp>
    </p:spTree>
    <p:extLst>
      <p:ext uri="{BB962C8B-B14F-4D97-AF65-F5344CB8AC3E}">
        <p14:creationId xmlns:p14="http://schemas.microsoft.com/office/powerpoint/2010/main" val="45878925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rgbClr val="1F4E79"/>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A1A1A"/>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8EA71F7-639A-2945-8210-53424F08862A}"/>
              </a:ext>
            </a:extLst>
          </p:cNvPr>
          <p:cNvSpPr/>
          <p:nvPr/>
        </p:nvSpPr>
        <p:spPr>
          <a:xfrm>
            <a:off x="914400" y="2540000"/>
            <a:ext cx="1524000" cy="508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5" name="TextBox 4">
            <a:extLst>
              <a:ext uri="{FF2B5EF4-FFF2-40B4-BE49-F238E27FC236}">
                <a16:creationId xmlns:a16="http://schemas.microsoft.com/office/drawing/2014/main" id="{41AA1128-BCC3-5E48-BDA8-1707A3A5606B}"/>
              </a:ext>
            </a:extLst>
          </p:cNvPr>
          <p:cNvSpPr txBox="1"/>
          <p:nvPr/>
        </p:nvSpPr>
        <p:spPr>
          <a:xfrm>
            <a:off x="914400" y="2921000"/>
            <a:ext cx="10414000" cy="863600"/>
          </a:xfrm>
          <a:prstGeom prst="rect">
            <a:avLst/>
          </a:prstGeom>
          <a:noFill/>
        </p:spPr>
        <p:txBody>
          <a:bodyPr vertOverflow="overflow" vert="horz" wrap="none" rtlCol="0" anchor="t">
            <a:noAutofit/>
          </a:bodyPr>
          <a:lstStyle/>
          <a:p>
            <a:pPr algn="l"/>
            <a:r>
              <a:rPr lang="en-GB" sz="5400" b="1">
                <a:solidFill>
                  <a:srgbClr val="1F4E79"/>
                </a:solidFill>
                <a:latin typeface="Segoe UI Semibold"/>
                <a:cs typeface="Segoe UI Semibold"/>
              </a:rPr>
              <a:t>MERIDIAN LOGISTIQUE</a:t>
            </a:r>
            <a:endParaRPr lang="en-FR" sz="5400" b="1">
              <a:solidFill>
                <a:srgbClr val="1F4E79"/>
              </a:solidFill>
              <a:latin typeface="Segoe UI Semibold"/>
              <a:cs typeface="Segoe UI Semibold"/>
            </a:endParaRPr>
          </a:p>
        </p:txBody>
      </p:sp>
      <p:sp>
        <p:nvSpPr>
          <p:cNvPr id="6" name="TextBox 5">
            <a:extLst>
              <a:ext uri="{FF2B5EF4-FFF2-40B4-BE49-F238E27FC236}">
                <a16:creationId xmlns:a16="http://schemas.microsoft.com/office/drawing/2014/main" id="{30B88F70-71DA-954B-AD46-13D8625ECF76}"/>
              </a:ext>
            </a:extLst>
          </p:cNvPr>
          <p:cNvSpPr txBox="1"/>
          <p:nvPr/>
        </p:nvSpPr>
        <p:spPr>
          <a:xfrm>
            <a:off x="914400" y="3810000"/>
            <a:ext cx="10414000" cy="533400"/>
          </a:xfrm>
          <a:prstGeom prst="rect">
            <a:avLst/>
          </a:prstGeom>
          <a:noFill/>
        </p:spPr>
        <p:txBody>
          <a:bodyPr vertOverflow="overflow" vert="horz" wrap="square" rtlCol="0" anchor="t">
            <a:noAutofit/>
          </a:bodyPr>
          <a:lstStyle/>
          <a:p>
            <a:pPr algn="l"/>
            <a:r>
              <a:rPr lang="en-GB" sz="2400">
                <a:solidFill>
                  <a:srgbClr val="3C3C3C"/>
                </a:solidFill>
                <a:latin typeface="Segoe UI"/>
                <a:cs typeface="Segoe UI"/>
              </a:rPr>
              <a:t>Stratégie de sécurité de l'information — présentation au Comité Exécutif</a:t>
            </a:r>
            <a:endParaRPr lang="en-FR" sz="2400">
              <a:solidFill>
                <a:srgbClr val="3C3C3C"/>
              </a:solidFill>
              <a:latin typeface="Segoe UI"/>
              <a:cs typeface="Segoe UI"/>
            </a:endParaRPr>
          </a:p>
        </p:txBody>
      </p:sp>
      <p:sp>
        <p:nvSpPr>
          <p:cNvPr id="7" name="TextBox 6">
            <a:extLst>
              <a:ext uri="{FF2B5EF4-FFF2-40B4-BE49-F238E27FC236}">
                <a16:creationId xmlns:a16="http://schemas.microsoft.com/office/drawing/2014/main" id="{0C14BDD7-71D5-8A46-98FB-536D8A6C1DBD}"/>
              </a:ext>
            </a:extLst>
          </p:cNvPr>
          <p:cNvSpPr txBox="1"/>
          <p:nvPr/>
        </p:nvSpPr>
        <p:spPr>
          <a:xfrm>
            <a:off x="914400" y="4927600"/>
            <a:ext cx="10414000" cy="762000"/>
          </a:xfrm>
          <a:prstGeom prst="rect">
            <a:avLst/>
          </a:prstGeom>
          <a:noFill/>
        </p:spPr>
        <p:txBody>
          <a:bodyPr vertOverflow="overflow" vert="horz" wrap="square" rtlCol="0" anchor="t">
            <a:noAutofit/>
          </a:bodyPr>
          <a:lstStyle/>
          <a:p>
            <a:pPr algn="l"/>
            <a:r>
              <a:rPr lang="en-GB" sz="2000">
                <a:solidFill>
                  <a:srgbClr val="8A8F98"/>
                </a:solidFill>
                <a:latin typeface="Segoe UI"/>
                <a:cs typeface="Segoe UI"/>
              </a:rPr>
              <a:t>Miguel Monereo · Maxime
Groupe 4 « Translog » · 17 septembre 2026</a:t>
            </a:r>
            <a:endParaRPr lang="en-FR" sz="2000">
              <a:solidFill>
                <a:srgbClr val="8A8F98"/>
              </a:solidFill>
              <a:latin typeface="Segoe UI"/>
              <a:cs typeface="Segoe UI"/>
            </a:endParaRPr>
          </a:p>
        </p:txBody>
      </p:sp>
    </p:spTree>
    <p:extLst>
      <p:ext uri="{BB962C8B-B14F-4D97-AF65-F5344CB8AC3E}">
        <p14:creationId xmlns:p14="http://schemas.microsoft.com/office/powerpoint/2010/main" val="20517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F30EDE3-F1F3-DD4F-926D-9F499269B354}"/>
              </a:ext>
            </a:extLst>
          </p:cNvPr>
          <p:cNvSpPr/>
          <p:nvPr/>
        </p:nvSpPr>
        <p:spPr>
          <a:xfrm>
            <a:off x="711200" y="4800600"/>
            <a:ext cx="10617200" cy="8382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 name="TextBox 1">
            <a:extLst>
              <a:ext uri="{FF2B5EF4-FFF2-40B4-BE49-F238E27FC236}">
                <a16:creationId xmlns:a16="http://schemas.microsoft.com/office/drawing/2014/main" id="{AB57E7BA-2E48-D34A-8DE3-E662CE3FF915}"/>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Semibold"/>
                <a:cs typeface="Segoe UI Semibold"/>
              </a:rPr>
              <a:t>Le message en une minute</a:t>
            </a:r>
            <a:endParaRPr lang="en-FR" sz="3200" b="1">
              <a:solidFill>
                <a:srgbClr val="1F4E79"/>
              </a:solidFill>
              <a:latin typeface="Segoe UI Semibold"/>
              <a:cs typeface="Segoe UI Semibold"/>
            </a:endParaRPr>
          </a:p>
        </p:txBody>
      </p:sp>
      <p:sp>
        <p:nvSpPr>
          <p:cNvPr id="3" name="Rectangle 2">
            <a:extLst>
              <a:ext uri="{FF2B5EF4-FFF2-40B4-BE49-F238E27FC236}">
                <a16:creationId xmlns:a16="http://schemas.microsoft.com/office/drawing/2014/main" id="{1F2F070E-061D-8345-9D67-FAFD2B3BFA5F}"/>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0DA73DF4-0BB9-9C43-B75C-E41AA8292036}"/>
              </a:ext>
            </a:extLst>
          </p:cNvPr>
          <p:cNvSpPr txBox="1"/>
          <p:nvPr/>
        </p:nvSpPr>
        <p:spPr>
          <a:xfrm>
            <a:off x="914400" y="1778000"/>
            <a:ext cx="3683000" cy="660400"/>
          </a:xfrm>
          <a:prstGeom prst="rect">
            <a:avLst/>
          </a:prstGeom>
          <a:noFill/>
        </p:spPr>
        <p:txBody>
          <a:bodyPr vertOverflow="overflow" vert="horz" wrap="square" rtlCol="0" anchor="t">
            <a:noAutofit/>
          </a:bodyPr>
          <a:lstStyle/>
          <a:p>
            <a:pPr algn="l"/>
            <a:r>
              <a:rPr lang="en-FR" sz="4000" b="1">
                <a:solidFill>
                  <a:srgbClr val="1F4E79"/>
                </a:solidFill>
                <a:latin typeface="Segoe UI Semibold"/>
                <a:cs typeface="Segoe UI Semibold"/>
              </a:rPr>
              <a:t>40 %</a:t>
            </a:r>
          </a:p>
        </p:txBody>
      </p:sp>
      <p:sp>
        <p:nvSpPr>
          <p:cNvPr id="5" name="TextBox 4">
            <a:extLst>
              <a:ext uri="{FF2B5EF4-FFF2-40B4-BE49-F238E27FC236}">
                <a16:creationId xmlns:a16="http://schemas.microsoft.com/office/drawing/2014/main" id="{809E1D01-10C6-6042-B630-8B1360F92191}"/>
              </a:ext>
            </a:extLst>
          </p:cNvPr>
          <p:cNvSpPr txBox="1"/>
          <p:nvPr/>
        </p:nvSpPr>
        <p:spPr>
          <a:xfrm>
            <a:off x="4953000" y="1803400"/>
            <a:ext cx="6375400" cy="939800"/>
          </a:xfrm>
          <a:prstGeom prst="rect">
            <a:avLst/>
          </a:prstGeom>
          <a:noFill/>
        </p:spPr>
        <p:txBody>
          <a:bodyPr vertOverflow="overflow" vert="horz" wrap="square" rtlCol="0" anchor="t">
            <a:noAutofit/>
          </a:bodyPr>
          <a:lstStyle/>
          <a:p>
            <a:pPr algn="l"/>
            <a:r>
              <a:rPr lang="en-GB" sz="2000" dirty="0">
                <a:solidFill>
                  <a:srgbClr val="1A1A1A"/>
                </a:solidFill>
                <a:latin typeface="Segoe UI"/>
                <a:cs typeface="Segoe UI"/>
              </a:rPr>
              <a:t>du volume </a:t>
            </a:r>
            <a:r>
              <a:rPr lang="en-GB" sz="2000" dirty="0" err="1">
                <a:solidFill>
                  <a:srgbClr val="1A1A1A"/>
                </a:solidFill>
                <a:latin typeface="Segoe UI"/>
                <a:cs typeface="Segoe UI"/>
              </a:rPr>
              <a:t>expédié</a:t>
            </a:r>
            <a:r>
              <a:rPr lang="en-GB" sz="2000" dirty="0">
                <a:solidFill>
                  <a:srgbClr val="1A1A1A"/>
                </a:solidFill>
                <a:latin typeface="Segoe UI"/>
                <a:cs typeface="Segoe UI"/>
              </a:rPr>
              <a:t> du </a:t>
            </a:r>
            <a:r>
              <a:rPr lang="en-GB" sz="2000" dirty="0" err="1">
                <a:solidFill>
                  <a:srgbClr val="1A1A1A"/>
                </a:solidFill>
                <a:latin typeface="Segoe UI"/>
                <a:cs typeface="Segoe UI"/>
              </a:rPr>
              <a:t>groupe</a:t>
            </a:r>
            <a:r>
              <a:rPr lang="en-GB" sz="2000" dirty="0">
                <a:solidFill>
                  <a:srgbClr val="1A1A1A"/>
                </a:solidFill>
                <a:latin typeface="Segoe UI"/>
                <a:cs typeface="Segoe UI"/>
              </a:rPr>
              <a:t> passe par un seul </a:t>
            </a:r>
            <a:r>
              <a:rPr lang="en-GB" sz="2000" dirty="0" err="1">
                <a:solidFill>
                  <a:srgbClr val="1A1A1A"/>
                </a:solidFill>
                <a:latin typeface="Segoe UI"/>
                <a:cs typeface="Segoe UI"/>
              </a:rPr>
              <a:t>système</a:t>
            </a:r>
            <a:r>
              <a:rPr lang="en-GB" sz="2000" dirty="0">
                <a:solidFill>
                  <a:srgbClr val="1A1A1A"/>
                </a:solidFill>
                <a:latin typeface="Segoe UI"/>
                <a:cs typeface="Segoe UI"/>
              </a:rPr>
              <a:t>, sur un seul site,
</a:t>
            </a:r>
            <a:r>
              <a:rPr lang="en-GB" sz="2000" dirty="0" err="1">
                <a:solidFill>
                  <a:srgbClr val="1A1A1A"/>
                </a:solidFill>
                <a:latin typeface="Segoe UI"/>
                <a:cs typeface="Segoe UI"/>
              </a:rPr>
              <a:t>dont</a:t>
            </a:r>
            <a:r>
              <a:rPr lang="en-GB" sz="2000" dirty="0">
                <a:solidFill>
                  <a:srgbClr val="1A1A1A"/>
                </a:solidFill>
                <a:latin typeface="Segoe UI"/>
                <a:cs typeface="Segoe UI"/>
              </a:rPr>
              <a:t> la restauration </a:t>
            </a:r>
            <a:r>
              <a:rPr lang="en-GB" sz="2000" dirty="0" err="1">
                <a:solidFill>
                  <a:srgbClr val="1A1A1A"/>
                </a:solidFill>
                <a:latin typeface="Segoe UI"/>
                <a:cs typeface="Segoe UI"/>
              </a:rPr>
              <a:t>n'a</a:t>
            </a:r>
            <a:r>
              <a:rPr lang="en-GB" sz="2000" dirty="0">
                <a:solidFill>
                  <a:srgbClr val="1A1A1A"/>
                </a:solidFill>
                <a:latin typeface="Segoe UI"/>
                <a:cs typeface="Segoe UI"/>
              </a:rPr>
              <a:t> jamais </a:t>
            </a:r>
            <a:r>
              <a:rPr lang="en-GB" sz="2000" dirty="0" err="1">
                <a:solidFill>
                  <a:srgbClr val="1A1A1A"/>
                </a:solidFill>
                <a:latin typeface="Segoe UI"/>
                <a:cs typeface="Segoe UI"/>
              </a:rPr>
              <a:t>été</a:t>
            </a:r>
            <a:r>
              <a:rPr lang="en-GB" sz="2000" dirty="0">
                <a:solidFill>
                  <a:srgbClr val="1A1A1A"/>
                </a:solidFill>
                <a:latin typeface="Segoe UI"/>
                <a:cs typeface="Segoe UI"/>
              </a:rPr>
              <a:t> </a:t>
            </a:r>
            <a:r>
              <a:rPr lang="en-GB" sz="2000" dirty="0" err="1">
                <a:solidFill>
                  <a:srgbClr val="1A1A1A"/>
                </a:solidFill>
                <a:latin typeface="Segoe UI"/>
                <a:cs typeface="Segoe UI"/>
              </a:rPr>
              <a:t>testée</a:t>
            </a:r>
            <a:endParaRPr lang="en-FR" sz="2000" dirty="0">
              <a:solidFill>
                <a:srgbClr val="1A1A1A"/>
              </a:solidFill>
              <a:latin typeface="Segoe UI"/>
              <a:cs typeface="Segoe UI"/>
            </a:endParaRPr>
          </a:p>
        </p:txBody>
      </p:sp>
      <p:sp>
        <p:nvSpPr>
          <p:cNvPr id="6" name="TextBox 5">
            <a:extLst>
              <a:ext uri="{FF2B5EF4-FFF2-40B4-BE49-F238E27FC236}">
                <a16:creationId xmlns:a16="http://schemas.microsoft.com/office/drawing/2014/main" id="{45AD9C62-2BB0-404A-8080-B8D47AB09D34}"/>
              </a:ext>
            </a:extLst>
          </p:cNvPr>
          <p:cNvSpPr txBox="1"/>
          <p:nvPr/>
        </p:nvSpPr>
        <p:spPr>
          <a:xfrm>
            <a:off x="914400" y="2819400"/>
            <a:ext cx="3683000" cy="660400"/>
          </a:xfrm>
          <a:prstGeom prst="rect">
            <a:avLst/>
          </a:prstGeom>
          <a:noFill/>
        </p:spPr>
        <p:txBody>
          <a:bodyPr vertOverflow="overflow" vert="horz" wrap="square" rtlCol="0" anchor="t">
            <a:noAutofit/>
          </a:bodyPr>
          <a:lstStyle/>
          <a:p>
            <a:pPr algn="l"/>
            <a:r>
              <a:rPr lang="en-FR" sz="4000" b="1" dirty="0">
                <a:solidFill>
                  <a:srgbClr val="1F4E79"/>
                </a:solidFill>
                <a:latin typeface="Segoe UI Semibold"/>
                <a:cs typeface="Segoe UI Semibold"/>
              </a:rPr>
              <a:t>12 000 €</a:t>
            </a:r>
          </a:p>
        </p:txBody>
      </p:sp>
      <p:sp>
        <p:nvSpPr>
          <p:cNvPr id="7" name="TextBox 6">
            <a:extLst>
              <a:ext uri="{FF2B5EF4-FFF2-40B4-BE49-F238E27FC236}">
                <a16:creationId xmlns:a16="http://schemas.microsoft.com/office/drawing/2014/main" id="{B8DD367F-74BF-3D41-995F-189539B97FDD}"/>
              </a:ext>
            </a:extLst>
          </p:cNvPr>
          <p:cNvSpPr txBox="1"/>
          <p:nvPr/>
        </p:nvSpPr>
        <p:spPr>
          <a:xfrm>
            <a:off x="4953000" y="2819400"/>
            <a:ext cx="6375400" cy="812800"/>
          </a:xfrm>
          <a:prstGeom prst="rect">
            <a:avLst/>
          </a:prstGeom>
          <a:noFill/>
        </p:spPr>
        <p:txBody>
          <a:bodyPr vertOverflow="overflow" vert="horz" wrap="square" rtlCol="0" anchor="t">
            <a:noAutofit/>
          </a:bodyPr>
          <a:lstStyle/>
          <a:p>
            <a:pPr algn="l"/>
            <a:r>
              <a:rPr lang="en-GB" sz="2000" dirty="0">
                <a:solidFill>
                  <a:srgbClr val="1A1A1A"/>
                </a:solidFill>
                <a:latin typeface="Segoe UI"/>
                <a:cs typeface="Segoe UI"/>
              </a:rPr>
              <a:t>par jour </a:t>
            </a:r>
            <a:r>
              <a:rPr lang="en-GB" sz="2000" dirty="0" err="1">
                <a:solidFill>
                  <a:srgbClr val="1A1A1A"/>
                </a:solidFill>
                <a:latin typeface="Segoe UI"/>
                <a:cs typeface="Segoe UI"/>
              </a:rPr>
              <a:t>d'arrêt</a:t>
            </a:r>
            <a:r>
              <a:rPr lang="en-GB" sz="2000" dirty="0">
                <a:solidFill>
                  <a:srgbClr val="1A1A1A"/>
                </a:solidFill>
                <a:latin typeface="Segoe UI"/>
                <a:cs typeface="Segoe UI"/>
              </a:rPr>
              <a:t> — </a:t>
            </a:r>
            <a:r>
              <a:rPr lang="en-GB" sz="2000" dirty="0" err="1">
                <a:solidFill>
                  <a:srgbClr val="1A1A1A"/>
                </a:solidFill>
                <a:latin typeface="Segoe UI"/>
                <a:cs typeface="Segoe UI"/>
              </a:rPr>
              <a:t>pénalités</a:t>
            </a:r>
            <a:r>
              <a:rPr lang="en-GB" sz="2000" dirty="0">
                <a:solidFill>
                  <a:srgbClr val="1A1A1A"/>
                </a:solidFill>
                <a:latin typeface="Segoe UI"/>
                <a:cs typeface="Segoe UI"/>
              </a:rPr>
              <a:t> </a:t>
            </a:r>
            <a:r>
              <a:rPr lang="en-GB" sz="2000" dirty="0" err="1">
                <a:solidFill>
                  <a:srgbClr val="1A1A1A"/>
                </a:solidFill>
                <a:latin typeface="Segoe UI"/>
                <a:cs typeface="Segoe UI"/>
              </a:rPr>
              <a:t>contractuelles</a:t>
            </a:r>
            <a:r>
              <a:rPr lang="en-GB" sz="2000" dirty="0">
                <a:solidFill>
                  <a:srgbClr val="1A1A1A"/>
                </a:solidFill>
                <a:latin typeface="Segoe UI"/>
                <a:cs typeface="Segoe UI"/>
              </a:rPr>
              <a:t>, </a:t>
            </a:r>
            <a:r>
              <a:rPr lang="en-GB" sz="2000" dirty="0" err="1">
                <a:solidFill>
                  <a:srgbClr val="1A1A1A"/>
                </a:solidFill>
                <a:latin typeface="Segoe UI"/>
                <a:cs typeface="Segoe UI"/>
              </a:rPr>
              <a:t>notre</a:t>
            </a:r>
            <a:r>
              <a:rPr lang="en-GB" sz="2000" dirty="0">
                <a:solidFill>
                  <a:srgbClr val="1A1A1A"/>
                </a:solidFill>
                <a:latin typeface="Segoe UI"/>
                <a:cs typeface="Segoe UI"/>
              </a:rPr>
              <a:t> propre </a:t>
            </a:r>
            <a:r>
              <a:rPr lang="en-GB" sz="2000" dirty="0" err="1">
                <a:solidFill>
                  <a:srgbClr val="1A1A1A"/>
                </a:solidFill>
                <a:latin typeface="Segoe UI"/>
                <a:cs typeface="Segoe UI"/>
              </a:rPr>
              <a:t>contrat</a:t>
            </a:r>
            <a:endParaRPr lang="en-FR" sz="2000" dirty="0">
              <a:solidFill>
                <a:srgbClr val="1A1A1A"/>
              </a:solidFill>
              <a:latin typeface="Segoe UI"/>
              <a:cs typeface="Segoe UI"/>
            </a:endParaRPr>
          </a:p>
        </p:txBody>
      </p:sp>
      <p:sp>
        <p:nvSpPr>
          <p:cNvPr id="8" name="TextBox 7">
            <a:extLst>
              <a:ext uri="{FF2B5EF4-FFF2-40B4-BE49-F238E27FC236}">
                <a16:creationId xmlns:a16="http://schemas.microsoft.com/office/drawing/2014/main" id="{8B305F83-0EE3-C941-AAD4-110BD4E58067}"/>
              </a:ext>
            </a:extLst>
          </p:cNvPr>
          <p:cNvSpPr txBox="1"/>
          <p:nvPr/>
        </p:nvSpPr>
        <p:spPr>
          <a:xfrm>
            <a:off x="914400" y="3860800"/>
            <a:ext cx="3683000" cy="660400"/>
          </a:xfrm>
          <a:prstGeom prst="rect">
            <a:avLst/>
          </a:prstGeom>
          <a:noFill/>
        </p:spPr>
        <p:txBody>
          <a:bodyPr vertOverflow="overflow" vert="horz" wrap="square" rtlCol="0" anchor="t">
            <a:noAutofit/>
          </a:bodyPr>
          <a:lstStyle/>
          <a:p>
            <a:pPr algn="l"/>
            <a:r>
              <a:rPr lang="en-GB" sz="4000" b="1" dirty="0">
                <a:solidFill>
                  <a:srgbClr val="1F4E79"/>
                </a:solidFill>
                <a:latin typeface="Segoe UI Semibold"/>
                <a:cs typeface="Segoe UI Semibold"/>
              </a:rPr>
              <a:t>250–300 M$</a:t>
            </a:r>
            <a:endParaRPr lang="en-FR" sz="4000" b="1" dirty="0">
              <a:solidFill>
                <a:srgbClr val="1F4E79"/>
              </a:solidFill>
              <a:latin typeface="Segoe UI Semibold"/>
              <a:cs typeface="Segoe UI Semibold"/>
            </a:endParaRPr>
          </a:p>
        </p:txBody>
      </p:sp>
      <p:sp>
        <p:nvSpPr>
          <p:cNvPr id="9" name="TextBox 8">
            <a:extLst>
              <a:ext uri="{FF2B5EF4-FFF2-40B4-BE49-F238E27FC236}">
                <a16:creationId xmlns:a16="http://schemas.microsoft.com/office/drawing/2014/main" id="{EF53045B-041A-2D41-8397-EC5702FE6F0C}"/>
              </a:ext>
            </a:extLst>
          </p:cNvPr>
          <p:cNvSpPr txBox="1"/>
          <p:nvPr/>
        </p:nvSpPr>
        <p:spPr>
          <a:xfrm>
            <a:off x="4953000" y="3860800"/>
            <a:ext cx="6375400" cy="812800"/>
          </a:xfrm>
          <a:prstGeom prst="rect">
            <a:avLst/>
          </a:prstGeom>
          <a:noFill/>
        </p:spPr>
        <p:txBody>
          <a:bodyPr vertOverflow="overflow" vert="horz" wrap="square" rtlCol="0" anchor="t">
            <a:noAutofit/>
          </a:bodyPr>
          <a:lstStyle/>
          <a:p>
            <a:pPr algn="l"/>
            <a:r>
              <a:rPr lang="en-GB" sz="2000" dirty="0" err="1">
                <a:solidFill>
                  <a:srgbClr val="1A1A1A"/>
                </a:solidFill>
                <a:latin typeface="Segoe UI"/>
                <a:cs typeface="Segoe UI"/>
              </a:rPr>
              <a:t>ce</a:t>
            </a:r>
            <a:r>
              <a:rPr lang="en-GB" sz="2000" dirty="0">
                <a:solidFill>
                  <a:srgbClr val="1A1A1A"/>
                </a:solidFill>
                <a:latin typeface="Segoe UI"/>
                <a:cs typeface="Segoe UI"/>
              </a:rPr>
              <a:t> </a:t>
            </a:r>
            <a:r>
              <a:rPr lang="en-GB" sz="2000" dirty="0" err="1">
                <a:solidFill>
                  <a:srgbClr val="1A1A1A"/>
                </a:solidFill>
                <a:latin typeface="Segoe UI"/>
                <a:cs typeface="Segoe UI"/>
              </a:rPr>
              <a:t>que</a:t>
            </a:r>
            <a:r>
              <a:rPr lang="en-GB" sz="2000" dirty="0">
                <a:solidFill>
                  <a:srgbClr val="1A1A1A"/>
                </a:solidFill>
                <a:latin typeface="Segoe UI"/>
                <a:cs typeface="Segoe UI"/>
              </a:rPr>
              <a:t> la </a:t>
            </a:r>
            <a:r>
              <a:rPr lang="en-GB" sz="2000" dirty="0" err="1">
                <a:solidFill>
                  <a:srgbClr val="1A1A1A"/>
                </a:solidFill>
                <a:latin typeface="Segoe UI"/>
                <a:cs typeface="Segoe UI"/>
              </a:rPr>
              <a:t>même</a:t>
            </a:r>
            <a:r>
              <a:rPr lang="en-GB" sz="2000" dirty="0">
                <a:solidFill>
                  <a:srgbClr val="1A1A1A"/>
                </a:solidFill>
                <a:latin typeface="Segoe UI"/>
                <a:cs typeface="Segoe UI"/>
              </a:rPr>
              <a:t> situation a </a:t>
            </a:r>
            <a:r>
              <a:rPr lang="en-GB" sz="2000" dirty="0" err="1">
                <a:solidFill>
                  <a:srgbClr val="1A1A1A"/>
                </a:solidFill>
                <a:latin typeface="Segoe UI"/>
                <a:cs typeface="Segoe UI"/>
              </a:rPr>
              <a:t>coûté</a:t>
            </a:r>
            <a:r>
              <a:rPr lang="en-GB" sz="2000" dirty="0">
                <a:solidFill>
                  <a:srgbClr val="1A1A1A"/>
                </a:solidFill>
                <a:latin typeface="Segoe UI"/>
                <a:cs typeface="Segoe UI"/>
              </a:rPr>
              <a:t> à un </a:t>
            </a:r>
            <a:r>
              <a:rPr lang="en-GB" sz="2000" dirty="0" err="1">
                <a:solidFill>
                  <a:srgbClr val="1A1A1A"/>
                </a:solidFill>
                <a:latin typeface="Segoe UI"/>
                <a:cs typeface="Segoe UI"/>
              </a:rPr>
              <a:t>transporteur</a:t>
            </a:r>
            <a:r>
              <a:rPr lang="en-GB" sz="2000" dirty="0">
                <a:solidFill>
                  <a:srgbClr val="1A1A1A"/>
                </a:solidFill>
                <a:latin typeface="Segoe UI"/>
                <a:cs typeface="Segoe UI"/>
              </a:rPr>
              <a:t> </a:t>
            </a:r>
            <a:r>
              <a:rPr lang="en-GB" sz="2000" dirty="0" err="1">
                <a:solidFill>
                  <a:srgbClr val="1A1A1A"/>
                </a:solidFill>
                <a:latin typeface="Segoe UI"/>
                <a:cs typeface="Segoe UI"/>
              </a:rPr>
              <a:t>européen</a:t>
            </a:r>
            <a:r>
              <a:rPr lang="en-GB" sz="2000" dirty="0">
                <a:solidFill>
                  <a:srgbClr val="1A1A1A"/>
                </a:solidFill>
                <a:latin typeface="Segoe UI"/>
                <a:cs typeface="Segoe UI"/>
              </a:rPr>
              <a:t> </a:t>
            </a:r>
            <a:r>
              <a:rPr lang="en-GB" sz="2000" dirty="0" err="1">
                <a:solidFill>
                  <a:srgbClr val="1A1A1A"/>
                </a:solidFill>
                <a:latin typeface="Segoe UI"/>
                <a:cs typeface="Segoe UI"/>
              </a:rPr>
              <a:t>en</a:t>
            </a:r>
            <a:r>
              <a:rPr lang="en-GB" sz="2000" dirty="0">
                <a:solidFill>
                  <a:srgbClr val="1A1A1A"/>
                </a:solidFill>
                <a:latin typeface="Segoe UI"/>
                <a:cs typeface="Segoe UI"/>
              </a:rPr>
              <a:t> 2017</a:t>
            </a:r>
            <a:endParaRPr lang="en-FR" sz="2000" dirty="0">
              <a:solidFill>
                <a:srgbClr val="1A1A1A"/>
              </a:solidFill>
              <a:latin typeface="Segoe UI"/>
              <a:cs typeface="Segoe UI"/>
            </a:endParaRPr>
          </a:p>
        </p:txBody>
      </p:sp>
      <p:sp>
        <p:nvSpPr>
          <p:cNvPr id="10" name="TextBox 9">
            <a:extLst>
              <a:ext uri="{FF2B5EF4-FFF2-40B4-BE49-F238E27FC236}">
                <a16:creationId xmlns:a16="http://schemas.microsoft.com/office/drawing/2014/main" id="{F36C64FF-196A-8D45-8DA4-591393691181}"/>
              </a:ext>
            </a:extLst>
          </p:cNvPr>
          <p:cNvSpPr txBox="1"/>
          <p:nvPr/>
        </p:nvSpPr>
        <p:spPr>
          <a:xfrm>
            <a:off x="914400" y="4876800"/>
            <a:ext cx="3683000" cy="660400"/>
          </a:xfrm>
          <a:prstGeom prst="rect">
            <a:avLst/>
          </a:prstGeom>
          <a:noFill/>
        </p:spPr>
        <p:txBody>
          <a:bodyPr vertOverflow="overflow" vert="horz" wrap="square" rtlCol="0" anchor="t">
            <a:noAutofit/>
          </a:bodyPr>
          <a:lstStyle/>
          <a:p>
            <a:pPr algn="l"/>
            <a:r>
              <a:rPr lang="en-GB" sz="4000" b="1" dirty="0">
                <a:solidFill>
                  <a:srgbClr val="1F4E79"/>
                </a:solidFill>
                <a:latin typeface="Segoe UI Semibold"/>
                <a:cs typeface="Segoe UI Semibold"/>
              </a:rPr>
              <a:t>82 000 €/an</a:t>
            </a:r>
            <a:endParaRPr lang="en-FR" sz="4000" b="1" dirty="0">
              <a:solidFill>
                <a:srgbClr val="1F4E79"/>
              </a:solidFill>
              <a:latin typeface="Segoe UI Semibold"/>
              <a:cs typeface="Segoe UI Semibold"/>
            </a:endParaRPr>
          </a:p>
        </p:txBody>
      </p:sp>
      <p:sp>
        <p:nvSpPr>
          <p:cNvPr id="11" name="TextBox 10">
            <a:extLst>
              <a:ext uri="{FF2B5EF4-FFF2-40B4-BE49-F238E27FC236}">
                <a16:creationId xmlns:a16="http://schemas.microsoft.com/office/drawing/2014/main" id="{DA99FC1C-916A-4D45-9433-C5998D7A9C43}"/>
              </a:ext>
            </a:extLst>
          </p:cNvPr>
          <p:cNvSpPr txBox="1"/>
          <p:nvPr/>
        </p:nvSpPr>
        <p:spPr>
          <a:xfrm>
            <a:off x="4953000" y="5003800"/>
            <a:ext cx="6375400" cy="812800"/>
          </a:xfrm>
          <a:prstGeom prst="rect">
            <a:avLst/>
          </a:prstGeom>
          <a:noFill/>
        </p:spPr>
        <p:txBody>
          <a:bodyPr vertOverflow="overflow" vert="horz" wrap="square" rtlCol="0" anchor="t">
            <a:noAutofit/>
          </a:bodyPr>
          <a:lstStyle/>
          <a:p>
            <a:pPr algn="l"/>
            <a:r>
              <a:rPr lang="en-GB" sz="2000" dirty="0" err="1">
                <a:solidFill>
                  <a:srgbClr val="1A1A1A"/>
                </a:solidFill>
                <a:latin typeface="Segoe UI"/>
                <a:cs typeface="Segoe UI"/>
              </a:rPr>
              <a:t>ce</a:t>
            </a:r>
            <a:r>
              <a:rPr lang="en-GB" sz="2000" dirty="0">
                <a:solidFill>
                  <a:srgbClr val="1A1A1A"/>
                </a:solidFill>
                <a:latin typeface="Segoe UI"/>
                <a:cs typeface="Segoe UI"/>
              </a:rPr>
              <a:t> </a:t>
            </a:r>
            <a:r>
              <a:rPr lang="en-GB" sz="2000" dirty="0" err="1">
                <a:solidFill>
                  <a:srgbClr val="1A1A1A"/>
                </a:solidFill>
                <a:latin typeface="Segoe UI"/>
                <a:cs typeface="Segoe UI"/>
              </a:rPr>
              <a:t>que</a:t>
            </a:r>
            <a:r>
              <a:rPr lang="en-GB" sz="2000" dirty="0">
                <a:solidFill>
                  <a:srgbClr val="1A1A1A"/>
                </a:solidFill>
                <a:latin typeface="Segoe UI"/>
                <a:cs typeface="Segoe UI"/>
              </a:rPr>
              <a:t> nous </a:t>
            </a:r>
            <a:r>
              <a:rPr lang="en-GB" sz="2000" dirty="0" err="1">
                <a:solidFill>
                  <a:srgbClr val="1A1A1A"/>
                </a:solidFill>
                <a:latin typeface="Segoe UI"/>
                <a:cs typeface="Segoe UI"/>
              </a:rPr>
              <a:t>venons</a:t>
            </a:r>
            <a:r>
              <a:rPr lang="en-GB" sz="2000" dirty="0">
                <a:solidFill>
                  <a:srgbClr val="1A1A1A"/>
                </a:solidFill>
                <a:latin typeface="Segoe UI"/>
                <a:cs typeface="Segoe UI"/>
              </a:rPr>
              <a:t> vous demander</a:t>
            </a:r>
            <a:endParaRPr lang="en-FR" sz="2000" dirty="0">
              <a:solidFill>
                <a:srgbClr val="1A1A1A"/>
              </a:solidFill>
              <a:latin typeface="Segoe UI"/>
              <a:cs typeface="Segoe UI"/>
            </a:endParaRPr>
          </a:p>
        </p:txBody>
      </p:sp>
    </p:spTree>
    <p:extLst>
      <p:ext uri="{BB962C8B-B14F-4D97-AF65-F5344CB8AC3E}">
        <p14:creationId xmlns:p14="http://schemas.microsoft.com/office/powerpoint/2010/main" val="5150081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844C66D-EB2B-504E-943A-9F072B1D5790}"/>
              </a:ext>
            </a:extLst>
          </p:cNvPr>
          <p:cNvSpPr/>
          <p:nvPr/>
        </p:nvSpPr>
        <p:spPr>
          <a:xfrm>
            <a:off x="914400" y="3276600"/>
            <a:ext cx="10414000" cy="5334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 name="TextBox 1">
            <a:extLst>
              <a:ext uri="{FF2B5EF4-FFF2-40B4-BE49-F238E27FC236}">
                <a16:creationId xmlns:a16="http://schemas.microsoft.com/office/drawing/2014/main" id="{24389341-958A-ED43-9357-423B17125D7C}"/>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Semibold"/>
                <a:cs typeface="Segoe UI Semibold"/>
              </a:rPr>
              <a:t>Ce que nous protégeons — les cinq actifs critiques</a:t>
            </a:r>
            <a:endParaRPr lang="en-FR" sz="3200" b="1">
              <a:solidFill>
                <a:srgbClr val="1F4E79"/>
              </a:solidFill>
              <a:latin typeface="Segoe UI Semibold"/>
              <a:cs typeface="Segoe UI Semibold"/>
            </a:endParaRPr>
          </a:p>
        </p:txBody>
      </p:sp>
      <p:sp>
        <p:nvSpPr>
          <p:cNvPr id="3" name="Rectangle 2">
            <a:extLst>
              <a:ext uri="{FF2B5EF4-FFF2-40B4-BE49-F238E27FC236}">
                <a16:creationId xmlns:a16="http://schemas.microsoft.com/office/drawing/2014/main" id="{0958806D-BEB6-C549-85D8-0ECAAA69D474}"/>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0D0493E5-E34E-B448-AF84-DB9DCC622566}"/>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Quatre activités, treize supports, cinq actifs critiques — classés sur un critère écrit </a:t>
            </a:r>
            <a:r>
              <a:rPr lang="en-GB" b="1">
                <a:solidFill>
                  <a:srgbClr val="8A8F98"/>
                </a:solidFill>
                <a:latin typeface="Segoe UI"/>
                <a:cs typeface="Segoe UI"/>
              </a:rPr>
              <a:t>avant</a:t>
            </a:r>
            <a:r>
              <a:rPr lang="en-GB">
                <a:solidFill>
                  <a:srgbClr val="8A8F98"/>
                </a:solidFill>
                <a:latin typeface="Segoe UI"/>
                <a:cs typeface="Segoe UI"/>
              </a:rPr>
              <a:t> le classement</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2F11260E-FCD9-8B44-B8BC-428ED9313094}"/>
              </a:ext>
            </a:extLst>
          </p:cNvPr>
          <p:cNvSpPr txBox="1"/>
          <p:nvPr/>
        </p:nvSpPr>
        <p:spPr>
          <a:xfrm>
            <a:off x="914400" y="1905000"/>
            <a:ext cx="304800" cy="381000"/>
          </a:xfrm>
          <a:prstGeom prst="rect">
            <a:avLst/>
          </a:prstGeom>
          <a:noFill/>
        </p:spPr>
        <p:txBody>
          <a:bodyPr vertOverflow="overflow" vert="horz" wrap="square" rtlCol="0" anchor="t">
            <a:noAutofit/>
          </a:bodyPr>
          <a:lstStyle/>
          <a:p>
            <a:pPr algn="l"/>
            <a:r>
              <a:rPr lang="en-FR" sz="2000" b="1">
                <a:solidFill>
                  <a:srgbClr val="1F4E79"/>
                </a:solidFill>
                <a:latin typeface="Segoe UI Semibold"/>
                <a:cs typeface="Segoe UI Semibold"/>
              </a:rPr>
              <a:t>1</a:t>
            </a:r>
          </a:p>
        </p:txBody>
      </p:sp>
      <p:sp>
        <p:nvSpPr>
          <p:cNvPr id="6" name="TextBox 5">
            <a:extLst>
              <a:ext uri="{FF2B5EF4-FFF2-40B4-BE49-F238E27FC236}">
                <a16:creationId xmlns:a16="http://schemas.microsoft.com/office/drawing/2014/main" id="{5E8429BA-384B-E74F-AD81-A1D2EAB0481B}"/>
              </a:ext>
            </a:extLst>
          </p:cNvPr>
          <p:cNvSpPr txBox="1"/>
          <p:nvPr/>
        </p:nvSpPr>
        <p:spPr>
          <a:xfrm>
            <a:off x="1320800" y="1905000"/>
            <a:ext cx="3810000" cy="381000"/>
          </a:xfrm>
          <a:prstGeom prst="rect">
            <a:avLst/>
          </a:prstGeom>
          <a:noFill/>
        </p:spPr>
        <p:txBody>
          <a:bodyPr vertOverflow="overflow" vert="horz" wrap="square" rtlCol="0" anchor="t">
            <a:noAutofit/>
          </a:bodyPr>
          <a:lstStyle/>
          <a:p>
            <a:pPr algn="l"/>
            <a:r>
              <a:rPr lang="en-GB" sz="2000" b="1">
                <a:solidFill>
                  <a:srgbClr val="1A1A1A"/>
                </a:solidFill>
                <a:latin typeface="Segoe UI"/>
                <a:cs typeface="Segoe UI"/>
              </a:rPr>
              <a:t>Système de gestion d'entrepôt</a:t>
            </a:r>
            <a:endParaRPr lang="en-FR" sz="2000" b="1">
              <a:solidFill>
                <a:srgbClr val="1A1A1A"/>
              </a:solidFill>
              <a:latin typeface="Segoe UI"/>
              <a:cs typeface="Segoe UI"/>
            </a:endParaRPr>
          </a:p>
        </p:txBody>
      </p:sp>
      <p:sp>
        <p:nvSpPr>
          <p:cNvPr id="7" name="TextBox 6">
            <a:extLst>
              <a:ext uri="{FF2B5EF4-FFF2-40B4-BE49-F238E27FC236}">
                <a16:creationId xmlns:a16="http://schemas.microsoft.com/office/drawing/2014/main" id="{B13600F4-C0C0-F64D-B0E6-7F253CA7836C}"/>
              </a:ext>
            </a:extLst>
          </p:cNvPr>
          <p:cNvSpPr txBox="1"/>
          <p:nvPr/>
        </p:nvSpPr>
        <p:spPr>
          <a:xfrm>
            <a:off x="5130800" y="1930400"/>
            <a:ext cx="6197600" cy="3810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arrêt &gt; 6 h = 40 % du volume du groupe · reprise jamais démontrée</a:t>
            </a:r>
            <a:endParaRPr lang="en-FR">
              <a:solidFill>
                <a:srgbClr val="3C3C3C"/>
              </a:solidFill>
              <a:latin typeface="Segoe UI"/>
              <a:cs typeface="Segoe UI"/>
            </a:endParaRPr>
          </a:p>
        </p:txBody>
      </p:sp>
      <p:sp>
        <p:nvSpPr>
          <p:cNvPr id="8" name="TextBox 7">
            <a:extLst>
              <a:ext uri="{FF2B5EF4-FFF2-40B4-BE49-F238E27FC236}">
                <a16:creationId xmlns:a16="http://schemas.microsoft.com/office/drawing/2014/main" id="{5E5A6E9A-3C58-BC4A-AB9F-75D2A58EC663}"/>
              </a:ext>
            </a:extLst>
          </p:cNvPr>
          <p:cNvSpPr txBox="1"/>
          <p:nvPr/>
        </p:nvSpPr>
        <p:spPr>
          <a:xfrm>
            <a:off x="914400" y="2590800"/>
            <a:ext cx="304800" cy="381000"/>
          </a:xfrm>
          <a:prstGeom prst="rect">
            <a:avLst/>
          </a:prstGeom>
          <a:noFill/>
        </p:spPr>
        <p:txBody>
          <a:bodyPr vertOverflow="overflow" vert="horz" wrap="square" rtlCol="0" anchor="t">
            <a:noAutofit/>
          </a:bodyPr>
          <a:lstStyle/>
          <a:p>
            <a:pPr algn="l"/>
            <a:r>
              <a:rPr lang="en-FR" sz="2000" b="1">
                <a:solidFill>
                  <a:srgbClr val="1F4E79"/>
                </a:solidFill>
                <a:latin typeface="Segoe UI Semibold"/>
                <a:cs typeface="Segoe UI Semibold"/>
              </a:rPr>
              <a:t>2</a:t>
            </a:r>
          </a:p>
        </p:txBody>
      </p:sp>
      <p:sp>
        <p:nvSpPr>
          <p:cNvPr id="9" name="TextBox 8">
            <a:extLst>
              <a:ext uri="{FF2B5EF4-FFF2-40B4-BE49-F238E27FC236}">
                <a16:creationId xmlns:a16="http://schemas.microsoft.com/office/drawing/2014/main" id="{88003978-8E4D-ED4F-9D7B-299412E7A438}"/>
              </a:ext>
            </a:extLst>
          </p:cNvPr>
          <p:cNvSpPr txBox="1"/>
          <p:nvPr/>
        </p:nvSpPr>
        <p:spPr>
          <a:xfrm>
            <a:off x="1320800" y="2590800"/>
            <a:ext cx="3810000" cy="381000"/>
          </a:xfrm>
          <a:prstGeom prst="rect">
            <a:avLst/>
          </a:prstGeom>
          <a:noFill/>
        </p:spPr>
        <p:txBody>
          <a:bodyPr vertOverflow="overflow" vert="horz" wrap="square" rtlCol="0" anchor="t">
            <a:noAutofit/>
          </a:bodyPr>
          <a:lstStyle/>
          <a:p>
            <a:pPr algn="l"/>
            <a:r>
              <a:rPr lang="en-GB" sz="2000" b="1">
                <a:solidFill>
                  <a:srgbClr val="1A1A1A"/>
                </a:solidFill>
                <a:latin typeface="Segoe UI"/>
                <a:cs typeface="Segoe UI"/>
              </a:rPr>
              <a:t>Compte technique des automates</a:t>
            </a:r>
            <a:endParaRPr lang="en-FR" sz="2000" b="1">
              <a:solidFill>
                <a:srgbClr val="1A1A1A"/>
              </a:solidFill>
              <a:latin typeface="Segoe UI"/>
              <a:cs typeface="Segoe UI"/>
            </a:endParaRPr>
          </a:p>
        </p:txBody>
      </p:sp>
      <p:sp>
        <p:nvSpPr>
          <p:cNvPr id="10" name="TextBox 9">
            <a:extLst>
              <a:ext uri="{FF2B5EF4-FFF2-40B4-BE49-F238E27FC236}">
                <a16:creationId xmlns:a16="http://schemas.microsoft.com/office/drawing/2014/main" id="{7190EF5F-C0FD-DB4C-A51B-5DDD1867DC1A}"/>
              </a:ext>
            </a:extLst>
          </p:cNvPr>
          <p:cNvSpPr txBox="1"/>
          <p:nvPr/>
        </p:nvSpPr>
        <p:spPr>
          <a:xfrm>
            <a:off x="5130800" y="2616200"/>
            <a:ext cx="6197600" cy="3810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même mot de passe sur les six sites depuis 2019</a:t>
            </a:r>
            <a:endParaRPr lang="en-FR">
              <a:solidFill>
                <a:srgbClr val="3C3C3C"/>
              </a:solidFill>
              <a:latin typeface="Segoe UI"/>
              <a:cs typeface="Segoe UI"/>
            </a:endParaRPr>
          </a:p>
        </p:txBody>
      </p:sp>
      <p:sp>
        <p:nvSpPr>
          <p:cNvPr id="12" name="TextBox 11">
            <a:extLst>
              <a:ext uri="{FF2B5EF4-FFF2-40B4-BE49-F238E27FC236}">
                <a16:creationId xmlns:a16="http://schemas.microsoft.com/office/drawing/2014/main" id="{50F59710-6222-A94F-9B97-39961000EFA5}"/>
              </a:ext>
            </a:extLst>
          </p:cNvPr>
          <p:cNvSpPr txBox="1"/>
          <p:nvPr/>
        </p:nvSpPr>
        <p:spPr>
          <a:xfrm>
            <a:off x="914400" y="3352800"/>
            <a:ext cx="304800" cy="381000"/>
          </a:xfrm>
          <a:prstGeom prst="rect">
            <a:avLst/>
          </a:prstGeom>
          <a:noFill/>
        </p:spPr>
        <p:txBody>
          <a:bodyPr vertOverflow="overflow" vert="horz" wrap="square" rtlCol="0" anchor="t">
            <a:noAutofit/>
          </a:bodyPr>
          <a:lstStyle/>
          <a:p>
            <a:pPr algn="l"/>
            <a:r>
              <a:rPr lang="en-FR" sz="2000" b="1">
                <a:solidFill>
                  <a:srgbClr val="1F4E79"/>
                </a:solidFill>
                <a:latin typeface="Segoe UI Semibold"/>
                <a:cs typeface="Segoe UI Semibold"/>
              </a:rPr>
              <a:t>3</a:t>
            </a:r>
          </a:p>
        </p:txBody>
      </p:sp>
      <p:sp>
        <p:nvSpPr>
          <p:cNvPr id="13" name="TextBox 12">
            <a:extLst>
              <a:ext uri="{FF2B5EF4-FFF2-40B4-BE49-F238E27FC236}">
                <a16:creationId xmlns:a16="http://schemas.microsoft.com/office/drawing/2014/main" id="{11F05920-75AD-8544-96FA-8A82A5DE5CB8}"/>
              </a:ext>
            </a:extLst>
          </p:cNvPr>
          <p:cNvSpPr txBox="1"/>
          <p:nvPr/>
        </p:nvSpPr>
        <p:spPr>
          <a:xfrm>
            <a:off x="1320800" y="3352800"/>
            <a:ext cx="3810000" cy="381000"/>
          </a:xfrm>
          <a:prstGeom prst="rect">
            <a:avLst/>
          </a:prstGeom>
          <a:noFill/>
        </p:spPr>
        <p:txBody>
          <a:bodyPr vertOverflow="overflow" vert="horz" wrap="square" rtlCol="0" anchor="t">
            <a:noAutofit/>
          </a:bodyPr>
          <a:lstStyle/>
          <a:p>
            <a:pPr algn="l"/>
            <a:r>
              <a:rPr lang="en-GB" sz="2000" b="1">
                <a:solidFill>
                  <a:srgbClr val="1F4E79"/>
                </a:solidFill>
                <a:latin typeface="Segoe UI"/>
                <a:cs typeface="Segoe UI"/>
              </a:rPr>
              <a:t>Le Responsable Exploitation</a:t>
            </a:r>
            <a:endParaRPr lang="en-FR" sz="2000" b="1">
              <a:solidFill>
                <a:srgbClr val="1F4E79"/>
              </a:solidFill>
              <a:latin typeface="Segoe UI"/>
              <a:cs typeface="Segoe UI"/>
            </a:endParaRPr>
          </a:p>
        </p:txBody>
      </p:sp>
      <p:sp>
        <p:nvSpPr>
          <p:cNvPr id="14" name="TextBox 13">
            <a:extLst>
              <a:ext uri="{FF2B5EF4-FFF2-40B4-BE49-F238E27FC236}">
                <a16:creationId xmlns:a16="http://schemas.microsoft.com/office/drawing/2014/main" id="{6C74870C-3EC8-0F4A-A4E6-CB0C4A0FBB08}"/>
              </a:ext>
            </a:extLst>
          </p:cNvPr>
          <p:cNvSpPr txBox="1"/>
          <p:nvPr/>
        </p:nvSpPr>
        <p:spPr>
          <a:xfrm>
            <a:off x="5130800" y="3378200"/>
            <a:ext cx="6197600" cy="3810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seul détenteur du savoir des six entrepôts — écrit nulle part</a:t>
            </a:r>
            <a:endParaRPr lang="en-FR">
              <a:solidFill>
                <a:srgbClr val="3C3C3C"/>
              </a:solidFill>
              <a:latin typeface="Segoe UI"/>
              <a:cs typeface="Segoe UI"/>
            </a:endParaRPr>
          </a:p>
        </p:txBody>
      </p:sp>
      <p:sp>
        <p:nvSpPr>
          <p:cNvPr id="15" name="TextBox 14">
            <a:extLst>
              <a:ext uri="{FF2B5EF4-FFF2-40B4-BE49-F238E27FC236}">
                <a16:creationId xmlns:a16="http://schemas.microsoft.com/office/drawing/2014/main" id="{8E12D24C-C113-D549-AE04-CD32F85F2C5B}"/>
              </a:ext>
            </a:extLst>
          </p:cNvPr>
          <p:cNvSpPr txBox="1"/>
          <p:nvPr/>
        </p:nvSpPr>
        <p:spPr>
          <a:xfrm>
            <a:off x="914400" y="3962400"/>
            <a:ext cx="304800" cy="381000"/>
          </a:xfrm>
          <a:prstGeom prst="rect">
            <a:avLst/>
          </a:prstGeom>
          <a:noFill/>
        </p:spPr>
        <p:txBody>
          <a:bodyPr vertOverflow="overflow" vert="horz" wrap="square" rtlCol="0" anchor="t">
            <a:noAutofit/>
          </a:bodyPr>
          <a:lstStyle/>
          <a:p>
            <a:pPr algn="l"/>
            <a:r>
              <a:rPr lang="en-FR" sz="2000" b="1">
                <a:solidFill>
                  <a:srgbClr val="1F4E79"/>
                </a:solidFill>
                <a:latin typeface="Segoe UI Semibold"/>
                <a:cs typeface="Segoe UI Semibold"/>
              </a:rPr>
              <a:t>4</a:t>
            </a:r>
          </a:p>
        </p:txBody>
      </p:sp>
      <p:sp>
        <p:nvSpPr>
          <p:cNvPr id="16" name="TextBox 15">
            <a:extLst>
              <a:ext uri="{FF2B5EF4-FFF2-40B4-BE49-F238E27FC236}">
                <a16:creationId xmlns:a16="http://schemas.microsoft.com/office/drawing/2014/main" id="{00E77890-5422-A243-B29D-BB94B17F6E1D}"/>
              </a:ext>
            </a:extLst>
          </p:cNvPr>
          <p:cNvSpPr txBox="1"/>
          <p:nvPr/>
        </p:nvSpPr>
        <p:spPr>
          <a:xfrm>
            <a:off x="1320800" y="3962400"/>
            <a:ext cx="3810000" cy="381000"/>
          </a:xfrm>
          <a:prstGeom prst="rect">
            <a:avLst/>
          </a:prstGeom>
          <a:noFill/>
        </p:spPr>
        <p:txBody>
          <a:bodyPr vertOverflow="overflow" vert="horz" wrap="square" rtlCol="0" anchor="t">
            <a:noAutofit/>
          </a:bodyPr>
          <a:lstStyle/>
          <a:p>
            <a:pPr algn="l"/>
            <a:r>
              <a:rPr lang="en-GB" sz="2000" b="1">
                <a:solidFill>
                  <a:srgbClr val="1A1A1A"/>
                </a:solidFill>
                <a:latin typeface="Segoe UI"/>
                <a:cs typeface="Segoe UI"/>
              </a:rPr>
              <a:t>Logiciel des sondes de température</a:t>
            </a:r>
            <a:endParaRPr lang="en-FR" sz="2000" b="1">
              <a:solidFill>
                <a:srgbClr val="1A1A1A"/>
              </a:solidFill>
              <a:latin typeface="Segoe UI"/>
              <a:cs typeface="Segoe UI"/>
            </a:endParaRPr>
          </a:p>
        </p:txBody>
      </p:sp>
      <p:sp>
        <p:nvSpPr>
          <p:cNvPr id="17" name="TextBox 16">
            <a:extLst>
              <a:ext uri="{FF2B5EF4-FFF2-40B4-BE49-F238E27FC236}">
                <a16:creationId xmlns:a16="http://schemas.microsoft.com/office/drawing/2014/main" id="{C7C9BA1F-73A9-A243-A417-107A4F3CC559}"/>
              </a:ext>
            </a:extLst>
          </p:cNvPr>
          <p:cNvSpPr txBox="1"/>
          <p:nvPr/>
        </p:nvSpPr>
        <p:spPr>
          <a:xfrm>
            <a:off x="5130800" y="3987800"/>
            <a:ext cx="6197600" cy="3810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porte la chaîne du froid ET la preuve due au client — 12 000 €/j</a:t>
            </a:r>
            <a:endParaRPr lang="en-FR">
              <a:solidFill>
                <a:srgbClr val="3C3C3C"/>
              </a:solidFill>
              <a:latin typeface="Segoe UI"/>
              <a:cs typeface="Segoe UI"/>
            </a:endParaRPr>
          </a:p>
        </p:txBody>
      </p:sp>
      <p:sp>
        <p:nvSpPr>
          <p:cNvPr id="18" name="TextBox 17">
            <a:extLst>
              <a:ext uri="{FF2B5EF4-FFF2-40B4-BE49-F238E27FC236}">
                <a16:creationId xmlns:a16="http://schemas.microsoft.com/office/drawing/2014/main" id="{1D1A07C1-BBB5-D948-9F81-C88EB0338E61}"/>
              </a:ext>
            </a:extLst>
          </p:cNvPr>
          <p:cNvSpPr txBox="1"/>
          <p:nvPr/>
        </p:nvSpPr>
        <p:spPr>
          <a:xfrm>
            <a:off x="914400" y="4648200"/>
            <a:ext cx="304800" cy="381000"/>
          </a:xfrm>
          <a:prstGeom prst="rect">
            <a:avLst/>
          </a:prstGeom>
          <a:noFill/>
        </p:spPr>
        <p:txBody>
          <a:bodyPr vertOverflow="overflow" vert="horz" wrap="square" rtlCol="0" anchor="t">
            <a:noAutofit/>
          </a:bodyPr>
          <a:lstStyle/>
          <a:p>
            <a:pPr algn="l"/>
            <a:r>
              <a:rPr lang="en-FR" sz="2000" b="1">
                <a:solidFill>
                  <a:srgbClr val="1F4E79"/>
                </a:solidFill>
                <a:latin typeface="Segoe UI Semibold"/>
                <a:cs typeface="Segoe UI Semibold"/>
              </a:rPr>
              <a:t>5</a:t>
            </a:r>
          </a:p>
        </p:txBody>
      </p:sp>
      <p:sp>
        <p:nvSpPr>
          <p:cNvPr id="19" name="TextBox 18">
            <a:extLst>
              <a:ext uri="{FF2B5EF4-FFF2-40B4-BE49-F238E27FC236}">
                <a16:creationId xmlns:a16="http://schemas.microsoft.com/office/drawing/2014/main" id="{29D1FA32-2347-BE4F-90ED-6F6B34B78210}"/>
              </a:ext>
            </a:extLst>
          </p:cNvPr>
          <p:cNvSpPr txBox="1"/>
          <p:nvPr/>
        </p:nvSpPr>
        <p:spPr>
          <a:xfrm>
            <a:off x="1320800" y="4648200"/>
            <a:ext cx="3810000" cy="381000"/>
          </a:xfrm>
          <a:prstGeom prst="rect">
            <a:avLst/>
          </a:prstGeom>
          <a:noFill/>
        </p:spPr>
        <p:txBody>
          <a:bodyPr vertOverflow="overflow" vert="horz" wrap="square" rtlCol="0" anchor="t">
            <a:noAutofit/>
          </a:bodyPr>
          <a:lstStyle/>
          <a:p>
            <a:pPr algn="l"/>
            <a:r>
              <a:rPr lang="en-GB" sz="2000" b="1">
                <a:solidFill>
                  <a:srgbClr val="1A1A1A"/>
                </a:solidFill>
                <a:latin typeface="Segoe UI"/>
                <a:cs typeface="Segoe UI"/>
              </a:rPr>
              <a:t>Automates de tri</a:t>
            </a:r>
            <a:endParaRPr lang="en-FR" sz="2000" b="1">
              <a:solidFill>
                <a:srgbClr val="1A1A1A"/>
              </a:solidFill>
              <a:latin typeface="Segoe UI"/>
              <a:cs typeface="Segoe UI"/>
            </a:endParaRPr>
          </a:p>
        </p:txBody>
      </p:sp>
      <p:sp>
        <p:nvSpPr>
          <p:cNvPr id="20" name="TextBox 19">
            <a:extLst>
              <a:ext uri="{FF2B5EF4-FFF2-40B4-BE49-F238E27FC236}">
                <a16:creationId xmlns:a16="http://schemas.microsoft.com/office/drawing/2014/main" id="{48CEACEA-9D2E-1243-9022-3CA06443C67F}"/>
              </a:ext>
            </a:extLst>
          </p:cNvPr>
          <p:cNvSpPr txBox="1"/>
          <p:nvPr/>
        </p:nvSpPr>
        <p:spPr>
          <a:xfrm>
            <a:off x="5130800" y="4673600"/>
            <a:ext cx="6197600" cy="3810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réseaux bureautique et industriel non séparés, aucun journal</a:t>
            </a:r>
            <a:endParaRPr lang="en-FR">
              <a:solidFill>
                <a:srgbClr val="3C3C3C"/>
              </a:solidFill>
              <a:latin typeface="Segoe UI"/>
              <a:cs typeface="Segoe UI"/>
            </a:endParaRPr>
          </a:p>
        </p:txBody>
      </p:sp>
      <p:sp>
        <p:nvSpPr>
          <p:cNvPr id="21" name="Rectangle 20">
            <a:extLst>
              <a:ext uri="{FF2B5EF4-FFF2-40B4-BE49-F238E27FC236}">
                <a16:creationId xmlns:a16="http://schemas.microsoft.com/office/drawing/2014/main" id="{2E27D2D5-2965-D040-B2B8-2411AB065811}"/>
              </a:ext>
            </a:extLst>
          </p:cNvPr>
          <p:cNvSpPr/>
          <p:nvPr/>
        </p:nvSpPr>
        <p:spPr>
          <a:xfrm>
            <a:off x="914400" y="5232400"/>
            <a:ext cx="1879600" cy="8128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FR" sz="1400">
              <a:solidFill>
                <a:srgbClr val="3C3C3C"/>
              </a:solidFill>
            </a:endParaRPr>
          </a:p>
        </p:txBody>
      </p:sp>
      <p:sp>
        <p:nvSpPr>
          <p:cNvPr id="22" name="TextBox 21">
            <a:extLst>
              <a:ext uri="{FF2B5EF4-FFF2-40B4-BE49-F238E27FC236}">
                <a16:creationId xmlns:a16="http://schemas.microsoft.com/office/drawing/2014/main" id="{8F3B1789-8675-C148-B562-20F08FF5FAC4}"/>
              </a:ext>
            </a:extLst>
          </p:cNvPr>
          <p:cNvSpPr txBox="1"/>
          <p:nvPr/>
        </p:nvSpPr>
        <p:spPr>
          <a:xfrm>
            <a:off x="2971800" y="5384800"/>
            <a:ext cx="8356600" cy="558800"/>
          </a:xfrm>
          <a:prstGeom prst="rect">
            <a:avLst/>
          </a:prstGeom>
          <a:noFill/>
        </p:spPr>
        <p:txBody>
          <a:bodyPr vertOverflow="overflow" vert="horz" wrap="square" rtlCol="0" anchor="t">
            <a:noAutofit/>
          </a:bodyPr>
          <a:lstStyle/>
          <a:p>
            <a:pPr algn="l"/>
            <a:r>
              <a:rPr lang="en-GB" sz="1400">
                <a:solidFill>
                  <a:srgbClr val="8A8F98"/>
                </a:solidFill>
                <a:latin typeface="Segoe UI"/>
                <a:cs typeface="Segoe UI"/>
              </a:rPr>
              <a:t>Preuve : S2-05bis-assets-list-Top5-page1-of-3.jpg — recadrée sur la colonne LABELS, étiquette « Top5 » lisible</a:t>
            </a:r>
            <a:endParaRPr lang="en-FR" sz="1400">
              <a:solidFill>
                <a:srgbClr val="8A8F98"/>
              </a:solidFill>
              <a:latin typeface="Segoe UI"/>
              <a:cs typeface="Segoe UI"/>
            </a:endParaRPr>
          </a:p>
        </p:txBody>
      </p:sp>
      <p:pic>
        <p:nvPicPr>
          <p:cNvPr id="23" name="Picture 22">
            <a:extLst>
              <a:ext uri="{FF2B5EF4-FFF2-40B4-BE49-F238E27FC236}">
                <a16:creationId xmlns:a16="http://schemas.microsoft.com/office/drawing/2014/main" id="{97F5A7C9-6C6F-8A8E-9C73-F096B32EE085}"/>
              </a:ext>
            </a:extLst>
          </p:cNvPr>
          <p:cNvPicPr>
            <a:picLocks noChangeAspect="1"/>
          </p:cNvPicPr>
          <p:nvPr/>
        </p:nvPicPr>
        <p:blipFill>
          <a:blip r:embed="rId3"/>
          <a:stretch>
            <a:fillRect/>
          </a:stretch>
        </p:blipFill>
        <p:spPr>
          <a:xfrm>
            <a:off x="1192223" y="5257800"/>
            <a:ext cx="1323952" cy="762000"/>
          </a:xfrm>
          <a:prstGeom prst="rect">
            <a:avLst/>
          </a:prstGeom>
        </p:spPr>
      </p:pic>
    </p:spTree>
    <p:extLst>
      <p:ext uri="{BB962C8B-B14F-4D97-AF65-F5344CB8AC3E}">
        <p14:creationId xmlns:p14="http://schemas.microsoft.com/office/powerpoint/2010/main" val="26956762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38109368-F140-D44F-81DF-DF2E14AD5847}"/>
              </a:ext>
            </a:extLst>
          </p:cNvPr>
          <p:cNvSpPr/>
          <p:nvPr/>
        </p:nvSpPr>
        <p:spPr>
          <a:xfrm>
            <a:off x="711200" y="3543300"/>
            <a:ext cx="10617200" cy="5588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6" name="TextBox 25">
            <a:extLst>
              <a:ext uri="{FF2B5EF4-FFF2-40B4-BE49-F238E27FC236}">
                <a16:creationId xmlns:a16="http://schemas.microsoft.com/office/drawing/2014/main" id="{1666EB64-C190-DF45-849C-1B1332F9DFE7}"/>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Ce que la mesure a donné — et l'angle mort</a:t>
            </a:r>
            <a:endParaRPr lang="en-FR" sz="3200" b="1">
              <a:solidFill>
                <a:srgbClr val="1F4E79"/>
              </a:solidFill>
              <a:latin typeface="Segoe UI"/>
              <a:cs typeface="Segoe UI"/>
            </a:endParaRPr>
          </a:p>
        </p:txBody>
      </p:sp>
      <p:sp>
        <p:nvSpPr>
          <p:cNvPr id="27" name="Rectangle 26">
            <a:extLst>
              <a:ext uri="{FF2B5EF4-FFF2-40B4-BE49-F238E27FC236}">
                <a16:creationId xmlns:a16="http://schemas.microsoft.com/office/drawing/2014/main" id="{EF87D9AA-767C-9B40-A4D2-1B08F40C45A0}"/>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8" name="TextBox 27">
            <a:extLst>
              <a:ext uri="{FF2B5EF4-FFF2-40B4-BE49-F238E27FC236}">
                <a16:creationId xmlns:a16="http://schemas.microsoft.com/office/drawing/2014/main" id="{9997A9DE-F684-C049-B21D-877945C9465B}"/>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Fondations documentées, application non prouvée, angles morts nommés.</a:t>
            </a:r>
            <a:endParaRPr lang="en-FR">
              <a:solidFill>
                <a:srgbClr val="3C3C3C"/>
              </a:solidFill>
              <a:latin typeface="Segoe UI"/>
              <a:cs typeface="Segoe UI"/>
            </a:endParaRPr>
          </a:p>
        </p:txBody>
      </p:sp>
      <p:sp>
        <p:nvSpPr>
          <p:cNvPr id="29" name="TextBox 28">
            <a:extLst>
              <a:ext uri="{FF2B5EF4-FFF2-40B4-BE49-F238E27FC236}">
                <a16:creationId xmlns:a16="http://schemas.microsoft.com/office/drawing/2014/main" id="{C4C48C79-B926-2F4E-85BA-8349864BA4C5}"/>
              </a:ext>
            </a:extLst>
          </p:cNvPr>
          <p:cNvSpPr txBox="1"/>
          <p:nvPr/>
        </p:nvSpPr>
        <p:spPr>
          <a:xfrm>
            <a:off x="914400" y="1955800"/>
            <a:ext cx="3048000" cy="304800"/>
          </a:xfrm>
          <a:prstGeom prst="rect">
            <a:avLst/>
          </a:prstGeom>
          <a:noFill/>
        </p:spPr>
        <p:txBody>
          <a:bodyPr vertOverflow="overflow" vert="horz" wrap="square" rtlCol="0" anchor="t">
            <a:noAutofit/>
          </a:bodyPr>
          <a:lstStyle/>
          <a:p>
            <a:pPr algn="l"/>
            <a:r>
              <a:rPr lang="en-GB" sz="1600" b="1">
                <a:solidFill>
                  <a:srgbClr val="3C3C3C"/>
                </a:solidFill>
                <a:latin typeface="Segoe UI"/>
                <a:cs typeface="Segoe UI"/>
              </a:rPr>
              <a:t>Thème</a:t>
            </a:r>
            <a:endParaRPr lang="en-FR" sz="1600" b="1">
              <a:solidFill>
                <a:srgbClr val="3C3C3C"/>
              </a:solidFill>
              <a:latin typeface="Segoe UI"/>
              <a:cs typeface="Segoe UI"/>
            </a:endParaRPr>
          </a:p>
        </p:txBody>
      </p:sp>
      <p:sp>
        <p:nvSpPr>
          <p:cNvPr id="30" name="TextBox 29">
            <a:extLst>
              <a:ext uri="{FF2B5EF4-FFF2-40B4-BE49-F238E27FC236}">
                <a16:creationId xmlns:a16="http://schemas.microsoft.com/office/drawing/2014/main" id="{E86A68C5-C611-4C48-8096-35E3E6F6EF54}"/>
              </a:ext>
            </a:extLst>
          </p:cNvPr>
          <p:cNvSpPr txBox="1"/>
          <p:nvPr/>
        </p:nvSpPr>
        <p:spPr>
          <a:xfrm>
            <a:off x="4191000" y="1955800"/>
            <a:ext cx="1651000" cy="304800"/>
          </a:xfrm>
          <a:prstGeom prst="rect">
            <a:avLst/>
          </a:prstGeom>
          <a:noFill/>
        </p:spPr>
        <p:txBody>
          <a:bodyPr vertOverflow="overflow" vert="horz" wrap="square" rtlCol="0" anchor="t">
            <a:noAutofit/>
          </a:bodyPr>
          <a:lstStyle/>
          <a:p>
            <a:pPr algn="l"/>
            <a:r>
              <a:rPr lang="en-GB" sz="1600" b="1">
                <a:solidFill>
                  <a:srgbClr val="3C3C3C"/>
                </a:solidFill>
                <a:latin typeface="Segoe UI"/>
                <a:cs typeface="Segoe UI"/>
              </a:rPr>
              <a:t>regardé</a:t>
            </a:r>
            <a:endParaRPr lang="en-FR" sz="1600" b="1">
              <a:solidFill>
                <a:srgbClr val="3C3C3C"/>
              </a:solidFill>
              <a:latin typeface="Segoe UI"/>
              <a:cs typeface="Segoe UI"/>
            </a:endParaRPr>
          </a:p>
        </p:txBody>
      </p:sp>
      <p:sp>
        <p:nvSpPr>
          <p:cNvPr id="31" name="TextBox 30">
            <a:extLst>
              <a:ext uri="{FF2B5EF4-FFF2-40B4-BE49-F238E27FC236}">
                <a16:creationId xmlns:a16="http://schemas.microsoft.com/office/drawing/2014/main" id="{B3C825F4-5FA9-2545-A72A-FC64B8D774C7}"/>
              </a:ext>
            </a:extLst>
          </p:cNvPr>
          <p:cNvSpPr txBox="1"/>
          <p:nvPr/>
        </p:nvSpPr>
        <p:spPr>
          <a:xfrm>
            <a:off x="6121400" y="1955800"/>
            <a:ext cx="1651000" cy="304800"/>
          </a:xfrm>
          <a:prstGeom prst="rect">
            <a:avLst/>
          </a:prstGeom>
          <a:noFill/>
        </p:spPr>
        <p:txBody>
          <a:bodyPr vertOverflow="overflow" vert="horz" wrap="square" rtlCol="0" anchor="t">
            <a:noAutofit/>
          </a:bodyPr>
          <a:lstStyle/>
          <a:p>
            <a:pPr algn="l"/>
            <a:r>
              <a:rPr lang="en-GB" sz="1600" b="1">
                <a:solidFill>
                  <a:srgbClr val="3C3C3C"/>
                </a:solidFill>
                <a:latin typeface="Segoe UI"/>
                <a:cs typeface="Segoe UI"/>
              </a:rPr>
              <a:t>en place</a:t>
            </a:r>
            <a:endParaRPr lang="en-FR" sz="1600" b="1">
              <a:solidFill>
                <a:srgbClr val="3C3C3C"/>
              </a:solidFill>
              <a:latin typeface="Segoe UI"/>
              <a:cs typeface="Segoe UI"/>
            </a:endParaRPr>
          </a:p>
        </p:txBody>
      </p:sp>
      <p:sp>
        <p:nvSpPr>
          <p:cNvPr id="32" name="Rectangle 31">
            <a:extLst>
              <a:ext uri="{FF2B5EF4-FFF2-40B4-BE49-F238E27FC236}">
                <a16:creationId xmlns:a16="http://schemas.microsoft.com/office/drawing/2014/main" id="{CE3F1A3B-92AE-4E45-BF4C-9DC933AA0F49}"/>
              </a:ext>
            </a:extLst>
          </p:cNvPr>
          <p:cNvSpPr/>
          <p:nvPr/>
        </p:nvSpPr>
        <p:spPr>
          <a:xfrm>
            <a:off x="914400" y="2311400"/>
            <a:ext cx="10414000" cy="25400"/>
          </a:xfrm>
          <a:prstGeom prst="rect">
            <a:avLst/>
          </a:prstGeom>
          <a:solidFill>
            <a:srgbClr val="C7CDD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3" name="TextBox 32">
            <a:extLst>
              <a:ext uri="{FF2B5EF4-FFF2-40B4-BE49-F238E27FC236}">
                <a16:creationId xmlns:a16="http://schemas.microsoft.com/office/drawing/2014/main" id="{29154BB4-1437-7041-AD3C-011F4DB48BCA}"/>
              </a:ext>
            </a:extLst>
          </p:cNvPr>
          <p:cNvSpPr txBox="1"/>
          <p:nvPr/>
        </p:nvSpPr>
        <p:spPr>
          <a:xfrm>
            <a:off x="914400" y="2489200"/>
            <a:ext cx="3048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Organisationnel</a:t>
            </a:r>
            <a:endParaRPr lang="en-FR" sz="2000">
              <a:solidFill>
                <a:srgbClr val="1A1A1A"/>
              </a:solidFill>
              <a:latin typeface="Segoe UI"/>
              <a:cs typeface="Segoe UI"/>
            </a:endParaRPr>
          </a:p>
        </p:txBody>
      </p:sp>
      <p:sp>
        <p:nvSpPr>
          <p:cNvPr id="34" name="TextBox 33">
            <a:extLst>
              <a:ext uri="{FF2B5EF4-FFF2-40B4-BE49-F238E27FC236}">
                <a16:creationId xmlns:a16="http://schemas.microsoft.com/office/drawing/2014/main" id="{C7B40C0E-EF4D-4747-B26F-E0C102B9B15C}"/>
              </a:ext>
            </a:extLst>
          </p:cNvPr>
          <p:cNvSpPr txBox="1"/>
          <p:nvPr/>
        </p:nvSpPr>
        <p:spPr>
          <a:xfrm>
            <a:off x="4191000" y="2489200"/>
            <a:ext cx="1651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6 sur 37</a:t>
            </a:r>
            <a:endParaRPr lang="en-FR" sz="2000">
              <a:solidFill>
                <a:srgbClr val="1A1A1A"/>
              </a:solidFill>
              <a:latin typeface="Segoe UI"/>
              <a:cs typeface="Segoe UI"/>
            </a:endParaRPr>
          </a:p>
        </p:txBody>
      </p:sp>
      <p:sp>
        <p:nvSpPr>
          <p:cNvPr id="35" name="TextBox 34">
            <a:extLst>
              <a:ext uri="{FF2B5EF4-FFF2-40B4-BE49-F238E27FC236}">
                <a16:creationId xmlns:a16="http://schemas.microsoft.com/office/drawing/2014/main" id="{4250F5FA-5C16-BC4F-BE71-1CEBF4CF81BA}"/>
              </a:ext>
            </a:extLst>
          </p:cNvPr>
          <p:cNvSpPr txBox="1"/>
          <p:nvPr/>
        </p:nvSpPr>
        <p:spPr>
          <a:xfrm>
            <a:off x="6121400" y="2489200"/>
            <a:ext cx="1651000" cy="355600"/>
          </a:xfrm>
          <a:prstGeom prst="rect">
            <a:avLst/>
          </a:prstGeom>
          <a:noFill/>
        </p:spPr>
        <p:txBody>
          <a:bodyPr vertOverflow="overflow" vert="horz" wrap="square" rtlCol="0" anchor="t">
            <a:noAutofit/>
          </a:bodyPr>
          <a:lstStyle/>
          <a:p>
            <a:pPr algn="l"/>
            <a:r>
              <a:rPr lang="en-FR" sz="2000">
                <a:solidFill>
                  <a:srgbClr val="1A1A1A"/>
                </a:solidFill>
                <a:latin typeface="Segoe UI"/>
                <a:cs typeface="Segoe UI"/>
              </a:rPr>
              <a:t>8 %</a:t>
            </a:r>
          </a:p>
        </p:txBody>
      </p:sp>
      <p:sp>
        <p:nvSpPr>
          <p:cNvPr id="36" name="TextBox 35">
            <a:extLst>
              <a:ext uri="{FF2B5EF4-FFF2-40B4-BE49-F238E27FC236}">
                <a16:creationId xmlns:a16="http://schemas.microsoft.com/office/drawing/2014/main" id="{9CC5AE85-96D3-3944-B654-7864391524B0}"/>
              </a:ext>
            </a:extLst>
          </p:cNvPr>
          <p:cNvSpPr txBox="1"/>
          <p:nvPr/>
        </p:nvSpPr>
        <p:spPr>
          <a:xfrm>
            <a:off x="914400" y="3073400"/>
            <a:ext cx="3048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Personnes</a:t>
            </a:r>
            <a:endParaRPr lang="en-FR" sz="2000">
              <a:solidFill>
                <a:srgbClr val="1A1A1A"/>
              </a:solidFill>
              <a:latin typeface="Segoe UI"/>
              <a:cs typeface="Segoe UI"/>
            </a:endParaRPr>
          </a:p>
        </p:txBody>
      </p:sp>
      <p:sp>
        <p:nvSpPr>
          <p:cNvPr id="37" name="TextBox 36">
            <a:extLst>
              <a:ext uri="{FF2B5EF4-FFF2-40B4-BE49-F238E27FC236}">
                <a16:creationId xmlns:a16="http://schemas.microsoft.com/office/drawing/2014/main" id="{034FBFC0-341B-2340-B111-816461B6D092}"/>
              </a:ext>
            </a:extLst>
          </p:cNvPr>
          <p:cNvSpPr txBox="1"/>
          <p:nvPr/>
        </p:nvSpPr>
        <p:spPr>
          <a:xfrm>
            <a:off x="4191000" y="3073400"/>
            <a:ext cx="1651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1 sur 8</a:t>
            </a:r>
            <a:endParaRPr lang="en-FR" sz="2000">
              <a:solidFill>
                <a:srgbClr val="1A1A1A"/>
              </a:solidFill>
              <a:latin typeface="Segoe UI"/>
              <a:cs typeface="Segoe UI"/>
            </a:endParaRPr>
          </a:p>
        </p:txBody>
      </p:sp>
      <p:sp>
        <p:nvSpPr>
          <p:cNvPr id="38" name="TextBox 37">
            <a:extLst>
              <a:ext uri="{FF2B5EF4-FFF2-40B4-BE49-F238E27FC236}">
                <a16:creationId xmlns:a16="http://schemas.microsoft.com/office/drawing/2014/main" id="{869B0772-A733-6449-BE06-6B4EEEF6ED68}"/>
              </a:ext>
            </a:extLst>
          </p:cNvPr>
          <p:cNvSpPr txBox="1"/>
          <p:nvPr/>
        </p:nvSpPr>
        <p:spPr>
          <a:xfrm>
            <a:off x="6121400" y="3073400"/>
            <a:ext cx="1651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non statuée</a:t>
            </a:r>
            <a:endParaRPr lang="en-FR" sz="2000">
              <a:solidFill>
                <a:srgbClr val="1A1A1A"/>
              </a:solidFill>
              <a:latin typeface="Segoe UI"/>
              <a:cs typeface="Segoe UI"/>
            </a:endParaRPr>
          </a:p>
        </p:txBody>
      </p:sp>
      <p:sp>
        <p:nvSpPr>
          <p:cNvPr id="40" name="TextBox 39">
            <a:extLst>
              <a:ext uri="{FF2B5EF4-FFF2-40B4-BE49-F238E27FC236}">
                <a16:creationId xmlns:a16="http://schemas.microsoft.com/office/drawing/2014/main" id="{48991EFA-CBA2-8E40-8035-A5815A6AF328}"/>
              </a:ext>
            </a:extLst>
          </p:cNvPr>
          <p:cNvSpPr txBox="1"/>
          <p:nvPr/>
        </p:nvSpPr>
        <p:spPr>
          <a:xfrm>
            <a:off x="914400" y="3657600"/>
            <a:ext cx="3048000" cy="355600"/>
          </a:xfrm>
          <a:prstGeom prst="rect">
            <a:avLst/>
          </a:prstGeom>
          <a:noFill/>
        </p:spPr>
        <p:txBody>
          <a:bodyPr vertOverflow="overflow" vert="horz" wrap="square" rtlCol="0" anchor="t">
            <a:noAutofit/>
          </a:bodyPr>
          <a:lstStyle/>
          <a:p>
            <a:pPr algn="l"/>
            <a:r>
              <a:rPr lang="en-GB" sz="2000" b="1">
                <a:solidFill>
                  <a:srgbClr val="1F4E79"/>
                </a:solidFill>
                <a:latin typeface="Segoe UI"/>
                <a:cs typeface="Segoe UI"/>
              </a:rPr>
              <a:t>Physique</a:t>
            </a:r>
            <a:endParaRPr lang="en-FR" sz="2000" b="1">
              <a:solidFill>
                <a:srgbClr val="1F4E79"/>
              </a:solidFill>
              <a:latin typeface="Segoe UI"/>
              <a:cs typeface="Segoe UI"/>
            </a:endParaRPr>
          </a:p>
        </p:txBody>
      </p:sp>
      <p:sp>
        <p:nvSpPr>
          <p:cNvPr id="41" name="TextBox 40">
            <a:extLst>
              <a:ext uri="{FF2B5EF4-FFF2-40B4-BE49-F238E27FC236}">
                <a16:creationId xmlns:a16="http://schemas.microsoft.com/office/drawing/2014/main" id="{6589CDE6-E2C2-314D-87E6-029E1F662D6E}"/>
              </a:ext>
            </a:extLst>
          </p:cNvPr>
          <p:cNvSpPr txBox="1"/>
          <p:nvPr/>
        </p:nvSpPr>
        <p:spPr>
          <a:xfrm>
            <a:off x="4191000" y="3657600"/>
            <a:ext cx="1651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0 sur 14</a:t>
            </a:r>
            <a:endParaRPr lang="en-FR" sz="2000">
              <a:solidFill>
                <a:srgbClr val="1A1A1A"/>
              </a:solidFill>
              <a:latin typeface="Segoe UI"/>
              <a:cs typeface="Segoe UI"/>
            </a:endParaRPr>
          </a:p>
        </p:txBody>
      </p:sp>
      <p:sp>
        <p:nvSpPr>
          <p:cNvPr id="42" name="TextBox 41">
            <a:extLst>
              <a:ext uri="{FF2B5EF4-FFF2-40B4-BE49-F238E27FC236}">
                <a16:creationId xmlns:a16="http://schemas.microsoft.com/office/drawing/2014/main" id="{241DFBC2-FA97-CD43-9EB6-EFF7536D9EF6}"/>
              </a:ext>
            </a:extLst>
          </p:cNvPr>
          <p:cNvSpPr txBox="1"/>
          <p:nvPr/>
        </p:nvSpPr>
        <p:spPr>
          <a:xfrm>
            <a:off x="6121400" y="3657600"/>
            <a:ext cx="1651000" cy="355600"/>
          </a:xfrm>
          <a:prstGeom prst="rect">
            <a:avLst/>
          </a:prstGeom>
          <a:noFill/>
        </p:spPr>
        <p:txBody>
          <a:bodyPr vertOverflow="overflow" vert="horz" wrap="square" rtlCol="0" anchor="t">
            <a:noAutofit/>
          </a:bodyPr>
          <a:lstStyle/>
          <a:p>
            <a:pPr algn="l"/>
            <a:r>
              <a:rPr lang="en-FR" sz="2000" b="1">
                <a:solidFill>
                  <a:srgbClr val="1F4E79"/>
                </a:solidFill>
                <a:latin typeface="Segoe UI"/>
                <a:cs typeface="Segoe UI"/>
              </a:rPr>
              <a:t>—</a:t>
            </a:r>
          </a:p>
        </p:txBody>
      </p:sp>
      <p:sp>
        <p:nvSpPr>
          <p:cNvPr id="43" name="TextBox 42">
            <a:extLst>
              <a:ext uri="{FF2B5EF4-FFF2-40B4-BE49-F238E27FC236}">
                <a16:creationId xmlns:a16="http://schemas.microsoft.com/office/drawing/2014/main" id="{C9D2B6F9-1540-4C4B-B668-6BFFBF6463FD}"/>
              </a:ext>
            </a:extLst>
          </p:cNvPr>
          <p:cNvSpPr txBox="1"/>
          <p:nvPr/>
        </p:nvSpPr>
        <p:spPr>
          <a:xfrm>
            <a:off x="8077200" y="3683000"/>
            <a:ext cx="3251200" cy="330200"/>
          </a:xfrm>
          <a:prstGeom prst="rect">
            <a:avLst/>
          </a:prstGeom>
          <a:noFill/>
        </p:spPr>
        <p:txBody>
          <a:bodyPr vertOverflow="overflow" vert="horz" wrap="square" rtlCol="0" anchor="t">
            <a:noAutofit/>
          </a:bodyPr>
          <a:lstStyle/>
          <a:p>
            <a:pPr algn="l"/>
            <a:r>
              <a:rPr lang="en-GB" sz="1600">
                <a:solidFill>
                  <a:srgbClr val="1F4E79"/>
                </a:solidFill>
                <a:latin typeface="Segoe UI"/>
                <a:cs typeface="Segoe UI"/>
              </a:rPr>
              <a:t>← six entrepôts, chambres froides</a:t>
            </a:r>
            <a:endParaRPr lang="en-FR" sz="1600">
              <a:solidFill>
                <a:srgbClr val="1F4E79"/>
              </a:solidFill>
              <a:latin typeface="Segoe UI"/>
              <a:cs typeface="Segoe UI"/>
            </a:endParaRPr>
          </a:p>
        </p:txBody>
      </p:sp>
      <p:sp>
        <p:nvSpPr>
          <p:cNvPr id="44" name="TextBox 43">
            <a:extLst>
              <a:ext uri="{FF2B5EF4-FFF2-40B4-BE49-F238E27FC236}">
                <a16:creationId xmlns:a16="http://schemas.microsoft.com/office/drawing/2014/main" id="{975878C6-C20A-4B4F-BBCE-8BE11760C746}"/>
              </a:ext>
            </a:extLst>
          </p:cNvPr>
          <p:cNvSpPr txBox="1"/>
          <p:nvPr/>
        </p:nvSpPr>
        <p:spPr>
          <a:xfrm>
            <a:off x="914400" y="4241800"/>
            <a:ext cx="3048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Technologique</a:t>
            </a:r>
            <a:endParaRPr lang="en-FR" sz="2000">
              <a:solidFill>
                <a:srgbClr val="1A1A1A"/>
              </a:solidFill>
              <a:latin typeface="Segoe UI"/>
              <a:cs typeface="Segoe UI"/>
            </a:endParaRPr>
          </a:p>
        </p:txBody>
      </p:sp>
      <p:sp>
        <p:nvSpPr>
          <p:cNvPr id="45" name="TextBox 44">
            <a:extLst>
              <a:ext uri="{FF2B5EF4-FFF2-40B4-BE49-F238E27FC236}">
                <a16:creationId xmlns:a16="http://schemas.microsoft.com/office/drawing/2014/main" id="{6F9752D0-2EE8-C340-9DF1-BB5FC25B3B83}"/>
              </a:ext>
            </a:extLst>
          </p:cNvPr>
          <p:cNvSpPr txBox="1"/>
          <p:nvPr/>
        </p:nvSpPr>
        <p:spPr>
          <a:xfrm>
            <a:off x="4191000" y="4241800"/>
            <a:ext cx="1651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5 sur 34</a:t>
            </a:r>
            <a:endParaRPr lang="en-FR" sz="2000">
              <a:solidFill>
                <a:srgbClr val="1A1A1A"/>
              </a:solidFill>
              <a:latin typeface="Segoe UI"/>
              <a:cs typeface="Segoe UI"/>
            </a:endParaRPr>
          </a:p>
        </p:txBody>
      </p:sp>
      <p:sp>
        <p:nvSpPr>
          <p:cNvPr id="46" name="TextBox 45">
            <a:extLst>
              <a:ext uri="{FF2B5EF4-FFF2-40B4-BE49-F238E27FC236}">
                <a16:creationId xmlns:a16="http://schemas.microsoft.com/office/drawing/2014/main" id="{63CBBE72-73D4-E14B-9207-37DAD8C33EA9}"/>
              </a:ext>
            </a:extLst>
          </p:cNvPr>
          <p:cNvSpPr txBox="1"/>
          <p:nvPr/>
        </p:nvSpPr>
        <p:spPr>
          <a:xfrm>
            <a:off x="6121400" y="4241800"/>
            <a:ext cx="1651000" cy="355600"/>
          </a:xfrm>
          <a:prstGeom prst="rect">
            <a:avLst/>
          </a:prstGeom>
          <a:noFill/>
        </p:spPr>
        <p:txBody>
          <a:bodyPr vertOverflow="overflow" vert="horz" wrap="square" rtlCol="0" anchor="t">
            <a:noAutofit/>
          </a:bodyPr>
          <a:lstStyle/>
          <a:p>
            <a:pPr algn="l"/>
            <a:r>
              <a:rPr lang="en-FR" sz="2000">
                <a:solidFill>
                  <a:srgbClr val="1A1A1A"/>
                </a:solidFill>
                <a:latin typeface="Segoe UI"/>
                <a:cs typeface="Segoe UI"/>
              </a:rPr>
              <a:t>10 %</a:t>
            </a:r>
          </a:p>
        </p:txBody>
      </p:sp>
      <p:sp>
        <p:nvSpPr>
          <p:cNvPr id="47" name="TextBox 46">
            <a:extLst>
              <a:ext uri="{FF2B5EF4-FFF2-40B4-BE49-F238E27FC236}">
                <a16:creationId xmlns:a16="http://schemas.microsoft.com/office/drawing/2014/main" id="{B2DCFBA9-1CF7-5D40-866D-C54314D054D0}"/>
              </a:ext>
            </a:extLst>
          </p:cNvPr>
          <p:cNvSpPr txBox="1"/>
          <p:nvPr/>
        </p:nvSpPr>
        <p:spPr>
          <a:xfrm>
            <a:off x="4191000" y="4851400"/>
            <a:ext cx="7137400" cy="3556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Aucune exigence pleinement couverte.</a:t>
            </a:r>
            <a:endParaRPr lang="en-FR" sz="1900" b="1">
              <a:solidFill>
                <a:srgbClr val="1F4E79"/>
              </a:solidFill>
              <a:latin typeface="Segoe UI"/>
              <a:cs typeface="Segoe UI"/>
            </a:endParaRPr>
          </a:p>
        </p:txBody>
      </p:sp>
      <p:sp>
        <p:nvSpPr>
          <p:cNvPr id="48" name="TextBox 47">
            <a:extLst>
              <a:ext uri="{FF2B5EF4-FFF2-40B4-BE49-F238E27FC236}">
                <a16:creationId xmlns:a16="http://schemas.microsoft.com/office/drawing/2014/main" id="{CD9D2960-A52E-2E44-93CA-BEEB011D8751}"/>
              </a:ext>
            </a:extLst>
          </p:cNvPr>
          <p:cNvSpPr txBox="1"/>
          <p:nvPr/>
        </p:nvSpPr>
        <p:spPr>
          <a:xfrm>
            <a:off x="914400" y="5359400"/>
            <a:ext cx="10414000" cy="355600"/>
          </a:xfrm>
          <a:prstGeom prst="rect">
            <a:avLst/>
          </a:prstGeom>
          <a:noFill/>
        </p:spPr>
        <p:txBody>
          <a:bodyPr vertOverflow="overflow" vert="horz" wrap="square" rtlCol="0" anchor="t">
            <a:noAutofit/>
          </a:bodyPr>
          <a:lstStyle/>
          <a:p>
            <a:pPr algn="l"/>
            <a:r>
              <a:rPr lang="en-GB" i="1">
                <a:solidFill>
                  <a:srgbClr val="1A1A1A"/>
                </a:solidFill>
                <a:latin typeface="Segoe UI"/>
                <a:cs typeface="Segoe UI"/>
              </a:rPr>
              <a:t>Limite : c'est une auto-évaluation, pas un audit indépendant. Notre rapport le dit.</a:t>
            </a:r>
            <a:endParaRPr lang="en-FR" i="1">
              <a:solidFill>
                <a:srgbClr val="1A1A1A"/>
              </a:solidFill>
              <a:latin typeface="Segoe UI"/>
              <a:cs typeface="Segoe UI"/>
            </a:endParaRPr>
          </a:p>
        </p:txBody>
      </p:sp>
      <p:sp>
        <p:nvSpPr>
          <p:cNvPr id="49" name="TextBox 48">
            <a:extLst>
              <a:ext uri="{FF2B5EF4-FFF2-40B4-BE49-F238E27FC236}">
                <a16:creationId xmlns:a16="http://schemas.microsoft.com/office/drawing/2014/main" id="{F10A6646-37FE-6E4D-B47E-852ED1E507E5}"/>
              </a:ext>
            </a:extLst>
          </p:cNvPr>
          <p:cNvSpPr txBox="1"/>
          <p:nvPr/>
        </p:nvSpPr>
        <p:spPr>
          <a:xfrm>
            <a:off x="914400" y="5765800"/>
            <a:ext cx="10414000" cy="2794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Preuve : S4-05-taux-de-conformite-apres-saisie.jpg · en réserve S4-06-ex2-follow-up-findings-C3-C4-C7.png</a:t>
            </a:r>
            <a:endParaRPr lang="en-FR" sz="1500">
              <a:solidFill>
                <a:srgbClr val="3C3C3C"/>
              </a:solidFill>
              <a:latin typeface="Segoe UI"/>
              <a:cs typeface="Segoe UI"/>
            </a:endParaRPr>
          </a:p>
        </p:txBody>
      </p:sp>
    </p:spTree>
    <p:extLst>
      <p:ext uri="{BB962C8B-B14F-4D97-AF65-F5344CB8AC3E}">
        <p14:creationId xmlns:p14="http://schemas.microsoft.com/office/powerpoint/2010/main" val="25759036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35F2339-4DDC-914F-8249-11A5541A8592}"/>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Qui nous menace — trois acteurs, trois actifs</a:t>
            </a:r>
            <a:endParaRPr lang="en-FR" sz="3200" b="1">
              <a:solidFill>
                <a:srgbClr val="1F4E79"/>
              </a:solidFill>
              <a:latin typeface="Segoe UI"/>
              <a:cs typeface="Segoe UI"/>
            </a:endParaRPr>
          </a:p>
        </p:txBody>
      </p:sp>
      <p:sp>
        <p:nvSpPr>
          <p:cNvPr id="3" name="Rectangle 2">
            <a:extLst>
              <a:ext uri="{FF2B5EF4-FFF2-40B4-BE49-F238E27FC236}">
                <a16:creationId xmlns:a16="http://schemas.microsoft.com/office/drawing/2014/main" id="{C7E0CAF1-A6B4-9D44-A1CA-31266A09A073}"/>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B552F101-B7F8-134C-BF4E-5EF6EE136053}"/>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Trois scénarios retenus sur cinq examinés. Chacun vise l'un des cinq actifs.</a:t>
            </a:r>
            <a:endParaRPr lang="en-FR">
              <a:solidFill>
                <a:srgbClr val="8A8F98"/>
              </a:solidFill>
              <a:latin typeface="Segoe UI"/>
              <a:cs typeface="Segoe UI"/>
            </a:endParaRPr>
          </a:p>
        </p:txBody>
      </p:sp>
      <p:sp>
        <p:nvSpPr>
          <p:cNvPr id="5" name="Rectangle 4">
            <a:extLst>
              <a:ext uri="{FF2B5EF4-FFF2-40B4-BE49-F238E27FC236}">
                <a16:creationId xmlns:a16="http://schemas.microsoft.com/office/drawing/2014/main" id="{AC557673-7EDB-7942-8E33-285E33F21CC2}"/>
              </a:ext>
            </a:extLst>
          </p:cNvPr>
          <p:cNvSpPr/>
          <p:nvPr/>
        </p:nvSpPr>
        <p:spPr>
          <a:xfrm>
            <a:off x="914400" y="2006600"/>
            <a:ext cx="50800" cy="9398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6" name="TextBox 5">
            <a:extLst>
              <a:ext uri="{FF2B5EF4-FFF2-40B4-BE49-F238E27FC236}">
                <a16:creationId xmlns:a16="http://schemas.microsoft.com/office/drawing/2014/main" id="{29CF6B15-C0A4-6E48-AC88-41ED038C89BD}"/>
              </a:ext>
            </a:extLst>
          </p:cNvPr>
          <p:cNvSpPr txBox="1"/>
          <p:nvPr/>
        </p:nvSpPr>
        <p:spPr>
          <a:xfrm>
            <a:off x="1219200" y="2032000"/>
            <a:ext cx="3810000" cy="406400"/>
          </a:xfrm>
          <a:prstGeom prst="rect">
            <a:avLst/>
          </a:prstGeom>
          <a:noFill/>
        </p:spPr>
        <p:txBody>
          <a:bodyPr vertOverflow="overflow" vert="horz" wrap="square" rtlCol="0" anchor="t">
            <a:noAutofit/>
          </a:bodyPr>
          <a:lstStyle/>
          <a:p>
            <a:pPr algn="l"/>
            <a:r>
              <a:rPr lang="en-GB" sz="2200" b="1">
                <a:solidFill>
                  <a:srgbClr val="1F4E79"/>
                </a:solidFill>
                <a:latin typeface="Segoe UI"/>
                <a:cs typeface="Segoe UI"/>
              </a:rPr>
              <a:t>Groupe cybercriminel</a:t>
            </a:r>
            <a:endParaRPr lang="en-FR" sz="2200" b="1">
              <a:solidFill>
                <a:srgbClr val="1F4E79"/>
              </a:solidFill>
              <a:latin typeface="Segoe UI"/>
              <a:cs typeface="Segoe UI"/>
            </a:endParaRPr>
          </a:p>
        </p:txBody>
      </p:sp>
      <p:sp>
        <p:nvSpPr>
          <p:cNvPr id="7" name="TextBox 6">
            <a:extLst>
              <a:ext uri="{FF2B5EF4-FFF2-40B4-BE49-F238E27FC236}">
                <a16:creationId xmlns:a16="http://schemas.microsoft.com/office/drawing/2014/main" id="{9E9D07F9-24AE-4549-8D4B-1A9E65245E07}"/>
              </a:ext>
            </a:extLst>
          </p:cNvPr>
          <p:cNvSpPr txBox="1"/>
          <p:nvPr/>
        </p:nvSpPr>
        <p:spPr>
          <a:xfrm>
            <a:off x="1219200" y="2438400"/>
            <a:ext cx="9906000" cy="5588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chiffrer le système de gestion d'entrepôt, arrêter l'expédition,
demander une rançon</a:t>
            </a:r>
            <a:endParaRPr lang="en-FR" sz="2000">
              <a:solidFill>
                <a:srgbClr val="1A1A1A"/>
              </a:solidFill>
              <a:latin typeface="Segoe UI"/>
              <a:cs typeface="Segoe UI"/>
            </a:endParaRPr>
          </a:p>
        </p:txBody>
      </p:sp>
      <p:sp>
        <p:nvSpPr>
          <p:cNvPr id="8" name="Rectangle 7">
            <a:extLst>
              <a:ext uri="{FF2B5EF4-FFF2-40B4-BE49-F238E27FC236}">
                <a16:creationId xmlns:a16="http://schemas.microsoft.com/office/drawing/2014/main" id="{EAFDAA9E-09E8-6D4A-9041-EA82A2AD4DF8}"/>
              </a:ext>
            </a:extLst>
          </p:cNvPr>
          <p:cNvSpPr/>
          <p:nvPr/>
        </p:nvSpPr>
        <p:spPr>
          <a:xfrm>
            <a:off x="914400" y="3200400"/>
            <a:ext cx="50800" cy="9398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9" name="TextBox 8">
            <a:extLst>
              <a:ext uri="{FF2B5EF4-FFF2-40B4-BE49-F238E27FC236}">
                <a16:creationId xmlns:a16="http://schemas.microsoft.com/office/drawing/2014/main" id="{19FEF5FB-6DF9-6D47-BF66-085D41DDC265}"/>
              </a:ext>
            </a:extLst>
          </p:cNvPr>
          <p:cNvSpPr txBox="1"/>
          <p:nvPr/>
        </p:nvSpPr>
        <p:spPr>
          <a:xfrm>
            <a:off x="1219200" y="3225800"/>
            <a:ext cx="3810000" cy="406400"/>
          </a:xfrm>
          <a:prstGeom prst="rect">
            <a:avLst/>
          </a:prstGeom>
          <a:noFill/>
        </p:spPr>
        <p:txBody>
          <a:bodyPr vertOverflow="overflow" vert="horz" wrap="square" rtlCol="0" anchor="t">
            <a:noAutofit/>
          </a:bodyPr>
          <a:lstStyle/>
          <a:p>
            <a:pPr algn="l"/>
            <a:r>
              <a:rPr lang="en-GB" sz="2200" b="1">
                <a:solidFill>
                  <a:srgbClr val="1F4E79"/>
                </a:solidFill>
                <a:latin typeface="Segoe UI"/>
                <a:cs typeface="Segoe UI"/>
              </a:rPr>
              <a:t>Agent interne</a:t>
            </a:r>
            <a:endParaRPr lang="en-FR" sz="2200" b="1">
              <a:solidFill>
                <a:srgbClr val="1F4E79"/>
              </a:solidFill>
              <a:latin typeface="Segoe UI"/>
              <a:cs typeface="Segoe UI"/>
            </a:endParaRPr>
          </a:p>
        </p:txBody>
      </p:sp>
      <p:sp>
        <p:nvSpPr>
          <p:cNvPr id="10" name="TextBox 9">
            <a:extLst>
              <a:ext uri="{FF2B5EF4-FFF2-40B4-BE49-F238E27FC236}">
                <a16:creationId xmlns:a16="http://schemas.microsoft.com/office/drawing/2014/main" id="{EB589D5E-D134-BA4B-90E2-B5B060070365}"/>
              </a:ext>
            </a:extLst>
          </p:cNvPr>
          <p:cNvSpPr txBox="1"/>
          <p:nvPr/>
        </p:nvSpPr>
        <p:spPr>
          <a:xfrm>
            <a:off x="1219200" y="3632200"/>
            <a:ext cx="9906000" cy="5588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fausser les données de préparation, emporter le savoir-faire des six sites</a:t>
            </a:r>
            <a:endParaRPr lang="en-FR" sz="2000">
              <a:solidFill>
                <a:srgbClr val="1A1A1A"/>
              </a:solidFill>
              <a:latin typeface="Segoe UI"/>
              <a:cs typeface="Segoe UI"/>
            </a:endParaRPr>
          </a:p>
        </p:txBody>
      </p:sp>
      <p:sp>
        <p:nvSpPr>
          <p:cNvPr id="11" name="Rectangle 10">
            <a:extLst>
              <a:ext uri="{FF2B5EF4-FFF2-40B4-BE49-F238E27FC236}">
                <a16:creationId xmlns:a16="http://schemas.microsoft.com/office/drawing/2014/main" id="{132A7571-4AD3-E84A-A77C-2601550DCE23}"/>
              </a:ext>
            </a:extLst>
          </p:cNvPr>
          <p:cNvSpPr/>
          <p:nvPr/>
        </p:nvSpPr>
        <p:spPr>
          <a:xfrm>
            <a:off x="914400" y="4394200"/>
            <a:ext cx="50800" cy="9398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2" name="TextBox 11">
            <a:extLst>
              <a:ext uri="{FF2B5EF4-FFF2-40B4-BE49-F238E27FC236}">
                <a16:creationId xmlns:a16="http://schemas.microsoft.com/office/drawing/2014/main" id="{6FBAB1BB-CFF0-0B46-A6C1-26969A85869E}"/>
              </a:ext>
            </a:extLst>
          </p:cNvPr>
          <p:cNvSpPr txBox="1"/>
          <p:nvPr/>
        </p:nvSpPr>
        <p:spPr>
          <a:xfrm>
            <a:off x="1219200" y="4419600"/>
            <a:ext cx="3810000" cy="406400"/>
          </a:xfrm>
          <a:prstGeom prst="rect">
            <a:avLst/>
          </a:prstGeom>
          <a:noFill/>
        </p:spPr>
        <p:txBody>
          <a:bodyPr vertOverflow="overflow" vert="horz" wrap="square" rtlCol="0" anchor="t">
            <a:noAutofit/>
          </a:bodyPr>
          <a:lstStyle/>
          <a:p>
            <a:pPr algn="l"/>
            <a:r>
              <a:rPr lang="en-GB" sz="2200" b="1">
                <a:solidFill>
                  <a:srgbClr val="1F4E79"/>
                </a:solidFill>
                <a:latin typeface="Segoe UI"/>
                <a:cs typeface="Segoe UI"/>
              </a:rPr>
              <a:t>Concurrent</a:t>
            </a:r>
            <a:endParaRPr lang="en-FR" sz="2200" b="1">
              <a:solidFill>
                <a:srgbClr val="1F4E79"/>
              </a:solidFill>
              <a:latin typeface="Segoe UI"/>
              <a:cs typeface="Segoe UI"/>
            </a:endParaRPr>
          </a:p>
        </p:txBody>
      </p:sp>
      <p:sp>
        <p:nvSpPr>
          <p:cNvPr id="13" name="TextBox 12">
            <a:extLst>
              <a:ext uri="{FF2B5EF4-FFF2-40B4-BE49-F238E27FC236}">
                <a16:creationId xmlns:a16="http://schemas.microsoft.com/office/drawing/2014/main" id="{F636FA8D-5A79-ED48-BE5F-7E347E19EFF9}"/>
              </a:ext>
            </a:extLst>
          </p:cNvPr>
          <p:cNvSpPr txBox="1"/>
          <p:nvPr/>
        </p:nvSpPr>
        <p:spPr>
          <a:xfrm>
            <a:off x="1219200" y="4826000"/>
            <a:ext cx="9906000" cy="5588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capter les données d'exploitation et celles du client pharmaceutique</a:t>
            </a:r>
            <a:endParaRPr lang="en-FR" sz="2000">
              <a:solidFill>
                <a:srgbClr val="1A1A1A"/>
              </a:solidFill>
              <a:latin typeface="Segoe UI"/>
              <a:cs typeface="Segoe UI"/>
            </a:endParaRPr>
          </a:p>
        </p:txBody>
      </p:sp>
      <p:sp>
        <p:nvSpPr>
          <p:cNvPr id="14" name="TextBox 13">
            <a:extLst>
              <a:ext uri="{FF2B5EF4-FFF2-40B4-BE49-F238E27FC236}">
                <a16:creationId xmlns:a16="http://schemas.microsoft.com/office/drawing/2014/main" id="{774D8727-AEC2-C74D-929D-941A52076AEA}"/>
              </a:ext>
            </a:extLst>
          </p:cNvPr>
          <p:cNvSpPr txBox="1"/>
          <p:nvPr/>
        </p:nvSpPr>
        <p:spPr>
          <a:xfrm>
            <a:off x="1219200" y="5537200"/>
            <a:ext cx="10160000" cy="330200"/>
          </a:xfrm>
          <a:prstGeom prst="rect">
            <a:avLst/>
          </a:prstGeom>
          <a:noFill/>
        </p:spPr>
        <p:txBody>
          <a:bodyPr vertOverflow="overflow" vert="horz" wrap="square" rtlCol="0" anchor="t">
            <a:noAutofit/>
          </a:bodyPr>
          <a:lstStyle/>
          <a:p>
            <a:pPr algn="l"/>
            <a:r>
              <a:rPr lang="en-GB" i="1">
                <a:solidFill>
                  <a:srgbClr val="8A8F98"/>
                </a:solidFill>
                <a:latin typeface="Segoe UI"/>
                <a:cs typeface="Segoe UI"/>
              </a:rPr>
              <a:t>Un quatrième — le prestataire des automates — est traité à part : slide suivante.</a:t>
            </a:r>
            <a:endParaRPr lang="en-FR" i="1">
              <a:solidFill>
                <a:srgbClr val="8A8F98"/>
              </a:solidFill>
              <a:latin typeface="Segoe UI"/>
              <a:cs typeface="Segoe UI"/>
            </a:endParaRPr>
          </a:p>
        </p:txBody>
      </p:sp>
      <p:sp>
        <p:nvSpPr>
          <p:cNvPr id="15" name="TextBox 14">
            <a:extLst>
              <a:ext uri="{FF2B5EF4-FFF2-40B4-BE49-F238E27FC236}">
                <a16:creationId xmlns:a16="http://schemas.microsoft.com/office/drawing/2014/main" id="{597D652E-22AA-D047-8F06-BF744CB82D1D}"/>
              </a:ext>
            </a:extLst>
          </p:cNvPr>
          <p:cNvSpPr txBox="1"/>
          <p:nvPr/>
        </p:nvSpPr>
        <p:spPr>
          <a:xfrm>
            <a:off x="1219200" y="5867400"/>
            <a:ext cx="10160000" cy="279400"/>
          </a:xfrm>
          <a:prstGeom prst="rect">
            <a:avLst/>
          </a:prstGeom>
          <a:noFill/>
        </p:spPr>
        <p:txBody>
          <a:bodyPr vertOverflow="overflow" vert="horz" wrap="square" rtlCol="0" anchor="t">
            <a:noAutofit/>
          </a:bodyPr>
          <a:lstStyle/>
          <a:p>
            <a:pPr algn="l"/>
            <a:r>
              <a:rPr lang="en-GB" sz="1400" dirty="0" err="1">
                <a:solidFill>
                  <a:srgbClr val="8A8F98"/>
                </a:solidFill>
                <a:latin typeface="Segoe UI"/>
                <a:cs typeface="Segoe UI"/>
              </a:rPr>
              <a:t>Preuve</a:t>
            </a:r>
            <a:r>
              <a:rPr lang="en-GB" sz="1400" dirty="0">
                <a:solidFill>
                  <a:srgbClr val="8A8F98"/>
                </a:solidFill>
                <a:latin typeface="Segoe UI"/>
                <a:cs typeface="Segoe UI"/>
              </a:rPr>
              <a:t> : S5-05-ex5-5-couples-liste-pertinence.jpg — </a:t>
            </a:r>
            <a:r>
              <a:rPr lang="en-GB" sz="1400" dirty="0" err="1">
                <a:solidFill>
                  <a:srgbClr val="8A8F98"/>
                </a:solidFill>
                <a:latin typeface="Segoe UI"/>
                <a:cs typeface="Segoe UI"/>
              </a:rPr>
              <a:t>colonne</a:t>
            </a:r>
            <a:r>
              <a:rPr lang="en-GB" sz="1400" dirty="0">
                <a:solidFill>
                  <a:srgbClr val="8A8F98"/>
                </a:solidFill>
                <a:latin typeface="Segoe UI"/>
                <a:cs typeface="Segoe UI"/>
              </a:rPr>
              <a:t> « Pertinence », les deux écartés</a:t>
            </a:r>
            <a:endParaRPr lang="en-FR" sz="1400" dirty="0">
              <a:solidFill>
                <a:srgbClr val="8A8F98"/>
              </a:solidFill>
              <a:latin typeface="Segoe UI"/>
              <a:cs typeface="Segoe UI"/>
            </a:endParaRPr>
          </a:p>
        </p:txBody>
      </p:sp>
    </p:spTree>
    <p:extLst>
      <p:ext uri="{BB962C8B-B14F-4D97-AF65-F5344CB8AC3E}">
        <p14:creationId xmlns:p14="http://schemas.microsoft.com/office/powerpoint/2010/main" val="36738618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9FEAB17E-44B2-4145-8BC2-144A2DFA7092}"/>
              </a:ext>
            </a:extLst>
          </p:cNvPr>
          <p:cNvSpPr txBox="1"/>
          <p:nvPr/>
        </p:nvSpPr>
        <p:spPr>
          <a:xfrm>
            <a:off x="914400" y="533400"/>
            <a:ext cx="10414000" cy="508000"/>
          </a:xfrm>
          <a:prstGeom prst="rect">
            <a:avLst/>
          </a:prstGeom>
          <a:noFill/>
        </p:spPr>
        <p:txBody>
          <a:bodyPr vertOverflow="overflow" vert="horz" wrap="square" rtlCol="0" anchor="t">
            <a:noAutofit/>
          </a:bodyPr>
          <a:lstStyle/>
          <a:p>
            <a:pPr algn="l"/>
            <a:r>
              <a:rPr lang="en-GB" sz="2800" b="1">
                <a:solidFill>
                  <a:srgbClr val="1F4E79"/>
                </a:solidFill>
                <a:latin typeface="Segoe UI"/>
                <a:cs typeface="Segoe UI"/>
              </a:rPr>
              <a:t>L'événement le plus grave — et pourquoi il est crédible</a:t>
            </a:r>
            <a:endParaRPr lang="en-FR" sz="2800" b="1">
              <a:solidFill>
                <a:srgbClr val="1F4E79"/>
              </a:solidFill>
              <a:latin typeface="Segoe UI"/>
              <a:cs typeface="Segoe UI"/>
            </a:endParaRPr>
          </a:p>
        </p:txBody>
      </p:sp>
      <p:sp>
        <p:nvSpPr>
          <p:cNvPr id="13" name="Rectangle 12">
            <a:extLst>
              <a:ext uri="{FF2B5EF4-FFF2-40B4-BE49-F238E27FC236}">
                <a16:creationId xmlns:a16="http://schemas.microsoft.com/office/drawing/2014/main" id="{21B41EA4-A7D3-7E42-99D1-0133D47CF5EA}"/>
              </a:ext>
            </a:extLst>
          </p:cNvPr>
          <p:cNvSpPr/>
          <p:nvPr/>
        </p:nvSpPr>
        <p:spPr>
          <a:xfrm>
            <a:off x="914400" y="11176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4" name="TextBox 13">
            <a:extLst>
              <a:ext uri="{FF2B5EF4-FFF2-40B4-BE49-F238E27FC236}">
                <a16:creationId xmlns:a16="http://schemas.microsoft.com/office/drawing/2014/main" id="{9CCA0CE4-D5A4-164E-AD27-2C924867DE60}"/>
              </a:ext>
            </a:extLst>
          </p:cNvPr>
          <p:cNvSpPr txBox="1"/>
          <p:nvPr/>
        </p:nvSpPr>
        <p:spPr>
          <a:xfrm>
            <a:off x="914400" y="1295400"/>
            <a:ext cx="10414000" cy="431800"/>
          </a:xfrm>
          <a:prstGeom prst="rect">
            <a:avLst/>
          </a:prstGeom>
          <a:noFill/>
        </p:spPr>
        <p:txBody>
          <a:bodyPr vertOverflow="overflow" vert="horz" wrap="square" rtlCol="0" anchor="t">
            <a:noAutofit/>
          </a:bodyPr>
          <a:lstStyle/>
          <a:p>
            <a:pPr algn="l"/>
            <a:r>
              <a:rPr lang="en-GB" sz="2400" b="1" dirty="0" err="1">
                <a:solidFill>
                  <a:srgbClr val="1A1A1A"/>
                </a:solidFill>
                <a:latin typeface="Segoe UI"/>
                <a:cs typeface="Segoe UI"/>
              </a:rPr>
              <a:t>L'arrêt</a:t>
            </a:r>
            <a:r>
              <a:rPr lang="en-GB" sz="2400" b="1" dirty="0">
                <a:solidFill>
                  <a:srgbClr val="1A1A1A"/>
                </a:solidFill>
                <a:latin typeface="Segoe UI"/>
                <a:cs typeface="Segoe UI"/>
              </a:rPr>
              <a:t> non </a:t>
            </a:r>
            <a:r>
              <a:rPr lang="en-GB" sz="2400" b="1" dirty="0" err="1">
                <a:solidFill>
                  <a:srgbClr val="1A1A1A"/>
                </a:solidFill>
                <a:latin typeface="Segoe UI"/>
                <a:cs typeface="Segoe UI"/>
              </a:rPr>
              <a:t>planifié</a:t>
            </a:r>
            <a:r>
              <a:rPr lang="en-GB" sz="2400" b="1" dirty="0">
                <a:solidFill>
                  <a:srgbClr val="1A1A1A"/>
                </a:solidFill>
                <a:latin typeface="Segoe UI"/>
                <a:cs typeface="Segoe UI"/>
              </a:rPr>
              <a:t> de </a:t>
            </a:r>
            <a:r>
              <a:rPr lang="en-GB" sz="2400" b="1" dirty="0" err="1">
                <a:solidFill>
                  <a:srgbClr val="1A1A1A"/>
                </a:solidFill>
                <a:latin typeface="Segoe UI"/>
                <a:cs typeface="Segoe UI"/>
              </a:rPr>
              <a:t>l'expédition</a:t>
            </a:r>
            <a:r>
              <a:rPr lang="en-GB" sz="2400" b="1" dirty="0">
                <a:solidFill>
                  <a:srgbClr val="1A1A1A"/>
                </a:solidFill>
                <a:latin typeface="Segoe UI"/>
                <a:cs typeface="Segoe UI"/>
              </a:rPr>
              <a:t> au-</a:t>
            </a:r>
            <a:r>
              <a:rPr lang="en-GB" sz="2400" b="1" dirty="0" err="1">
                <a:solidFill>
                  <a:srgbClr val="1A1A1A"/>
                </a:solidFill>
                <a:latin typeface="Segoe UI"/>
                <a:cs typeface="Segoe UI"/>
              </a:rPr>
              <a:t>delà</a:t>
            </a:r>
            <a:r>
              <a:rPr lang="en-GB" sz="2400" b="1" dirty="0">
                <a:solidFill>
                  <a:srgbClr val="1A1A1A"/>
                </a:solidFill>
                <a:latin typeface="Segoe UI"/>
                <a:cs typeface="Segoe UI"/>
              </a:rPr>
              <a:t> de six </a:t>
            </a:r>
            <a:r>
              <a:rPr lang="en-GB" sz="2400" b="1" dirty="0" err="1">
                <a:solidFill>
                  <a:srgbClr val="1A1A1A"/>
                </a:solidFill>
                <a:latin typeface="Segoe UI"/>
                <a:cs typeface="Segoe UI"/>
              </a:rPr>
              <a:t>heures</a:t>
            </a:r>
            <a:endParaRPr lang="en-FR" sz="2400" b="1" dirty="0">
              <a:solidFill>
                <a:srgbClr val="1A1A1A"/>
              </a:solidFill>
              <a:latin typeface="Segoe UI"/>
              <a:cs typeface="Segoe UI"/>
            </a:endParaRPr>
          </a:p>
        </p:txBody>
      </p:sp>
      <p:sp>
        <p:nvSpPr>
          <p:cNvPr id="15" name="Rectangle 14">
            <a:extLst>
              <a:ext uri="{FF2B5EF4-FFF2-40B4-BE49-F238E27FC236}">
                <a16:creationId xmlns:a16="http://schemas.microsoft.com/office/drawing/2014/main" id="{9E855444-B55D-6F47-8C20-757D5BCE2CDA}"/>
              </a:ext>
            </a:extLst>
          </p:cNvPr>
          <p:cNvSpPr/>
          <p:nvPr/>
        </p:nvSpPr>
        <p:spPr>
          <a:xfrm>
            <a:off x="914400" y="1930400"/>
            <a:ext cx="4724400" cy="35306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6" name="Rectangle 15">
            <a:extLst>
              <a:ext uri="{FF2B5EF4-FFF2-40B4-BE49-F238E27FC236}">
                <a16:creationId xmlns:a16="http://schemas.microsoft.com/office/drawing/2014/main" id="{6C5FB2A1-EFC6-6249-BDFD-7AFECB2071AB}"/>
              </a:ext>
            </a:extLst>
          </p:cNvPr>
          <p:cNvSpPr/>
          <p:nvPr/>
        </p:nvSpPr>
        <p:spPr>
          <a:xfrm>
            <a:off x="5892800" y="1930400"/>
            <a:ext cx="5435600" cy="3530600"/>
          </a:xfrm>
          <a:prstGeom prst="rect">
            <a:avLst/>
          </a:prstGeom>
          <a:solidFill>
            <a:srgbClr val="F2F3F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7" name="TextBox 16">
            <a:extLst>
              <a:ext uri="{FF2B5EF4-FFF2-40B4-BE49-F238E27FC236}">
                <a16:creationId xmlns:a16="http://schemas.microsoft.com/office/drawing/2014/main" id="{6A427C3F-DE60-A344-910B-16A597BB3DE6}"/>
              </a:ext>
            </a:extLst>
          </p:cNvPr>
          <p:cNvSpPr txBox="1"/>
          <p:nvPr/>
        </p:nvSpPr>
        <p:spPr>
          <a:xfrm>
            <a:off x="1270000" y="2209800"/>
            <a:ext cx="4064000" cy="406400"/>
          </a:xfrm>
          <a:prstGeom prst="rect">
            <a:avLst/>
          </a:prstGeom>
          <a:noFill/>
        </p:spPr>
        <p:txBody>
          <a:bodyPr vertOverflow="overflow" vert="horz" wrap="square" rtlCol="0" anchor="t">
            <a:noAutofit/>
          </a:bodyPr>
          <a:lstStyle/>
          <a:p>
            <a:pPr algn="l"/>
            <a:r>
              <a:rPr lang="en-GB" sz="2200" b="1" dirty="0">
                <a:solidFill>
                  <a:srgbClr val="1F4E79"/>
                </a:solidFill>
                <a:latin typeface="Segoe UI"/>
                <a:cs typeface="Segoe UI"/>
              </a:rPr>
              <a:t>GRAVE</a:t>
            </a:r>
            <a:endParaRPr lang="en-FR" sz="2200" b="1" dirty="0">
              <a:solidFill>
                <a:srgbClr val="1F4E79"/>
              </a:solidFill>
              <a:latin typeface="Segoe UI"/>
              <a:cs typeface="Segoe UI"/>
            </a:endParaRPr>
          </a:p>
        </p:txBody>
      </p:sp>
      <p:sp>
        <p:nvSpPr>
          <p:cNvPr id="18" name="TextBox 17">
            <a:extLst>
              <a:ext uri="{FF2B5EF4-FFF2-40B4-BE49-F238E27FC236}">
                <a16:creationId xmlns:a16="http://schemas.microsoft.com/office/drawing/2014/main" id="{A5D8634A-B497-A844-B8C8-BFE4F1426527}"/>
              </a:ext>
            </a:extLst>
          </p:cNvPr>
          <p:cNvSpPr txBox="1"/>
          <p:nvPr/>
        </p:nvSpPr>
        <p:spPr>
          <a:xfrm>
            <a:off x="1270000" y="2819400"/>
            <a:ext cx="4064000" cy="558800"/>
          </a:xfrm>
          <a:prstGeom prst="rect">
            <a:avLst/>
          </a:prstGeom>
          <a:noFill/>
        </p:spPr>
        <p:txBody>
          <a:bodyPr vertOverflow="overflow" vert="horz" wrap="square" rtlCol="0" anchor="t">
            <a:noAutofit/>
          </a:bodyPr>
          <a:lstStyle/>
          <a:p>
            <a:pPr algn="l"/>
            <a:r>
              <a:rPr lang="en-FR" sz="3400" b="1" dirty="0">
                <a:solidFill>
                  <a:srgbClr val="1A1A1A"/>
                </a:solidFill>
                <a:latin typeface="Segoe UI"/>
                <a:cs typeface="Segoe UI"/>
              </a:rPr>
              <a:t>40 %</a:t>
            </a:r>
          </a:p>
        </p:txBody>
      </p:sp>
      <p:sp>
        <p:nvSpPr>
          <p:cNvPr id="19" name="TextBox 18">
            <a:extLst>
              <a:ext uri="{FF2B5EF4-FFF2-40B4-BE49-F238E27FC236}">
                <a16:creationId xmlns:a16="http://schemas.microsoft.com/office/drawing/2014/main" id="{2D5031ED-2AAE-E345-8581-FDF7A722EB1F}"/>
              </a:ext>
            </a:extLst>
          </p:cNvPr>
          <p:cNvSpPr txBox="1"/>
          <p:nvPr/>
        </p:nvSpPr>
        <p:spPr>
          <a:xfrm>
            <a:off x="1270000" y="3403600"/>
            <a:ext cx="4064000" cy="330200"/>
          </a:xfrm>
          <a:prstGeom prst="rect">
            <a:avLst/>
          </a:prstGeom>
          <a:noFill/>
        </p:spPr>
        <p:txBody>
          <a:bodyPr vertOverflow="overflow" vert="horz" wrap="square" rtlCol="0" anchor="t">
            <a:noAutofit/>
          </a:bodyPr>
          <a:lstStyle/>
          <a:p>
            <a:pPr algn="l"/>
            <a:r>
              <a:rPr lang="en-GB" sz="1700">
                <a:solidFill>
                  <a:srgbClr val="3C3C3C"/>
                </a:solidFill>
                <a:latin typeface="Segoe UI"/>
                <a:cs typeface="Segoe UI"/>
              </a:rPr>
              <a:t>du volume expédié du groupe</a:t>
            </a:r>
            <a:endParaRPr lang="en-FR" sz="1700">
              <a:solidFill>
                <a:srgbClr val="3C3C3C"/>
              </a:solidFill>
              <a:latin typeface="Segoe UI"/>
              <a:cs typeface="Segoe UI"/>
            </a:endParaRPr>
          </a:p>
        </p:txBody>
      </p:sp>
      <p:sp>
        <p:nvSpPr>
          <p:cNvPr id="20" name="TextBox 19">
            <a:extLst>
              <a:ext uri="{FF2B5EF4-FFF2-40B4-BE49-F238E27FC236}">
                <a16:creationId xmlns:a16="http://schemas.microsoft.com/office/drawing/2014/main" id="{F04ED05D-0CBA-EA4D-9B3B-7E9B135C07A1}"/>
              </a:ext>
            </a:extLst>
          </p:cNvPr>
          <p:cNvSpPr txBox="1"/>
          <p:nvPr/>
        </p:nvSpPr>
        <p:spPr>
          <a:xfrm>
            <a:off x="1270000" y="4013200"/>
            <a:ext cx="4064000" cy="558800"/>
          </a:xfrm>
          <a:prstGeom prst="rect">
            <a:avLst/>
          </a:prstGeom>
          <a:noFill/>
        </p:spPr>
        <p:txBody>
          <a:bodyPr vertOverflow="overflow" vert="horz" wrap="square" rtlCol="0" anchor="t">
            <a:noAutofit/>
          </a:bodyPr>
          <a:lstStyle/>
          <a:p>
            <a:pPr algn="l"/>
            <a:r>
              <a:rPr lang="en-FR" sz="3400" b="1">
                <a:solidFill>
                  <a:srgbClr val="1A1A1A"/>
                </a:solidFill>
                <a:latin typeface="Segoe UI"/>
                <a:cs typeface="Segoe UI"/>
              </a:rPr>
              <a:t>12 000 €</a:t>
            </a:r>
          </a:p>
        </p:txBody>
      </p:sp>
      <p:sp>
        <p:nvSpPr>
          <p:cNvPr id="21" name="TextBox 20">
            <a:extLst>
              <a:ext uri="{FF2B5EF4-FFF2-40B4-BE49-F238E27FC236}">
                <a16:creationId xmlns:a16="http://schemas.microsoft.com/office/drawing/2014/main" id="{A6E8B760-ED0D-4842-8A50-03853041A826}"/>
              </a:ext>
            </a:extLst>
          </p:cNvPr>
          <p:cNvSpPr txBox="1"/>
          <p:nvPr/>
        </p:nvSpPr>
        <p:spPr>
          <a:xfrm>
            <a:off x="1270000" y="4597400"/>
            <a:ext cx="4064000" cy="330200"/>
          </a:xfrm>
          <a:prstGeom prst="rect">
            <a:avLst/>
          </a:prstGeom>
          <a:noFill/>
        </p:spPr>
        <p:txBody>
          <a:bodyPr vertOverflow="overflow" vert="horz" wrap="square" rtlCol="0" anchor="t">
            <a:noAutofit/>
          </a:bodyPr>
          <a:lstStyle/>
          <a:p>
            <a:pPr algn="l"/>
            <a:r>
              <a:rPr lang="en-GB" sz="1700">
                <a:solidFill>
                  <a:srgbClr val="3C3C3C"/>
                </a:solidFill>
                <a:latin typeface="Segoe UI"/>
                <a:cs typeface="Segoe UI"/>
              </a:rPr>
              <a:t>par jour de pénalités contractuelles</a:t>
            </a:r>
            <a:endParaRPr lang="en-FR" sz="1700">
              <a:solidFill>
                <a:srgbClr val="3C3C3C"/>
              </a:solidFill>
              <a:latin typeface="Segoe UI"/>
              <a:cs typeface="Segoe UI"/>
            </a:endParaRPr>
          </a:p>
        </p:txBody>
      </p:sp>
      <p:sp>
        <p:nvSpPr>
          <p:cNvPr id="22" name="TextBox 21">
            <a:extLst>
              <a:ext uri="{FF2B5EF4-FFF2-40B4-BE49-F238E27FC236}">
                <a16:creationId xmlns:a16="http://schemas.microsoft.com/office/drawing/2014/main" id="{B074A865-B8C0-2F48-8783-1869859378B0}"/>
              </a:ext>
            </a:extLst>
          </p:cNvPr>
          <p:cNvSpPr txBox="1"/>
          <p:nvPr/>
        </p:nvSpPr>
        <p:spPr>
          <a:xfrm>
            <a:off x="6248400" y="2209800"/>
            <a:ext cx="4775200" cy="406400"/>
          </a:xfrm>
          <a:prstGeom prst="rect">
            <a:avLst/>
          </a:prstGeom>
          <a:noFill/>
        </p:spPr>
        <p:txBody>
          <a:bodyPr vertOverflow="overflow" vert="horz" wrap="square" rtlCol="0" anchor="t">
            <a:noAutofit/>
          </a:bodyPr>
          <a:lstStyle/>
          <a:p>
            <a:pPr algn="l"/>
            <a:r>
              <a:rPr lang="en-GB" sz="2200" b="1">
                <a:solidFill>
                  <a:srgbClr val="1F4E79"/>
                </a:solidFill>
                <a:latin typeface="Segoe UI"/>
                <a:cs typeface="Segoe UI"/>
              </a:rPr>
              <a:t>CRÉDIBLE</a:t>
            </a:r>
            <a:endParaRPr lang="en-FR" sz="2200" b="1">
              <a:solidFill>
                <a:srgbClr val="1F4E79"/>
              </a:solidFill>
              <a:latin typeface="Segoe UI"/>
              <a:cs typeface="Segoe UI"/>
            </a:endParaRPr>
          </a:p>
        </p:txBody>
      </p:sp>
      <p:sp>
        <p:nvSpPr>
          <p:cNvPr id="23" name="TextBox 22">
            <a:extLst>
              <a:ext uri="{FF2B5EF4-FFF2-40B4-BE49-F238E27FC236}">
                <a16:creationId xmlns:a16="http://schemas.microsoft.com/office/drawing/2014/main" id="{7C2B36DA-B118-2348-85C5-19152DEDE966}"/>
              </a:ext>
            </a:extLst>
          </p:cNvPr>
          <p:cNvSpPr txBox="1"/>
          <p:nvPr/>
        </p:nvSpPr>
        <p:spPr>
          <a:xfrm>
            <a:off x="6248400" y="2819400"/>
            <a:ext cx="4775200" cy="330200"/>
          </a:xfrm>
          <a:prstGeom prst="rect">
            <a:avLst/>
          </a:prstGeom>
          <a:noFill/>
        </p:spPr>
        <p:txBody>
          <a:bodyPr vertOverflow="overflow" vert="horz" wrap="square" rtlCol="0" anchor="t">
            <a:noAutofit/>
          </a:bodyPr>
          <a:lstStyle/>
          <a:p>
            <a:pPr algn="l"/>
            <a:r>
              <a:rPr lang="en-GB">
                <a:solidFill>
                  <a:srgbClr val="1A1A1A"/>
                </a:solidFill>
                <a:latin typeface="Segoe UI"/>
                <a:cs typeface="Segoe UI"/>
              </a:rPr>
              <a:t>un seul site, aucun secours</a:t>
            </a:r>
            <a:endParaRPr lang="en-FR">
              <a:solidFill>
                <a:srgbClr val="1A1A1A"/>
              </a:solidFill>
              <a:latin typeface="Segoe UI"/>
              <a:cs typeface="Segoe UI"/>
            </a:endParaRPr>
          </a:p>
        </p:txBody>
      </p:sp>
      <p:sp>
        <p:nvSpPr>
          <p:cNvPr id="24" name="TextBox 23">
            <a:extLst>
              <a:ext uri="{FF2B5EF4-FFF2-40B4-BE49-F238E27FC236}">
                <a16:creationId xmlns:a16="http://schemas.microsoft.com/office/drawing/2014/main" id="{9F372654-A09C-7B46-A45D-2C9ABCDA330F}"/>
              </a:ext>
            </a:extLst>
          </p:cNvPr>
          <p:cNvSpPr txBox="1"/>
          <p:nvPr/>
        </p:nvSpPr>
        <p:spPr>
          <a:xfrm>
            <a:off x="6248400" y="3378200"/>
            <a:ext cx="4775200" cy="660400"/>
          </a:xfrm>
          <a:prstGeom prst="rect">
            <a:avLst/>
          </a:prstGeom>
          <a:noFill/>
        </p:spPr>
        <p:txBody>
          <a:bodyPr vertOverflow="overflow" vert="horz" wrap="square" rtlCol="0" anchor="t">
            <a:noAutofit/>
          </a:bodyPr>
          <a:lstStyle/>
          <a:p>
            <a:pPr algn="l"/>
            <a:r>
              <a:rPr lang="en-GB">
                <a:solidFill>
                  <a:srgbClr val="1A1A1A"/>
                </a:solidFill>
                <a:latin typeface="Segoe UI"/>
                <a:cs typeface="Segoe UI"/>
              </a:rPr>
              <a:t>des sauvegardes quotidiennes jamais restaurées depuis la mise en service</a:t>
            </a:r>
            <a:endParaRPr lang="en-FR">
              <a:solidFill>
                <a:srgbClr val="1A1A1A"/>
              </a:solidFill>
              <a:latin typeface="Segoe UI"/>
              <a:cs typeface="Segoe UI"/>
            </a:endParaRPr>
          </a:p>
        </p:txBody>
      </p:sp>
      <p:sp>
        <p:nvSpPr>
          <p:cNvPr id="25" name="TextBox 24">
            <a:extLst>
              <a:ext uri="{FF2B5EF4-FFF2-40B4-BE49-F238E27FC236}">
                <a16:creationId xmlns:a16="http://schemas.microsoft.com/office/drawing/2014/main" id="{02415662-ED98-0D4D-9250-99B339BC057B}"/>
              </a:ext>
            </a:extLst>
          </p:cNvPr>
          <p:cNvSpPr txBox="1"/>
          <p:nvPr/>
        </p:nvSpPr>
        <p:spPr>
          <a:xfrm>
            <a:off x="6248400" y="4241800"/>
            <a:ext cx="4775200" cy="990600"/>
          </a:xfrm>
          <a:prstGeom prst="rect">
            <a:avLst/>
          </a:prstGeom>
          <a:noFill/>
        </p:spPr>
        <p:txBody>
          <a:bodyPr vertOverflow="overflow" vert="horz" wrap="square" rtlCol="0" anchor="t">
            <a:noAutofit/>
          </a:bodyPr>
          <a:lstStyle/>
          <a:p>
            <a:pPr algn="l"/>
            <a:r>
              <a:rPr lang="en-GB">
                <a:solidFill>
                  <a:srgbClr val="1A1A1A"/>
                </a:solidFill>
                <a:latin typeface="Segoe UI"/>
                <a:cs typeface="Segoe UI"/>
              </a:rPr>
              <a:t>un arrêt de ce type a déjà eu lieu en avril — sans que personne ne puisse en tenir la chronologie</a:t>
            </a:r>
            <a:endParaRPr lang="en-FR">
              <a:solidFill>
                <a:srgbClr val="1A1A1A"/>
              </a:solidFill>
              <a:latin typeface="Segoe UI"/>
              <a:cs typeface="Segoe UI"/>
            </a:endParaRPr>
          </a:p>
        </p:txBody>
      </p:sp>
      <p:sp>
        <p:nvSpPr>
          <p:cNvPr id="26" name="TextBox 25">
            <a:extLst>
              <a:ext uri="{FF2B5EF4-FFF2-40B4-BE49-F238E27FC236}">
                <a16:creationId xmlns:a16="http://schemas.microsoft.com/office/drawing/2014/main" id="{6ECFAC86-0DAE-2243-AFB2-0AE9F8D38BDD}"/>
              </a:ext>
            </a:extLst>
          </p:cNvPr>
          <p:cNvSpPr txBox="1"/>
          <p:nvPr/>
        </p:nvSpPr>
        <p:spPr>
          <a:xfrm>
            <a:off x="914400" y="5638800"/>
            <a:ext cx="10414000" cy="2794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Preuve : S5-06-etude-summary-compteurs-7-ER.jpg · en annexe A2, la matrice 4×4</a:t>
            </a:r>
            <a:endParaRPr lang="en-FR" sz="1500">
              <a:solidFill>
                <a:srgbClr val="3C3C3C"/>
              </a:solidFill>
              <a:latin typeface="Segoe UI"/>
              <a:cs typeface="Segoe UI"/>
            </a:endParaRPr>
          </a:p>
        </p:txBody>
      </p:sp>
    </p:spTree>
    <p:extLst>
      <p:ext uri="{BB962C8B-B14F-4D97-AF65-F5344CB8AC3E}">
        <p14:creationId xmlns:p14="http://schemas.microsoft.com/office/powerpoint/2010/main" val="32747536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Box 18">
            <a:extLst>
              <a:ext uri="{FF2B5EF4-FFF2-40B4-BE49-F238E27FC236}">
                <a16:creationId xmlns:a16="http://schemas.microsoft.com/office/drawing/2014/main" id="{EA6D5FFE-2854-DC40-B18D-2D41F666C5B9}"/>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Le risque entre par le contrat</a:t>
            </a:r>
            <a:endParaRPr lang="en-FR" sz="3200" b="1">
              <a:solidFill>
                <a:srgbClr val="1F4E79"/>
              </a:solidFill>
              <a:latin typeface="Segoe UI"/>
              <a:cs typeface="Segoe UI"/>
            </a:endParaRPr>
          </a:p>
        </p:txBody>
      </p:sp>
      <p:sp>
        <p:nvSpPr>
          <p:cNvPr id="20" name="Rectangle 19">
            <a:extLst>
              <a:ext uri="{FF2B5EF4-FFF2-40B4-BE49-F238E27FC236}">
                <a16:creationId xmlns:a16="http://schemas.microsoft.com/office/drawing/2014/main" id="{EDC8FA3C-4405-3C4F-BCBA-272E0F3F107A}"/>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1" name="TextBox 20">
            <a:extLst>
              <a:ext uri="{FF2B5EF4-FFF2-40B4-BE49-F238E27FC236}">
                <a16:creationId xmlns:a16="http://schemas.microsoft.com/office/drawing/2014/main" id="{F98D957A-176F-CE48-8E82-E79CA83B47CE}"/>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Cinq partenaires cotés sur leur dépendance et leur fiabilité. Deux dépassent le seuil.</a:t>
            </a:r>
            <a:endParaRPr lang="en-FR">
              <a:solidFill>
                <a:srgbClr val="3C3C3C"/>
              </a:solidFill>
              <a:latin typeface="Segoe UI"/>
              <a:cs typeface="Segoe UI"/>
            </a:endParaRPr>
          </a:p>
        </p:txBody>
      </p:sp>
      <p:sp>
        <p:nvSpPr>
          <p:cNvPr id="22" name="TextBox 21">
            <a:extLst>
              <a:ext uri="{FF2B5EF4-FFF2-40B4-BE49-F238E27FC236}">
                <a16:creationId xmlns:a16="http://schemas.microsoft.com/office/drawing/2014/main" id="{0B540FF3-239E-8C4A-A55A-308F860890BF}"/>
              </a:ext>
            </a:extLst>
          </p:cNvPr>
          <p:cNvSpPr txBox="1"/>
          <p:nvPr/>
        </p:nvSpPr>
        <p:spPr>
          <a:xfrm>
            <a:off x="914400" y="1905000"/>
            <a:ext cx="4572000" cy="355600"/>
          </a:xfrm>
          <a:prstGeom prst="rect">
            <a:avLst/>
          </a:prstGeom>
          <a:noFill/>
        </p:spPr>
        <p:txBody>
          <a:bodyPr vertOverflow="overflow" vert="horz" wrap="square" rtlCol="0" anchor="t">
            <a:noAutofit/>
          </a:bodyPr>
          <a:lstStyle/>
          <a:p>
            <a:pPr algn="l"/>
            <a:r>
              <a:rPr lang="en-GB" sz="1900" b="1">
                <a:solidFill>
                  <a:srgbClr val="1A1A1A"/>
                </a:solidFill>
                <a:latin typeface="Segoe UI"/>
                <a:cs typeface="Segoe UI"/>
              </a:rPr>
              <a:t>Intégrateur des automates</a:t>
            </a:r>
            <a:endParaRPr lang="en-FR" sz="1900" b="1">
              <a:solidFill>
                <a:srgbClr val="1A1A1A"/>
              </a:solidFill>
              <a:latin typeface="Segoe UI"/>
              <a:cs typeface="Segoe UI"/>
            </a:endParaRPr>
          </a:p>
        </p:txBody>
      </p:sp>
      <p:sp>
        <p:nvSpPr>
          <p:cNvPr id="23" name="TextBox 22">
            <a:extLst>
              <a:ext uri="{FF2B5EF4-FFF2-40B4-BE49-F238E27FC236}">
                <a16:creationId xmlns:a16="http://schemas.microsoft.com/office/drawing/2014/main" id="{6F5A0F15-05EA-2E4A-A7E7-34A3BDF24662}"/>
              </a:ext>
            </a:extLst>
          </p:cNvPr>
          <p:cNvSpPr txBox="1"/>
          <p:nvPr/>
        </p:nvSpPr>
        <p:spPr>
          <a:xfrm>
            <a:off x="5588000" y="1905000"/>
            <a:ext cx="762000" cy="355600"/>
          </a:xfrm>
          <a:prstGeom prst="rect">
            <a:avLst/>
          </a:prstGeom>
          <a:noFill/>
        </p:spPr>
        <p:txBody>
          <a:bodyPr vertOverflow="overflow" vert="horz" wrap="square" rtlCol="0" anchor="t">
            <a:noAutofit/>
          </a:bodyPr>
          <a:lstStyle/>
          <a:p>
            <a:pPr algn="l"/>
            <a:r>
              <a:rPr lang="en-FR" sz="1900" b="1">
                <a:solidFill>
                  <a:srgbClr val="1F4E79"/>
                </a:solidFill>
                <a:latin typeface="Segoe UI"/>
                <a:cs typeface="Segoe UI"/>
              </a:rPr>
              <a:t>12,0</a:t>
            </a:r>
          </a:p>
        </p:txBody>
      </p:sp>
      <p:sp>
        <p:nvSpPr>
          <p:cNvPr id="24" name="TextBox 23">
            <a:extLst>
              <a:ext uri="{FF2B5EF4-FFF2-40B4-BE49-F238E27FC236}">
                <a16:creationId xmlns:a16="http://schemas.microsoft.com/office/drawing/2014/main" id="{84031F7B-6DBD-A948-A618-17D899C2D87D}"/>
              </a:ext>
            </a:extLst>
          </p:cNvPr>
          <p:cNvSpPr txBox="1"/>
          <p:nvPr/>
        </p:nvSpPr>
        <p:spPr>
          <a:xfrm>
            <a:off x="6654800" y="1930400"/>
            <a:ext cx="4673600" cy="558800"/>
          </a:xfrm>
          <a:prstGeom prst="rect">
            <a:avLst/>
          </a:prstGeom>
          <a:noFill/>
        </p:spPr>
        <p:txBody>
          <a:bodyPr vertOverflow="overflow" vert="horz" wrap="square" rtlCol="0" anchor="t">
            <a:noAutofit/>
          </a:bodyPr>
          <a:lstStyle/>
          <a:p>
            <a:pPr algn="l"/>
            <a:r>
              <a:rPr lang="en-GB" sz="1700">
                <a:solidFill>
                  <a:srgbClr val="3C3C3C"/>
                </a:solidFill>
                <a:latin typeface="Segoe UI"/>
                <a:cs typeface="Segoe UI"/>
              </a:rPr>
              <a:t>accès permanent, hors de notre réseau supervisé</a:t>
            </a:r>
            <a:endParaRPr lang="en-FR" sz="1700">
              <a:solidFill>
                <a:srgbClr val="3C3C3C"/>
              </a:solidFill>
              <a:latin typeface="Segoe UI"/>
              <a:cs typeface="Segoe UI"/>
            </a:endParaRPr>
          </a:p>
        </p:txBody>
      </p:sp>
      <p:sp>
        <p:nvSpPr>
          <p:cNvPr id="25" name="TextBox 24">
            <a:extLst>
              <a:ext uri="{FF2B5EF4-FFF2-40B4-BE49-F238E27FC236}">
                <a16:creationId xmlns:a16="http://schemas.microsoft.com/office/drawing/2014/main" id="{EF0412D6-C0F0-2C46-8409-46220E5439A1}"/>
              </a:ext>
            </a:extLst>
          </p:cNvPr>
          <p:cNvSpPr txBox="1"/>
          <p:nvPr/>
        </p:nvSpPr>
        <p:spPr>
          <a:xfrm>
            <a:off x="914400" y="2540000"/>
            <a:ext cx="4572000" cy="355600"/>
          </a:xfrm>
          <a:prstGeom prst="rect">
            <a:avLst/>
          </a:prstGeom>
          <a:noFill/>
        </p:spPr>
        <p:txBody>
          <a:bodyPr vertOverflow="overflow" vert="horz" wrap="square" rtlCol="0" anchor="t">
            <a:noAutofit/>
          </a:bodyPr>
          <a:lstStyle/>
          <a:p>
            <a:pPr algn="l"/>
            <a:r>
              <a:rPr lang="en-GB" sz="1900" b="1">
                <a:solidFill>
                  <a:srgbClr val="1A1A1A"/>
                </a:solidFill>
                <a:latin typeface="Segoe UI"/>
                <a:cs typeface="Segoe UI"/>
              </a:rPr>
              <a:t>Maintenance du système d'entrepôt</a:t>
            </a:r>
            <a:endParaRPr lang="en-FR" sz="1900" b="1">
              <a:solidFill>
                <a:srgbClr val="1A1A1A"/>
              </a:solidFill>
              <a:latin typeface="Segoe UI"/>
              <a:cs typeface="Segoe UI"/>
            </a:endParaRPr>
          </a:p>
        </p:txBody>
      </p:sp>
      <p:sp>
        <p:nvSpPr>
          <p:cNvPr id="26" name="TextBox 25">
            <a:extLst>
              <a:ext uri="{FF2B5EF4-FFF2-40B4-BE49-F238E27FC236}">
                <a16:creationId xmlns:a16="http://schemas.microsoft.com/office/drawing/2014/main" id="{C4A2E692-4705-3048-A6CD-502942B08484}"/>
              </a:ext>
            </a:extLst>
          </p:cNvPr>
          <p:cNvSpPr txBox="1"/>
          <p:nvPr/>
        </p:nvSpPr>
        <p:spPr>
          <a:xfrm>
            <a:off x="5588000" y="2540000"/>
            <a:ext cx="762000" cy="355600"/>
          </a:xfrm>
          <a:prstGeom prst="rect">
            <a:avLst/>
          </a:prstGeom>
          <a:noFill/>
        </p:spPr>
        <p:txBody>
          <a:bodyPr vertOverflow="overflow" vert="horz" wrap="square" rtlCol="0" anchor="t">
            <a:noAutofit/>
          </a:bodyPr>
          <a:lstStyle/>
          <a:p>
            <a:pPr algn="l"/>
            <a:r>
              <a:rPr lang="en-FR" sz="1900" b="1">
                <a:solidFill>
                  <a:srgbClr val="1F4E79"/>
                </a:solidFill>
                <a:latin typeface="Segoe UI"/>
                <a:cs typeface="Segoe UI"/>
              </a:rPr>
              <a:t>8,0</a:t>
            </a:r>
          </a:p>
        </p:txBody>
      </p:sp>
      <p:sp>
        <p:nvSpPr>
          <p:cNvPr id="27" name="TextBox 26">
            <a:extLst>
              <a:ext uri="{FF2B5EF4-FFF2-40B4-BE49-F238E27FC236}">
                <a16:creationId xmlns:a16="http://schemas.microsoft.com/office/drawing/2014/main" id="{3083F7AD-0C79-AB40-84AA-41BC1C37B04F}"/>
              </a:ext>
            </a:extLst>
          </p:cNvPr>
          <p:cNvSpPr txBox="1"/>
          <p:nvPr/>
        </p:nvSpPr>
        <p:spPr>
          <a:xfrm>
            <a:off x="6654800" y="2565400"/>
            <a:ext cx="4673600" cy="558800"/>
          </a:xfrm>
          <a:prstGeom prst="rect">
            <a:avLst/>
          </a:prstGeom>
          <a:noFill/>
        </p:spPr>
        <p:txBody>
          <a:bodyPr vertOverflow="overflow" vert="horz" wrap="square" rtlCol="0" anchor="t">
            <a:noAutofit/>
          </a:bodyPr>
          <a:lstStyle/>
          <a:p>
            <a:pPr algn="l"/>
            <a:r>
              <a:rPr lang="en-GB" sz="1700">
                <a:solidFill>
                  <a:srgbClr val="3C3C3C"/>
                </a:solidFill>
                <a:latin typeface="Segoe UI"/>
                <a:cs typeface="Segoe UI"/>
              </a:rPr>
              <a:t>compte partagé, porteurs inconnus</a:t>
            </a:r>
            <a:endParaRPr lang="en-FR" sz="1700">
              <a:solidFill>
                <a:srgbClr val="3C3C3C"/>
              </a:solidFill>
              <a:latin typeface="Segoe UI"/>
              <a:cs typeface="Segoe UI"/>
            </a:endParaRPr>
          </a:p>
        </p:txBody>
      </p:sp>
      <p:sp>
        <p:nvSpPr>
          <p:cNvPr id="28" name="TextBox 27">
            <a:extLst>
              <a:ext uri="{FF2B5EF4-FFF2-40B4-BE49-F238E27FC236}">
                <a16:creationId xmlns:a16="http://schemas.microsoft.com/office/drawing/2014/main" id="{E7AF145F-A0DE-8A49-9134-708F7F749AE9}"/>
              </a:ext>
            </a:extLst>
          </p:cNvPr>
          <p:cNvSpPr txBox="1"/>
          <p:nvPr/>
        </p:nvSpPr>
        <p:spPr>
          <a:xfrm>
            <a:off x="914400" y="3022600"/>
            <a:ext cx="3810000" cy="304800"/>
          </a:xfrm>
          <a:prstGeom prst="rect">
            <a:avLst/>
          </a:prstGeom>
          <a:noFill/>
        </p:spPr>
        <p:txBody>
          <a:bodyPr vertOverflow="overflow" vert="horz" wrap="square" rtlCol="0" anchor="t">
            <a:noAutofit/>
          </a:bodyPr>
          <a:lstStyle/>
          <a:p>
            <a:pPr algn="l"/>
            <a:r>
              <a:rPr lang="en-GB" sz="1500" b="1">
                <a:solidFill>
                  <a:srgbClr val="1F4E79"/>
                </a:solidFill>
                <a:latin typeface="Segoe UI"/>
                <a:cs typeface="Segoe UI"/>
              </a:rPr>
              <a:t>seuil écrit : 4,0</a:t>
            </a:r>
            <a:endParaRPr lang="en-FR" sz="1500" b="1">
              <a:solidFill>
                <a:srgbClr val="1F4E79"/>
              </a:solidFill>
              <a:latin typeface="Segoe UI"/>
              <a:cs typeface="Segoe UI"/>
            </a:endParaRPr>
          </a:p>
        </p:txBody>
      </p:sp>
      <p:sp>
        <p:nvSpPr>
          <p:cNvPr id="29" name="Rectangle 28">
            <a:extLst>
              <a:ext uri="{FF2B5EF4-FFF2-40B4-BE49-F238E27FC236}">
                <a16:creationId xmlns:a16="http://schemas.microsoft.com/office/drawing/2014/main" id="{961B3DAE-D54E-B645-B259-EED5C0CA69A9}"/>
              </a:ext>
            </a:extLst>
          </p:cNvPr>
          <p:cNvSpPr/>
          <p:nvPr/>
        </p:nvSpPr>
        <p:spPr>
          <a:xfrm>
            <a:off x="914400" y="3352800"/>
            <a:ext cx="10414000" cy="254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0" name="TextBox 29">
            <a:extLst>
              <a:ext uri="{FF2B5EF4-FFF2-40B4-BE49-F238E27FC236}">
                <a16:creationId xmlns:a16="http://schemas.microsoft.com/office/drawing/2014/main" id="{AF16BC22-BCD7-3D41-813A-F819BF6368F3}"/>
              </a:ext>
            </a:extLst>
          </p:cNvPr>
          <p:cNvSpPr txBox="1"/>
          <p:nvPr/>
        </p:nvSpPr>
        <p:spPr>
          <a:xfrm>
            <a:off x="914400" y="3505200"/>
            <a:ext cx="4572000" cy="355600"/>
          </a:xfrm>
          <a:prstGeom prst="rect">
            <a:avLst/>
          </a:prstGeom>
          <a:noFill/>
        </p:spPr>
        <p:txBody>
          <a:bodyPr vertOverflow="overflow" vert="horz" wrap="square" rtlCol="0" anchor="t">
            <a:noAutofit/>
          </a:bodyPr>
          <a:lstStyle/>
          <a:p>
            <a:pPr algn="l"/>
            <a:r>
              <a:rPr lang="en-GB" sz="1900">
                <a:solidFill>
                  <a:srgbClr val="3C3C3C"/>
                </a:solidFill>
                <a:latin typeface="Segoe UI"/>
                <a:cs typeface="Segoe UI"/>
              </a:rPr>
              <a:t>Trois autres</a:t>
            </a:r>
            <a:endParaRPr lang="en-FR" sz="1900">
              <a:solidFill>
                <a:srgbClr val="3C3C3C"/>
              </a:solidFill>
              <a:latin typeface="Segoe UI"/>
              <a:cs typeface="Segoe UI"/>
            </a:endParaRPr>
          </a:p>
        </p:txBody>
      </p:sp>
      <p:sp>
        <p:nvSpPr>
          <p:cNvPr id="31" name="TextBox 30">
            <a:extLst>
              <a:ext uri="{FF2B5EF4-FFF2-40B4-BE49-F238E27FC236}">
                <a16:creationId xmlns:a16="http://schemas.microsoft.com/office/drawing/2014/main" id="{117A4B51-024E-2146-9BDF-42ED737B7725}"/>
              </a:ext>
            </a:extLst>
          </p:cNvPr>
          <p:cNvSpPr txBox="1"/>
          <p:nvPr/>
        </p:nvSpPr>
        <p:spPr>
          <a:xfrm>
            <a:off x="5588000" y="3505200"/>
            <a:ext cx="762000" cy="355600"/>
          </a:xfrm>
          <a:prstGeom prst="rect">
            <a:avLst/>
          </a:prstGeom>
          <a:noFill/>
        </p:spPr>
        <p:txBody>
          <a:bodyPr vertOverflow="overflow" vert="horz" wrap="square" rtlCol="0" anchor="t">
            <a:noAutofit/>
          </a:bodyPr>
          <a:lstStyle/>
          <a:p>
            <a:pPr algn="l"/>
            <a:r>
              <a:rPr lang="en-FR" sz="1900">
                <a:solidFill>
                  <a:srgbClr val="3C3C3C"/>
                </a:solidFill>
                <a:latin typeface="Segoe UI"/>
                <a:cs typeface="Segoe UI"/>
              </a:rPr>
              <a:t>≤ 1,0</a:t>
            </a:r>
          </a:p>
        </p:txBody>
      </p:sp>
      <p:sp>
        <p:nvSpPr>
          <p:cNvPr id="32" name="Rectangle 31">
            <a:extLst>
              <a:ext uri="{FF2B5EF4-FFF2-40B4-BE49-F238E27FC236}">
                <a16:creationId xmlns:a16="http://schemas.microsoft.com/office/drawing/2014/main" id="{FCFC9218-3F05-EA45-A795-6F9110449559}"/>
              </a:ext>
            </a:extLst>
          </p:cNvPr>
          <p:cNvSpPr/>
          <p:nvPr/>
        </p:nvSpPr>
        <p:spPr>
          <a:xfrm>
            <a:off x="914400" y="4165600"/>
            <a:ext cx="10414000" cy="12700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3" name="TextBox 32">
            <a:extLst>
              <a:ext uri="{FF2B5EF4-FFF2-40B4-BE49-F238E27FC236}">
                <a16:creationId xmlns:a16="http://schemas.microsoft.com/office/drawing/2014/main" id="{0139590C-5092-734A-8940-2A678889DB05}"/>
              </a:ext>
            </a:extLst>
          </p:cNvPr>
          <p:cNvSpPr txBox="1"/>
          <p:nvPr/>
        </p:nvSpPr>
        <p:spPr>
          <a:xfrm>
            <a:off x="1270000" y="4419600"/>
            <a:ext cx="7366000" cy="711200"/>
          </a:xfrm>
          <a:prstGeom prst="rect">
            <a:avLst/>
          </a:prstGeom>
          <a:noFill/>
        </p:spPr>
        <p:txBody>
          <a:bodyPr vertOverflow="overflow" vert="horz" wrap="square" rtlCol="0" anchor="t">
            <a:noAutofit/>
          </a:bodyPr>
          <a:lstStyle/>
          <a:p>
            <a:pPr algn="l"/>
            <a:r>
              <a:rPr lang="en-GB">
                <a:solidFill>
                  <a:srgbClr val="1A1A1A"/>
                </a:solidFill>
                <a:latin typeface="Segoe UI"/>
                <a:cs typeface="Segoe UI"/>
              </a:rPr>
              <a:t>2017 — un transporteur européen, non visé, non piraté, installe de bonne foi la mise à jour d'un fournisseur compromis.</a:t>
            </a:r>
            <a:endParaRPr lang="en-FR">
              <a:solidFill>
                <a:srgbClr val="1A1A1A"/>
              </a:solidFill>
              <a:latin typeface="Segoe UI"/>
              <a:cs typeface="Segoe UI"/>
            </a:endParaRPr>
          </a:p>
        </p:txBody>
      </p:sp>
      <p:sp>
        <p:nvSpPr>
          <p:cNvPr id="34" name="TextBox 33">
            <a:extLst>
              <a:ext uri="{FF2B5EF4-FFF2-40B4-BE49-F238E27FC236}">
                <a16:creationId xmlns:a16="http://schemas.microsoft.com/office/drawing/2014/main" id="{6B2DB7E8-F9AD-1E4C-9990-371CA609D43F}"/>
              </a:ext>
            </a:extLst>
          </p:cNvPr>
          <p:cNvSpPr txBox="1"/>
          <p:nvPr/>
        </p:nvSpPr>
        <p:spPr>
          <a:xfrm>
            <a:off x="8890000" y="4419600"/>
            <a:ext cx="2133600" cy="762000"/>
          </a:xfrm>
          <a:prstGeom prst="rect">
            <a:avLst/>
          </a:prstGeom>
          <a:noFill/>
        </p:spPr>
        <p:txBody>
          <a:bodyPr vertOverflow="overflow" vert="horz" wrap="square" rtlCol="0" anchor="t">
            <a:noAutofit/>
          </a:bodyPr>
          <a:lstStyle/>
          <a:p>
            <a:pPr algn="l"/>
            <a:r>
              <a:rPr lang="en-GB" sz="2000" b="1">
                <a:solidFill>
                  <a:srgbClr val="1F4E79"/>
                </a:solidFill>
                <a:latin typeface="Segoe UI"/>
                <a:cs typeface="Segoe UI"/>
              </a:rPr>
              <a:t>250–300 M$
en un trimestre</a:t>
            </a:r>
            <a:endParaRPr lang="en-FR" sz="2000" b="1">
              <a:solidFill>
                <a:srgbClr val="1F4E79"/>
              </a:solidFill>
              <a:latin typeface="Segoe UI"/>
              <a:cs typeface="Segoe UI"/>
            </a:endParaRPr>
          </a:p>
        </p:txBody>
      </p:sp>
      <p:sp>
        <p:nvSpPr>
          <p:cNvPr id="35" name="TextBox 34">
            <a:extLst>
              <a:ext uri="{FF2B5EF4-FFF2-40B4-BE49-F238E27FC236}">
                <a16:creationId xmlns:a16="http://schemas.microsoft.com/office/drawing/2014/main" id="{EC019669-50A4-8C4C-B698-9F52724B0049}"/>
              </a:ext>
            </a:extLst>
          </p:cNvPr>
          <p:cNvSpPr txBox="1"/>
          <p:nvPr/>
        </p:nvSpPr>
        <p:spPr>
          <a:xfrm>
            <a:off x="914400" y="5638800"/>
            <a:ext cx="10414000" cy="2794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Preuve : S6-06-ecosystem-criticites-5PP-2-selected.jpg · en annexe A4, la carte de dangerosité</a:t>
            </a:r>
            <a:endParaRPr lang="en-FR" sz="1500">
              <a:solidFill>
                <a:srgbClr val="3C3C3C"/>
              </a:solidFill>
              <a:latin typeface="Segoe UI"/>
              <a:cs typeface="Segoe UI"/>
            </a:endParaRPr>
          </a:p>
        </p:txBody>
      </p:sp>
    </p:spTree>
    <p:extLst>
      <p:ext uri="{BB962C8B-B14F-4D97-AF65-F5344CB8AC3E}">
        <p14:creationId xmlns:p14="http://schemas.microsoft.com/office/powerpoint/2010/main" val="530645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C707172-664B-B546-8549-F5A9C215FA02}"/>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La règle que le groupe se donne</a:t>
            </a:r>
            <a:endParaRPr lang="en-FR" sz="3200" b="1">
              <a:solidFill>
                <a:srgbClr val="1F4E79"/>
              </a:solidFill>
              <a:latin typeface="Segoe UI"/>
              <a:cs typeface="Segoe UI"/>
            </a:endParaRPr>
          </a:p>
        </p:txBody>
      </p:sp>
      <p:sp>
        <p:nvSpPr>
          <p:cNvPr id="3" name="Rectangle 2">
            <a:extLst>
              <a:ext uri="{FF2B5EF4-FFF2-40B4-BE49-F238E27FC236}">
                <a16:creationId xmlns:a16="http://schemas.microsoft.com/office/drawing/2014/main" id="{49FAAFDF-0A7A-CC48-B098-64049034169A}"/>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AD1E337D-F6FA-C443-A03B-03D746B9CA27}"/>
              </a:ext>
            </a:extLst>
          </p:cNvPr>
          <p:cNvSpPr txBox="1"/>
          <p:nvPr/>
        </p:nvSpPr>
        <p:spPr>
          <a:xfrm>
            <a:off x="914400" y="1371600"/>
            <a:ext cx="10414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Aucun contrat donnant accès à un actif critique n'est signé ni renouvelé sans trois exigences :</a:t>
            </a:r>
            <a:endParaRPr lang="en-FR" sz="2000">
              <a:solidFill>
                <a:srgbClr val="1A1A1A"/>
              </a:solidFill>
              <a:latin typeface="Segoe UI"/>
              <a:cs typeface="Segoe UI"/>
            </a:endParaRPr>
          </a:p>
        </p:txBody>
      </p:sp>
      <p:sp>
        <p:nvSpPr>
          <p:cNvPr id="5" name="Oval 4">
            <a:extLst>
              <a:ext uri="{FF2B5EF4-FFF2-40B4-BE49-F238E27FC236}">
                <a16:creationId xmlns:a16="http://schemas.microsoft.com/office/drawing/2014/main" id="{12692621-B8E9-E74E-A45F-82E5EDC8D6D5}"/>
              </a:ext>
            </a:extLst>
          </p:cNvPr>
          <p:cNvSpPr/>
          <p:nvPr/>
        </p:nvSpPr>
        <p:spPr>
          <a:xfrm>
            <a:off x="965200" y="2006600"/>
            <a:ext cx="508000" cy="508000"/>
          </a:xfrm>
          <a:prstGeom prst="ellipse">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FR" sz="2000" b="1">
                <a:solidFill>
                  <a:srgbClr val="FFFFFF"/>
                </a:solidFill>
                <a:latin typeface="Segoe UI"/>
                <a:cs typeface="Segoe UI"/>
              </a:rPr>
              <a:t>1</a:t>
            </a:r>
          </a:p>
        </p:txBody>
      </p:sp>
      <p:sp>
        <p:nvSpPr>
          <p:cNvPr id="6" name="TextBox 5">
            <a:extLst>
              <a:ext uri="{FF2B5EF4-FFF2-40B4-BE49-F238E27FC236}">
                <a16:creationId xmlns:a16="http://schemas.microsoft.com/office/drawing/2014/main" id="{DF92322D-5100-0A4A-847F-CAE8D1FDB628}"/>
              </a:ext>
            </a:extLst>
          </p:cNvPr>
          <p:cNvSpPr txBox="1"/>
          <p:nvPr/>
        </p:nvSpPr>
        <p:spPr>
          <a:xfrm>
            <a:off x="1727200" y="2082800"/>
            <a:ext cx="9601200" cy="406400"/>
          </a:xfrm>
          <a:prstGeom prst="rect">
            <a:avLst/>
          </a:prstGeom>
          <a:noFill/>
        </p:spPr>
        <p:txBody>
          <a:bodyPr vertOverflow="overflow" vert="horz" wrap="square" rtlCol="0" anchor="t">
            <a:noAutofit/>
          </a:bodyPr>
          <a:lstStyle/>
          <a:p>
            <a:pPr algn="l"/>
            <a:r>
              <a:rPr lang="en-GB" sz="2200">
                <a:solidFill>
                  <a:srgbClr val="1A1A1A"/>
                </a:solidFill>
                <a:latin typeface="Segoe UI"/>
                <a:cs typeface="Segoe UI"/>
              </a:rPr>
              <a:t>journalisation par utilisateur nommé — savoir qui a fait quoi</a:t>
            </a:r>
            <a:endParaRPr lang="en-FR" sz="2200">
              <a:solidFill>
                <a:srgbClr val="1A1A1A"/>
              </a:solidFill>
              <a:latin typeface="Segoe UI"/>
              <a:cs typeface="Segoe UI"/>
            </a:endParaRPr>
          </a:p>
        </p:txBody>
      </p:sp>
      <p:sp>
        <p:nvSpPr>
          <p:cNvPr id="7" name="Oval 6">
            <a:extLst>
              <a:ext uri="{FF2B5EF4-FFF2-40B4-BE49-F238E27FC236}">
                <a16:creationId xmlns:a16="http://schemas.microsoft.com/office/drawing/2014/main" id="{DC64C3F5-822A-A042-8AB7-48D62CFE8222}"/>
              </a:ext>
            </a:extLst>
          </p:cNvPr>
          <p:cNvSpPr/>
          <p:nvPr/>
        </p:nvSpPr>
        <p:spPr>
          <a:xfrm>
            <a:off x="965200" y="2743200"/>
            <a:ext cx="508000" cy="508000"/>
          </a:xfrm>
          <a:prstGeom prst="ellipse">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FR" sz="2000" b="1">
                <a:solidFill>
                  <a:srgbClr val="FFFFFF"/>
                </a:solidFill>
                <a:latin typeface="Segoe UI"/>
                <a:cs typeface="Segoe UI"/>
              </a:rPr>
              <a:t>2</a:t>
            </a:r>
          </a:p>
        </p:txBody>
      </p:sp>
      <p:sp>
        <p:nvSpPr>
          <p:cNvPr id="8" name="TextBox 7">
            <a:extLst>
              <a:ext uri="{FF2B5EF4-FFF2-40B4-BE49-F238E27FC236}">
                <a16:creationId xmlns:a16="http://schemas.microsoft.com/office/drawing/2014/main" id="{0BDB12CC-8EF6-6C4B-A858-4959BF5F72DA}"/>
              </a:ext>
            </a:extLst>
          </p:cNvPr>
          <p:cNvSpPr txBox="1"/>
          <p:nvPr/>
        </p:nvSpPr>
        <p:spPr>
          <a:xfrm>
            <a:off x="1727200" y="2819400"/>
            <a:ext cx="9601200" cy="406400"/>
          </a:xfrm>
          <a:prstGeom prst="rect">
            <a:avLst/>
          </a:prstGeom>
          <a:noFill/>
        </p:spPr>
        <p:txBody>
          <a:bodyPr vertOverflow="overflow" vert="horz" wrap="square" rtlCol="0" anchor="t">
            <a:noAutofit/>
          </a:bodyPr>
          <a:lstStyle/>
          <a:p>
            <a:pPr algn="l"/>
            <a:r>
              <a:rPr lang="en-GB" sz="2200">
                <a:solidFill>
                  <a:srgbClr val="1A1A1A"/>
                </a:solidFill>
                <a:latin typeface="Segoe UI"/>
                <a:cs typeface="Segoe UI"/>
              </a:rPr>
              <a:t>notification sous 24 heures d'une compromission chez le prestataire</a:t>
            </a:r>
            <a:endParaRPr lang="en-FR" sz="2200">
              <a:solidFill>
                <a:srgbClr val="1A1A1A"/>
              </a:solidFill>
              <a:latin typeface="Segoe UI"/>
              <a:cs typeface="Segoe UI"/>
            </a:endParaRPr>
          </a:p>
        </p:txBody>
      </p:sp>
      <p:sp>
        <p:nvSpPr>
          <p:cNvPr id="9" name="Oval 8">
            <a:extLst>
              <a:ext uri="{FF2B5EF4-FFF2-40B4-BE49-F238E27FC236}">
                <a16:creationId xmlns:a16="http://schemas.microsoft.com/office/drawing/2014/main" id="{6B00C311-0E6C-AA4E-A290-BF091227CBC4}"/>
              </a:ext>
            </a:extLst>
          </p:cNvPr>
          <p:cNvSpPr/>
          <p:nvPr/>
        </p:nvSpPr>
        <p:spPr>
          <a:xfrm>
            <a:off x="965200" y="3479800"/>
            <a:ext cx="508000" cy="508000"/>
          </a:xfrm>
          <a:prstGeom prst="ellipse">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FR" sz="2000" b="1">
                <a:solidFill>
                  <a:srgbClr val="FFFFFF"/>
                </a:solidFill>
                <a:latin typeface="Segoe UI"/>
                <a:cs typeface="Segoe UI"/>
              </a:rPr>
              <a:t>3</a:t>
            </a:r>
          </a:p>
        </p:txBody>
      </p:sp>
      <p:sp>
        <p:nvSpPr>
          <p:cNvPr id="10" name="TextBox 9">
            <a:extLst>
              <a:ext uri="{FF2B5EF4-FFF2-40B4-BE49-F238E27FC236}">
                <a16:creationId xmlns:a16="http://schemas.microsoft.com/office/drawing/2014/main" id="{981EB369-CB9D-DA4A-93D6-2CE1B053F1B3}"/>
              </a:ext>
            </a:extLst>
          </p:cNvPr>
          <p:cNvSpPr txBox="1"/>
          <p:nvPr/>
        </p:nvSpPr>
        <p:spPr>
          <a:xfrm>
            <a:off x="1727200" y="3556000"/>
            <a:ext cx="9601200" cy="406400"/>
          </a:xfrm>
          <a:prstGeom prst="rect">
            <a:avLst/>
          </a:prstGeom>
          <a:noFill/>
        </p:spPr>
        <p:txBody>
          <a:bodyPr vertOverflow="overflow" vert="horz" wrap="square" rtlCol="0" anchor="t">
            <a:noAutofit/>
          </a:bodyPr>
          <a:lstStyle/>
          <a:p>
            <a:pPr algn="l"/>
            <a:r>
              <a:rPr lang="en-GB" sz="2200">
                <a:solidFill>
                  <a:srgbClr val="1A1A1A"/>
                </a:solidFill>
                <a:latin typeface="Segoe UI"/>
                <a:cs typeface="Segoe UI"/>
              </a:rPr>
              <a:t>réversibilité — pouvoir partir</a:t>
            </a:r>
            <a:endParaRPr lang="en-FR" sz="2200">
              <a:solidFill>
                <a:srgbClr val="1A1A1A"/>
              </a:solidFill>
              <a:latin typeface="Segoe UI"/>
              <a:cs typeface="Segoe UI"/>
            </a:endParaRPr>
          </a:p>
        </p:txBody>
      </p:sp>
      <p:sp>
        <p:nvSpPr>
          <p:cNvPr id="11" name="TextBox 10">
            <a:extLst>
              <a:ext uri="{FF2B5EF4-FFF2-40B4-BE49-F238E27FC236}">
                <a16:creationId xmlns:a16="http://schemas.microsoft.com/office/drawing/2014/main" id="{5A43774E-C15D-5C46-BA35-3BAC66EEF88B}"/>
              </a:ext>
            </a:extLst>
          </p:cNvPr>
          <p:cNvSpPr txBox="1"/>
          <p:nvPr/>
        </p:nvSpPr>
        <p:spPr>
          <a:xfrm>
            <a:off x="1727200" y="4292600"/>
            <a:ext cx="9601200" cy="355600"/>
          </a:xfrm>
          <a:prstGeom prst="rect">
            <a:avLst/>
          </a:prstGeom>
          <a:noFill/>
        </p:spPr>
        <p:txBody>
          <a:bodyPr vertOverflow="overflow" vert="horz" wrap="square" rtlCol="0" anchor="t">
            <a:noAutofit/>
          </a:bodyPr>
          <a:lstStyle/>
          <a:p>
            <a:pPr algn="l"/>
            <a:r>
              <a:rPr lang="en-GB" sz="1900" i="1">
                <a:solidFill>
                  <a:srgbClr val="3C3C3C"/>
                </a:solidFill>
                <a:latin typeface="Segoe UI"/>
                <a:cs typeface="Segoe UI"/>
              </a:rPr>
              <a:t>Opposables par la Direction Juridique </a:t>
            </a:r>
            <a:r>
              <a:rPr lang="en-GB" sz="1900" b="1" i="1">
                <a:solidFill>
                  <a:srgbClr val="3C3C3C"/>
                </a:solidFill>
                <a:latin typeface="Segoe UI"/>
                <a:cs typeface="Segoe UI"/>
              </a:rPr>
              <a:t>avant</a:t>
            </a:r>
            <a:r>
              <a:rPr lang="en-GB" sz="1900" i="1">
                <a:solidFill>
                  <a:srgbClr val="3C3C3C"/>
                </a:solidFill>
                <a:latin typeface="Segoe UI"/>
                <a:cs typeface="Segoe UI"/>
              </a:rPr>
              <a:t> signature.</a:t>
            </a:r>
            <a:endParaRPr lang="en-FR" sz="1900" i="1">
              <a:solidFill>
                <a:srgbClr val="3C3C3C"/>
              </a:solidFill>
              <a:latin typeface="Segoe UI"/>
              <a:cs typeface="Segoe UI"/>
            </a:endParaRPr>
          </a:p>
        </p:txBody>
      </p:sp>
      <p:sp>
        <p:nvSpPr>
          <p:cNvPr id="12" name="Rectangle 11">
            <a:extLst>
              <a:ext uri="{FF2B5EF4-FFF2-40B4-BE49-F238E27FC236}">
                <a16:creationId xmlns:a16="http://schemas.microsoft.com/office/drawing/2014/main" id="{4A4733BD-7817-554A-8830-B40084C046F5}"/>
              </a:ext>
            </a:extLst>
          </p:cNvPr>
          <p:cNvSpPr/>
          <p:nvPr/>
        </p:nvSpPr>
        <p:spPr>
          <a:xfrm>
            <a:off x="914400" y="4876800"/>
            <a:ext cx="10414000" cy="10160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3" name="TextBox 12">
            <a:extLst>
              <a:ext uri="{FF2B5EF4-FFF2-40B4-BE49-F238E27FC236}">
                <a16:creationId xmlns:a16="http://schemas.microsoft.com/office/drawing/2014/main" id="{12D8B095-4C44-A142-93D3-D3E618B3C321}"/>
              </a:ext>
            </a:extLst>
          </p:cNvPr>
          <p:cNvSpPr txBox="1"/>
          <p:nvPr/>
        </p:nvSpPr>
        <p:spPr>
          <a:xfrm>
            <a:off x="1270000" y="4902200"/>
            <a:ext cx="9702800" cy="990600"/>
          </a:xfrm>
          <a:prstGeom prst="rect">
            <a:avLst/>
          </a:prstGeom>
          <a:noFill/>
        </p:spPr>
        <p:txBody>
          <a:bodyPr vertOverflow="overflow" vert="horz" wrap="square" rtlCol="0" anchor="t">
            <a:noAutofit/>
          </a:bodyPr>
          <a:lstStyle/>
          <a:p>
            <a:pPr algn="l"/>
            <a:r>
              <a:rPr lang="en-GB" sz="2000" b="1" dirty="0">
                <a:solidFill>
                  <a:srgbClr val="1F4E79"/>
                </a:solidFill>
                <a:latin typeface="Segoe UI"/>
                <a:cs typeface="Segoe UI"/>
              </a:rPr>
              <a:t>Première application : le </a:t>
            </a:r>
            <a:r>
              <a:rPr lang="en-GB" sz="2000" b="1" dirty="0" err="1">
                <a:solidFill>
                  <a:srgbClr val="1F4E79"/>
                </a:solidFill>
                <a:latin typeface="Segoe UI"/>
                <a:cs typeface="Segoe UI"/>
              </a:rPr>
              <a:t>contrat</a:t>
            </a:r>
            <a:r>
              <a:rPr lang="en-GB" sz="2000" b="1" dirty="0">
                <a:solidFill>
                  <a:srgbClr val="1F4E79"/>
                </a:solidFill>
                <a:latin typeface="Segoe UI"/>
                <a:cs typeface="Segoe UI"/>
              </a:rPr>
              <a:t> de maintenance du </a:t>
            </a:r>
            <a:r>
              <a:rPr lang="en-GB" sz="2000" b="1" dirty="0" err="1">
                <a:solidFill>
                  <a:srgbClr val="1F4E79"/>
                </a:solidFill>
                <a:latin typeface="Segoe UI"/>
                <a:cs typeface="Segoe UI"/>
              </a:rPr>
              <a:t>système</a:t>
            </a:r>
            <a:r>
              <a:rPr lang="en-GB" sz="2000" b="1" dirty="0">
                <a:solidFill>
                  <a:srgbClr val="1F4E79"/>
                </a:solidFill>
                <a:latin typeface="Segoe UI"/>
                <a:cs typeface="Segoe UI"/>
              </a:rPr>
              <a:t> de gestion </a:t>
            </a:r>
            <a:r>
              <a:rPr lang="en-GB" sz="2000" b="1" dirty="0" err="1">
                <a:solidFill>
                  <a:srgbClr val="1F4E79"/>
                </a:solidFill>
                <a:latin typeface="Segoe UI"/>
                <a:cs typeface="Segoe UI"/>
              </a:rPr>
              <a:t>d'entrepôt</a:t>
            </a:r>
            <a:r>
              <a:rPr lang="en-GB" sz="2000" b="1" dirty="0">
                <a:solidFill>
                  <a:srgbClr val="1F4E79"/>
                </a:solidFill>
                <a:latin typeface="Segoe UI"/>
                <a:cs typeface="Segoe UI"/>
              </a:rPr>
              <a:t>, à </a:t>
            </a:r>
            <a:r>
              <a:rPr lang="en-GB" sz="2000" b="1" dirty="0" err="1">
                <a:solidFill>
                  <a:srgbClr val="1F4E79"/>
                </a:solidFill>
                <a:latin typeface="Segoe UI"/>
                <a:cs typeface="Segoe UI"/>
              </a:rPr>
              <a:t>renouvellement</a:t>
            </a:r>
            <a:r>
              <a:rPr lang="en-GB" sz="2000" b="1" dirty="0">
                <a:solidFill>
                  <a:srgbClr val="1F4E79"/>
                </a:solidFill>
                <a:latin typeface="Segoe UI"/>
                <a:cs typeface="Segoe UI"/>
              </a:rPr>
              <a:t> </a:t>
            </a:r>
            <a:r>
              <a:rPr lang="en-GB" sz="2000" b="1" dirty="0" err="1">
                <a:solidFill>
                  <a:srgbClr val="1F4E79"/>
                </a:solidFill>
                <a:latin typeface="Segoe UI"/>
                <a:cs typeface="Segoe UI"/>
              </a:rPr>
              <a:t>en</a:t>
            </a:r>
            <a:r>
              <a:rPr lang="en-GB" sz="2000" b="1" dirty="0">
                <a:solidFill>
                  <a:srgbClr val="1F4E79"/>
                </a:solidFill>
                <a:latin typeface="Segoe UI"/>
                <a:cs typeface="Segoe UI"/>
              </a:rPr>
              <a:t> </a:t>
            </a:r>
            <a:r>
              <a:rPr lang="en-GB" sz="2000" b="1" dirty="0" err="1">
                <a:solidFill>
                  <a:srgbClr val="1F4E79"/>
                </a:solidFill>
                <a:latin typeface="Segoe UI"/>
                <a:cs typeface="Segoe UI"/>
              </a:rPr>
              <a:t>novembre</a:t>
            </a:r>
            <a:r>
              <a:rPr lang="en-GB" sz="2000" b="1" dirty="0">
                <a:solidFill>
                  <a:srgbClr val="1F4E79"/>
                </a:solidFill>
                <a:latin typeface="Segoe UI"/>
                <a:cs typeface="Segoe UI"/>
              </a:rPr>
              <a:t> 2026 — il </a:t>
            </a:r>
            <a:r>
              <a:rPr lang="en-GB" sz="2000" b="1" dirty="0" err="1">
                <a:solidFill>
                  <a:srgbClr val="1F4E79"/>
                </a:solidFill>
                <a:latin typeface="Segoe UI"/>
                <a:cs typeface="Segoe UI"/>
              </a:rPr>
              <a:t>n'en</a:t>
            </a:r>
            <a:r>
              <a:rPr lang="en-GB" sz="2000" b="1" dirty="0">
                <a:solidFill>
                  <a:srgbClr val="1F4E79"/>
                </a:solidFill>
                <a:latin typeface="Segoe UI"/>
                <a:cs typeface="Segoe UI"/>
              </a:rPr>
              <a:t> </a:t>
            </a:r>
            <a:r>
              <a:rPr lang="en-GB" sz="2000" b="1" dirty="0" err="1">
                <a:solidFill>
                  <a:srgbClr val="1F4E79"/>
                </a:solidFill>
                <a:latin typeface="Segoe UI"/>
                <a:cs typeface="Segoe UI"/>
              </a:rPr>
              <a:t>porte</a:t>
            </a:r>
            <a:r>
              <a:rPr lang="en-GB" sz="2000" b="1" dirty="0">
                <a:solidFill>
                  <a:srgbClr val="1F4E79"/>
                </a:solidFill>
                <a:latin typeface="Segoe UI"/>
                <a:cs typeface="Segoe UI"/>
              </a:rPr>
              <a:t> </a:t>
            </a:r>
            <a:r>
              <a:rPr lang="en-GB" sz="2000" b="1" dirty="0" err="1">
                <a:solidFill>
                  <a:srgbClr val="1F4E79"/>
                </a:solidFill>
                <a:latin typeface="Segoe UI"/>
                <a:cs typeface="Segoe UI"/>
              </a:rPr>
              <a:t>aujourd'hui</a:t>
            </a:r>
            <a:r>
              <a:rPr lang="en-GB" sz="2000" b="1" dirty="0">
                <a:solidFill>
                  <a:srgbClr val="1F4E79"/>
                </a:solidFill>
                <a:latin typeface="Segoe UI"/>
                <a:cs typeface="Segoe UI"/>
              </a:rPr>
              <a:t> </a:t>
            </a:r>
            <a:r>
              <a:rPr lang="en-GB" sz="2000" b="1" dirty="0" err="1">
                <a:solidFill>
                  <a:srgbClr val="1F4E79"/>
                </a:solidFill>
                <a:latin typeface="Segoe UI"/>
                <a:cs typeface="Segoe UI"/>
              </a:rPr>
              <a:t>aucune</a:t>
            </a:r>
            <a:r>
              <a:rPr lang="en-GB" sz="2000" b="1" dirty="0">
                <a:solidFill>
                  <a:srgbClr val="1F4E79"/>
                </a:solidFill>
                <a:latin typeface="Segoe UI"/>
                <a:cs typeface="Segoe UI"/>
              </a:rPr>
              <a:t> des trois.</a:t>
            </a:r>
            <a:endParaRPr lang="en-FR" sz="2000" b="1" dirty="0">
              <a:solidFill>
                <a:srgbClr val="1F4E79"/>
              </a:solidFill>
              <a:latin typeface="Segoe UI"/>
              <a:cs typeface="Segoe UI"/>
            </a:endParaRPr>
          </a:p>
        </p:txBody>
      </p:sp>
    </p:spTree>
    <p:extLst>
      <p:ext uri="{BB962C8B-B14F-4D97-AF65-F5344CB8AC3E}">
        <p14:creationId xmlns:p14="http://schemas.microsoft.com/office/powerpoint/2010/main" val="15223416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BD78AA-1CB0-D94E-9874-127B3AA1D256}"/>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Le registre après traitement</a:t>
            </a:r>
            <a:endParaRPr lang="en-FR" sz="3200" b="1">
              <a:solidFill>
                <a:srgbClr val="1F4E79"/>
              </a:solidFill>
              <a:latin typeface="Segoe UI"/>
              <a:cs typeface="Segoe UI"/>
            </a:endParaRPr>
          </a:p>
        </p:txBody>
      </p:sp>
      <p:sp>
        <p:nvSpPr>
          <p:cNvPr id="3" name="Rectangle 2">
            <a:extLst>
              <a:ext uri="{FF2B5EF4-FFF2-40B4-BE49-F238E27FC236}">
                <a16:creationId xmlns:a16="http://schemas.microsoft.com/office/drawing/2014/main" id="{DDB74797-04A1-7D43-801F-E4461E0D0211}"/>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F508B361-B078-5744-87E5-F7F9D3A39747}"/>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Huit scénarios au registre. Après traitement, aucun ne reste au-dessus de la ligne.</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4D896AEF-6CFD-DF4B-BF3E-FF0E05333286}"/>
              </a:ext>
            </a:extLst>
          </p:cNvPr>
          <p:cNvSpPr txBox="1"/>
          <p:nvPr/>
        </p:nvSpPr>
        <p:spPr>
          <a:xfrm>
            <a:off x="6604000" y="2159000"/>
            <a:ext cx="4724400" cy="406400"/>
          </a:xfrm>
          <a:prstGeom prst="rect">
            <a:avLst/>
          </a:prstGeom>
          <a:noFill/>
        </p:spPr>
        <p:txBody>
          <a:bodyPr vertOverflow="overflow" vert="horz" wrap="square" rtlCol="0" anchor="t">
            <a:noAutofit/>
          </a:bodyPr>
          <a:lstStyle/>
          <a:p>
            <a:pPr algn="l"/>
            <a:r>
              <a:rPr lang="en-GB" sz="2200" b="1">
                <a:solidFill>
                  <a:srgbClr val="1F4E79"/>
                </a:solidFill>
                <a:latin typeface="Segoe UI"/>
                <a:cs typeface="Segoe UI"/>
              </a:rPr>
              <a:t>Nous ne fermons aucun risque.</a:t>
            </a:r>
            <a:endParaRPr lang="en-FR" sz="2200" b="1">
              <a:solidFill>
                <a:srgbClr val="1F4E79"/>
              </a:solidFill>
              <a:latin typeface="Segoe UI"/>
              <a:cs typeface="Segoe UI"/>
            </a:endParaRPr>
          </a:p>
        </p:txBody>
      </p:sp>
      <p:sp>
        <p:nvSpPr>
          <p:cNvPr id="6" name="TextBox 5">
            <a:extLst>
              <a:ext uri="{FF2B5EF4-FFF2-40B4-BE49-F238E27FC236}">
                <a16:creationId xmlns:a16="http://schemas.microsoft.com/office/drawing/2014/main" id="{612D8594-A029-0046-80F2-6E2CEBBF035B}"/>
              </a:ext>
            </a:extLst>
          </p:cNvPr>
          <p:cNvSpPr txBox="1"/>
          <p:nvPr/>
        </p:nvSpPr>
        <p:spPr>
          <a:xfrm>
            <a:off x="6604000" y="2667000"/>
            <a:ext cx="4724400" cy="965200"/>
          </a:xfrm>
          <a:prstGeom prst="rect">
            <a:avLst/>
          </a:prstGeom>
          <a:noFill/>
        </p:spPr>
        <p:txBody>
          <a:bodyPr vertOverflow="overflow" vert="horz" wrap="square" rtlCol="0" anchor="t">
            <a:noAutofit/>
          </a:bodyPr>
          <a:lstStyle/>
          <a:p>
            <a:pPr algn="l"/>
            <a:r>
              <a:rPr lang="en-GB" sz="1700">
                <a:solidFill>
                  <a:srgbClr val="1A1A1A"/>
                </a:solidFill>
                <a:latin typeface="Segoe UI"/>
                <a:cs typeface="Segoe UI"/>
              </a:rPr>
              <a:t>Nous les faisons tous passer d'inacceptable à
tolérable-formalisé : daté, surveillé, confié à un
propriétaire nommé.</a:t>
            </a:r>
            <a:endParaRPr lang="en-FR" sz="1700">
              <a:solidFill>
                <a:srgbClr val="1A1A1A"/>
              </a:solidFill>
              <a:latin typeface="Segoe UI"/>
              <a:cs typeface="Segoe UI"/>
            </a:endParaRPr>
          </a:p>
        </p:txBody>
      </p:sp>
      <p:sp>
        <p:nvSpPr>
          <p:cNvPr id="7" name="Rectangle 6">
            <a:extLst>
              <a:ext uri="{FF2B5EF4-FFF2-40B4-BE49-F238E27FC236}">
                <a16:creationId xmlns:a16="http://schemas.microsoft.com/office/drawing/2014/main" id="{B9A9F5EF-B931-9142-8D3F-D0D8815B4CD8}"/>
              </a:ext>
            </a:extLst>
          </p:cNvPr>
          <p:cNvSpPr/>
          <p:nvPr/>
        </p:nvSpPr>
        <p:spPr>
          <a:xfrm>
            <a:off x="6604000" y="3962400"/>
            <a:ext cx="4724400" cy="8890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8" name="TextBox 7">
            <a:extLst>
              <a:ext uri="{FF2B5EF4-FFF2-40B4-BE49-F238E27FC236}">
                <a16:creationId xmlns:a16="http://schemas.microsoft.com/office/drawing/2014/main" id="{C58C52BD-F85E-EA4E-AA79-8561FFD6DD0B}"/>
              </a:ext>
            </a:extLst>
          </p:cNvPr>
          <p:cNvSpPr txBox="1"/>
          <p:nvPr/>
        </p:nvSpPr>
        <p:spPr>
          <a:xfrm>
            <a:off x="6908800" y="4140200"/>
            <a:ext cx="4191000" cy="635000"/>
          </a:xfrm>
          <a:prstGeom prst="rect">
            <a:avLst/>
          </a:prstGeom>
          <a:noFill/>
        </p:spPr>
        <p:txBody>
          <a:bodyPr vertOverflow="overflow" vert="horz" wrap="square" rtlCol="0" anchor="t">
            <a:noAutofit/>
          </a:bodyPr>
          <a:lstStyle/>
          <a:p>
            <a:pPr algn="l"/>
            <a:r>
              <a:rPr lang="en-GB" sz="2000" b="1" dirty="0">
                <a:solidFill>
                  <a:srgbClr val="1F4E79"/>
                </a:solidFill>
                <a:latin typeface="Segoe UI"/>
                <a:cs typeface="Segoe UI"/>
              </a:rPr>
              <a:t>Sept fiches </a:t>
            </a:r>
            <a:r>
              <a:rPr lang="en-GB" sz="2000" b="1" dirty="0" err="1">
                <a:solidFill>
                  <a:srgbClr val="1F4E79"/>
                </a:solidFill>
                <a:latin typeface="Segoe UI"/>
                <a:cs typeface="Segoe UI"/>
              </a:rPr>
              <a:t>d'acceptation</a:t>
            </a:r>
            <a:r>
              <a:rPr lang="en-GB" sz="2000" b="1" dirty="0">
                <a:solidFill>
                  <a:srgbClr val="1F4E79"/>
                </a:solidFill>
                <a:latin typeface="Segoe UI"/>
                <a:cs typeface="Segoe UI"/>
              </a:rPr>
              <a:t>.
</a:t>
            </a:r>
            <a:r>
              <a:rPr lang="en-GB" sz="2000" b="1" dirty="0" err="1">
                <a:solidFill>
                  <a:srgbClr val="1F4E79"/>
                </a:solidFill>
                <a:latin typeface="Segoe UI"/>
                <a:cs typeface="Segoe UI"/>
              </a:rPr>
              <a:t>Zéro</a:t>
            </a:r>
            <a:r>
              <a:rPr lang="en-GB" sz="2000" b="1" dirty="0">
                <a:solidFill>
                  <a:srgbClr val="1F4E79"/>
                </a:solidFill>
                <a:latin typeface="Segoe UI"/>
                <a:cs typeface="Segoe UI"/>
              </a:rPr>
              <a:t> </a:t>
            </a:r>
            <a:r>
              <a:rPr lang="en-GB" sz="2000" b="1" dirty="0" err="1">
                <a:solidFill>
                  <a:srgbClr val="1F4E79"/>
                </a:solidFill>
                <a:latin typeface="Segoe UI"/>
                <a:cs typeface="Segoe UI"/>
              </a:rPr>
              <a:t>dérogation</a:t>
            </a:r>
            <a:r>
              <a:rPr lang="en-GB" sz="2000" b="1" dirty="0">
                <a:solidFill>
                  <a:srgbClr val="1F4E79"/>
                </a:solidFill>
                <a:latin typeface="Segoe UI"/>
                <a:cs typeface="Segoe UI"/>
              </a:rPr>
              <a:t>.</a:t>
            </a:r>
            <a:endParaRPr lang="en-FR" sz="2000" b="1" dirty="0">
              <a:solidFill>
                <a:srgbClr val="1F4E79"/>
              </a:solidFill>
              <a:latin typeface="Segoe UI"/>
              <a:cs typeface="Segoe UI"/>
            </a:endParaRPr>
          </a:p>
        </p:txBody>
      </p:sp>
      <p:sp>
        <p:nvSpPr>
          <p:cNvPr id="9" name="TextBox 8">
            <a:extLst>
              <a:ext uri="{FF2B5EF4-FFF2-40B4-BE49-F238E27FC236}">
                <a16:creationId xmlns:a16="http://schemas.microsoft.com/office/drawing/2014/main" id="{D28C3747-85C6-8049-8C15-FC942D495F8C}"/>
              </a:ext>
            </a:extLst>
          </p:cNvPr>
          <p:cNvSpPr txBox="1"/>
          <p:nvPr/>
        </p:nvSpPr>
        <p:spPr>
          <a:xfrm>
            <a:off x="914400" y="5715000"/>
            <a:ext cx="10414000" cy="304800"/>
          </a:xfrm>
          <a:prstGeom prst="rect">
            <a:avLst/>
          </a:prstGeom>
          <a:noFill/>
        </p:spPr>
        <p:txBody>
          <a:bodyPr vertOverflow="overflow" vert="horz" wrap="square" rtlCol="0" anchor="t">
            <a:noAutofit/>
          </a:bodyPr>
          <a:lstStyle/>
          <a:p>
            <a:pPr algn="l"/>
            <a:r>
              <a:rPr lang="en-GB" sz="1400">
                <a:solidFill>
                  <a:srgbClr val="8A8F98"/>
                </a:solidFill>
                <a:latin typeface="Segoe UI"/>
                <a:cs typeface="Segoe UI"/>
              </a:rPr>
              <a:t>Preuve : S7-05-ex4-residuels-cotes.jpg · S7-05-ex3-controle-qualite-au-vert.jpg</a:t>
            </a:r>
            <a:endParaRPr lang="en-FR" sz="1400">
              <a:solidFill>
                <a:srgbClr val="8A8F98"/>
              </a:solidFill>
              <a:latin typeface="Segoe UI"/>
              <a:cs typeface="Segoe UI"/>
            </a:endParaRPr>
          </a:p>
        </p:txBody>
      </p:sp>
      <p:graphicFrame>
        <p:nvGraphicFramePr>
          <p:cNvPr id="10" name="Chart"/>
          <p:cNvGraphicFramePr/>
          <p:nvPr/>
        </p:nvGraphicFramePr>
        <p:xfrm>
          <a:off x="914400" y="1981200"/>
          <a:ext cx="5334000" cy="33528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5379152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a:extLst>
              <a:ext uri="{FF2B5EF4-FFF2-40B4-BE49-F238E27FC236}">
                <a16:creationId xmlns:a16="http://schemas.microsoft.com/office/drawing/2014/main" id="{30D18C4A-1D33-244E-9D47-B18352F23594}"/>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Treize mesures, organisées par décision</a:t>
            </a:r>
            <a:endParaRPr lang="en-FR" sz="3200" b="1">
              <a:solidFill>
                <a:srgbClr val="1F4E79"/>
              </a:solidFill>
              <a:latin typeface="Segoe UI"/>
              <a:cs typeface="Segoe UI"/>
            </a:endParaRPr>
          </a:p>
        </p:txBody>
      </p:sp>
      <p:sp>
        <p:nvSpPr>
          <p:cNvPr id="19" name="Rectangle 18">
            <a:extLst>
              <a:ext uri="{FF2B5EF4-FFF2-40B4-BE49-F238E27FC236}">
                <a16:creationId xmlns:a16="http://schemas.microsoft.com/office/drawing/2014/main" id="{F045B6BE-F299-0745-8085-2CE7C7BC0E2E}"/>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0" name="TextBox 19">
            <a:extLst>
              <a:ext uri="{FF2B5EF4-FFF2-40B4-BE49-F238E27FC236}">
                <a16:creationId xmlns:a16="http://schemas.microsoft.com/office/drawing/2014/main" id="{6014D050-3653-EF45-ABBA-DE4CD427C4C9}"/>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Rangées par décision — pas par scénario. Vous ne signez pas un scénario.</a:t>
            </a:r>
            <a:endParaRPr lang="en-FR">
              <a:solidFill>
                <a:srgbClr val="3C3C3C"/>
              </a:solidFill>
              <a:latin typeface="Segoe UI"/>
              <a:cs typeface="Segoe UI"/>
            </a:endParaRPr>
          </a:p>
        </p:txBody>
      </p:sp>
      <p:sp>
        <p:nvSpPr>
          <p:cNvPr id="21" name="Rectangle 20">
            <a:extLst>
              <a:ext uri="{FF2B5EF4-FFF2-40B4-BE49-F238E27FC236}">
                <a16:creationId xmlns:a16="http://schemas.microsoft.com/office/drawing/2014/main" id="{3E3AACB4-CB36-FF4B-9FB2-0BC1E737DE58}"/>
              </a:ext>
            </a:extLst>
          </p:cNvPr>
          <p:cNvSpPr/>
          <p:nvPr/>
        </p:nvSpPr>
        <p:spPr>
          <a:xfrm>
            <a:off x="914400" y="1879600"/>
            <a:ext cx="5029200" cy="18542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2" name="TextBox 21">
            <a:extLst>
              <a:ext uri="{FF2B5EF4-FFF2-40B4-BE49-F238E27FC236}">
                <a16:creationId xmlns:a16="http://schemas.microsoft.com/office/drawing/2014/main" id="{565E4CFD-8065-7A40-8F56-8BF5A9A79A57}"/>
              </a:ext>
            </a:extLst>
          </p:cNvPr>
          <p:cNvSpPr txBox="1"/>
          <p:nvPr/>
        </p:nvSpPr>
        <p:spPr>
          <a:xfrm>
            <a:off x="1219200" y="2032000"/>
            <a:ext cx="711200" cy="660400"/>
          </a:xfrm>
          <a:prstGeom prst="rect">
            <a:avLst/>
          </a:prstGeom>
          <a:noFill/>
        </p:spPr>
        <p:txBody>
          <a:bodyPr vertOverflow="overflow" vert="horz" wrap="square" rtlCol="0" anchor="t">
            <a:noAutofit/>
          </a:bodyPr>
          <a:lstStyle/>
          <a:p>
            <a:pPr algn="l"/>
            <a:r>
              <a:rPr lang="en-FR" sz="4000" b="1">
                <a:solidFill>
                  <a:srgbClr val="1F4E79"/>
                </a:solidFill>
                <a:latin typeface="Segoe UI"/>
                <a:cs typeface="Segoe UI"/>
              </a:rPr>
              <a:t>5</a:t>
            </a:r>
          </a:p>
        </p:txBody>
      </p:sp>
      <p:sp>
        <p:nvSpPr>
          <p:cNvPr id="23" name="TextBox 22">
            <a:extLst>
              <a:ext uri="{FF2B5EF4-FFF2-40B4-BE49-F238E27FC236}">
                <a16:creationId xmlns:a16="http://schemas.microsoft.com/office/drawing/2014/main" id="{CD6E1F0F-66C6-D248-BDE8-324B70AD2629}"/>
              </a:ext>
            </a:extLst>
          </p:cNvPr>
          <p:cNvSpPr txBox="1"/>
          <p:nvPr/>
        </p:nvSpPr>
        <p:spPr>
          <a:xfrm>
            <a:off x="1981200" y="2184400"/>
            <a:ext cx="3657600" cy="381000"/>
          </a:xfrm>
          <a:prstGeom prst="rect">
            <a:avLst/>
          </a:prstGeom>
          <a:noFill/>
        </p:spPr>
        <p:txBody>
          <a:bodyPr vertOverflow="overflow" vert="horz" wrap="square" rtlCol="0" anchor="t">
            <a:noAutofit/>
          </a:bodyPr>
          <a:lstStyle/>
          <a:p>
            <a:pPr algn="l"/>
            <a:r>
              <a:rPr lang="en-GB" sz="2000" b="1">
                <a:solidFill>
                  <a:srgbClr val="1F4E79"/>
                </a:solidFill>
                <a:latin typeface="Segoe UI"/>
                <a:cs typeface="Segoe UI"/>
              </a:rPr>
              <a:t>engagent la Direction</a:t>
            </a:r>
            <a:endParaRPr lang="en-FR" sz="2000" b="1">
              <a:solidFill>
                <a:srgbClr val="1F4E79"/>
              </a:solidFill>
              <a:latin typeface="Segoe UI"/>
              <a:cs typeface="Segoe UI"/>
            </a:endParaRPr>
          </a:p>
        </p:txBody>
      </p:sp>
      <p:sp>
        <p:nvSpPr>
          <p:cNvPr id="24" name="TextBox 23">
            <a:extLst>
              <a:ext uri="{FF2B5EF4-FFF2-40B4-BE49-F238E27FC236}">
                <a16:creationId xmlns:a16="http://schemas.microsoft.com/office/drawing/2014/main" id="{7BFFD4CB-8122-8141-98D3-6BED692118FD}"/>
              </a:ext>
            </a:extLst>
          </p:cNvPr>
          <p:cNvSpPr txBox="1"/>
          <p:nvPr/>
        </p:nvSpPr>
        <p:spPr>
          <a:xfrm>
            <a:off x="1219200" y="2768600"/>
            <a:ext cx="4419600" cy="812800"/>
          </a:xfrm>
          <a:prstGeom prst="rect">
            <a:avLst/>
          </a:prstGeom>
          <a:noFill/>
        </p:spPr>
        <p:txBody>
          <a:bodyPr vertOverflow="overflow" vert="horz" wrap="square" rtlCol="0" anchor="t">
            <a:noAutofit/>
          </a:bodyPr>
          <a:lstStyle/>
          <a:p>
            <a:pPr algn="l"/>
            <a:r>
              <a:rPr lang="en-GB" sz="1600">
                <a:solidFill>
                  <a:srgbClr val="1A1A1A"/>
                </a:solidFill>
                <a:latin typeface="Segoe UI"/>
                <a:cs typeface="Segoe UI"/>
              </a:rPr>
              <a:t>deux avenants contractuels · une acceptation signée · une acceptation simple · le pilotage du projet Santé</a:t>
            </a:r>
            <a:endParaRPr lang="en-FR" sz="1600">
              <a:solidFill>
                <a:srgbClr val="1A1A1A"/>
              </a:solidFill>
              <a:latin typeface="Segoe UI"/>
              <a:cs typeface="Segoe UI"/>
            </a:endParaRPr>
          </a:p>
        </p:txBody>
      </p:sp>
      <p:sp>
        <p:nvSpPr>
          <p:cNvPr id="25" name="Rectangle 24">
            <a:extLst>
              <a:ext uri="{FF2B5EF4-FFF2-40B4-BE49-F238E27FC236}">
                <a16:creationId xmlns:a16="http://schemas.microsoft.com/office/drawing/2014/main" id="{94D2BEB4-0A01-8A4A-BDA6-FDB159829C0D}"/>
              </a:ext>
            </a:extLst>
          </p:cNvPr>
          <p:cNvSpPr/>
          <p:nvPr/>
        </p:nvSpPr>
        <p:spPr>
          <a:xfrm>
            <a:off x="6299200" y="1879600"/>
            <a:ext cx="5029200" cy="1854200"/>
          </a:xfrm>
          <a:prstGeom prst="rect">
            <a:avLst/>
          </a:prstGeom>
          <a:solidFill>
            <a:srgbClr val="F2F3F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6" name="TextBox 25">
            <a:extLst>
              <a:ext uri="{FF2B5EF4-FFF2-40B4-BE49-F238E27FC236}">
                <a16:creationId xmlns:a16="http://schemas.microsoft.com/office/drawing/2014/main" id="{A27287CE-5DEE-DF48-8476-845B86BCEB8A}"/>
              </a:ext>
            </a:extLst>
          </p:cNvPr>
          <p:cNvSpPr txBox="1"/>
          <p:nvPr/>
        </p:nvSpPr>
        <p:spPr>
          <a:xfrm>
            <a:off x="6604000" y="2032000"/>
            <a:ext cx="711200" cy="660400"/>
          </a:xfrm>
          <a:prstGeom prst="rect">
            <a:avLst/>
          </a:prstGeom>
          <a:noFill/>
        </p:spPr>
        <p:txBody>
          <a:bodyPr vertOverflow="overflow" vert="horz" wrap="square" rtlCol="0" anchor="t">
            <a:noAutofit/>
          </a:bodyPr>
          <a:lstStyle/>
          <a:p>
            <a:pPr algn="l"/>
            <a:r>
              <a:rPr lang="en-FR" sz="4000" b="1">
                <a:solidFill>
                  <a:srgbClr val="3C3C3C"/>
                </a:solidFill>
                <a:latin typeface="Segoe UI"/>
                <a:cs typeface="Segoe UI"/>
              </a:rPr>
              <a:t>8</a:t>
            </a:r>
          </a:p>
        </p:txBody>
      </p:sp>
      <p:sp>
        <p:nvSpPr>
          <p:cNvPr id="27" name="TextBox 26">
            <a:extLst>
              <a:ext uri="{FF2B5EF4-FFF2-40B4-BE49-F238E27FC236}">
                <a16:creationId xmlns:a16="http://schemas.microsoft.com/office/drawing/2014/main" id="{E434B503-6794-E84C-B425-5B9DEAA52A90}"/>
              </a:ext>
            </a:extLst>
          </p:cNvPr>
          <p:cNvSpPr txBox="1"/>
          <p:nvPr/>
        </p:nvSpPr>
        <p:spPr>
          <a:xfrm>
            <a:off x="7366000" y="2184400"/>
            <a:ext cx="3657600" cy="381000"/>
          </a:xfrm>
          <a:prstGeom prst="rect">
            <a:avLst/>
          </a:prstGeom>
          <a:noFill/>
        </p:spPr>
        <p:txBody>
          <a:bodyPr vertOverflow="overflow" vert="horz" wrap="square" rtlCol="0" anchor="t">
            <a:noAutofit/>
          </a:bodyPr>
          <a:lstStyle/>
          <a:p>
            <a:pPr algn="l"/>
            <a:r>
              <a:rPr lang="en-GB" sz="2000" b="1">
                <a:solidFill>
                  <a:srgbClr val="3C3C3C"/>
                </a:solidFill>
                <a:latin typeface="Segoe UI"/>
                <a:cs typeface="Segoe UI"/>
              </a:rPr>
              <a:t>relèvent de l'exécution</a:t>
            </a:r>
            <a:endParaRPr lang="en-FR" sz="2000" b="1">
              <a:solidFill>
                <a:srgbClr val="3C3C3C"/>
              </a:solidFill>
              <a:latin typeface="Segoe UI"/>
              <a:cs typeface="Segoe UI"/>
            </a:endParaRPr>
          </a:p>
        </p:txBody>
      </p:sp>
      <p:sp>
        <p:nvSpPr>
          <p:cNvPr id="28" name="TextBox 27">
            <a:extLst>
              <a:ext uri="{FF2B5EF4-FFF2-40B4-BE49-F238E27FC236}">
                <a16:creationId xmlns:a16="http://schemas.microsoft.com/office/drawing/2014/main" id="{E0D7EB16-8837-344A-AE19-1A92A5BDF293}"/>
              </a:ext>
            </a:extLst>
          </p:cNvPr>
          <p:cNvSpPr txBox="1"/>
          <p:nvPr/>
        </p:nvSpPr>
        <p:spPr>
          <a:xfrm>
            <a:off x="6604000" y="2768600"/>
            <a:ext cx="4419600" cy="812800"/>
          </a:xfrm>
          <a:prstGeom prst="rect">
            <a:avLst/>
          </a:prstGeom>
          <a:noFill/>
        </p:spPr>
        <p:txBody>
          <a:bodyPr vertOverflow="overflow" vert="horz" wrap="square" rtlCol="0" anchor="t">
            <a:noAutofit/>
          </a:bodyPr>
          <a:lstStyle/>
          <a:p>
            <a:pPr algn="l"/>
            <a:r>
              <a:rPr lang="en-GB" sz="1600">
                <a:solidFill>
                  <a:srgbClr val="1A1A1A"/>
                </a:solidFill>
                <a:latin typeface="Segoe UI"/>
                <a:cs typeface="Segoe UI"/>
              </a:rPr>
              <a:t>dont </a:t>
            </a:r>
            <a:r>
              <a:rPr lang="en-GB" sz="1600" b="1">
                <a:solidFill>
                  <a:srgbClr val="1A1A1A"/>
                </a:solidFill>
                <a:latin typeface="Segoe UI"/>
                <a:cs typeface="Segoe UI"/>
              </a:rPr>
              <a:t>deux</a:t>
            </a:r>
            <a:r>
              <a:rPr lang="en-GB" sz="1600">
                <a:solidFill>
                  <a:srgbClr val="1A1A1A"/>
                </a:solidFill>
                <a:latin typeface="Segoe UI"/>
                <a:cs typeface="Segoe UI"/>
              </a:rPr>
              <a:t> transversales, qui traitent plusieurs scénarios à la fois</a:t>
            </a:r>
            <a:endParaRPr lang="en-FR" sz="1600">
              <a:solidFill>
                <a:srgbClr val="1A1A1A"/>
              </a:solidFill>
              <a:latin typeface="Segoe UI"/>
              <a:cs typeface="Segoe UI"/>
            </a:endParaRPr>
          </a:p>
        </p:txBody>
      </p:sp>
      <p:sp>
        <p:nvSpPr>
          <p:cNvPr id="29" name="Rectangle 28">
            <a:extLst>
              <a:ext uri="{FF2B5EF4-FFF2-40B4-BE49-F238E27FC236}">
                <a16:creationId xmlns:a16="http://schemas.microsoft.com/office/drawing/2014/main" id="{2B24C363-EF1F-114F-9E44-79778D65EDC5}"/>
              </a:ext>
            </a:extLst>
          </p:cNvPr>
          <p:cNvSpPr/>
          <p:nvPr/>
        </p:nvSpPr>
        <p:spPr>
          <a:xfrm>
            <a:off x="914400" y="3962400"/>
            <a:ext cx="10414000" cy="1346200"/>
          </a:xfrm>
          <a:prstGeom prst="rect">
            <a:avLst/>
          </a:prstGeom>
          <a:solidFill>
            <a:srgbClr val="FFFFFF"/>
          </a:solidFill>
          <a:ln w="19050" cap="flat" cmpd="sng" algn="ctr">
            <a:solidFill>
              <a:srgbClr val="1F4E7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0" name="TextBox 29">
            <a:extLst>
              <a:ext uri="{FF2B5EF4-FFF2-40B4-BE49-F238E27FC236}">
                <a16:creationId xmlns:a16="http://schemas.microsoft.com/office/drawing/2014/main" id="{D03CF658-83CE-A54C-9DC2-C273895E20FB}"/>
              </a:ext>
            </a:extLst>
          </p:cNvPr>
          <p:cNvSpPr txBox="1"/>
          <p:nvPr/>
        </p:nvSpPr>
        <p:spPr>
          <a:xfrm>
            <a:off x="1219200" y="4114800"/>
            <a:ext cx="9804400" cy="304800"/>
          </a:xfrm>
          <a:prstGeom prst="rect">
            <a:avLst/>
          </a:prstGeom>
          <a:noFill/>
        </p:spPr>
        <p:txBody>
          <a:bodyPr vertOverflow="overflow" vert="horz" wrap="square" rtlCol="0" anchor="t">
            <a:noAutofit/>
          </a:bodyPr>
          <a:lstStyle/>
          <a:p>
            <a:pPr algn="l"/>
            <a:r>
              <a:rPr lang="en-GB" sz="1600" b="1">
                <a:solidFill>
                  <a:srgbClr val="3C3C3C"/>
                </a:solidFill>
                <a:latin typeface="Segoe UI"/>
                <a:cs typeface="Segoe UI"/>
              </a:rPr>
              <a:t>Les deux mesures qui rapportent le plus par euro engagé</a:t>
            </a:r>
            <a:endParaRPr lang="en-FR" sz="1600" b="1">
              <a:solidFill>
                <a:srgbClr val="3C3C3C"/>
              </a:solidFill>
              <a:latin typeface="Segoe UI"/>
              <a:cs typeface="Segoe UI"/>
            </a:endParaRPr>
          </a:p>
        </p:txBody>
      </p:sp>
      <p:sp>
        <p:nvSpPr>
          <p:cNvPr id="31" name="TextBox 30">
            <a:extLst>
              <a:ext uri="{FF2B5EF4-FFF2-40B4-BE49-F238E27FC236}">
                <a16:creationId xmlns:a16="http://schemas.microsoft.com/office/drawing/2014/main" id="{098AC346-2304-9342-A9F3-7A664FEF944E}"/>
              </a:ext>
            </a:extLst>
          </p:cNvPr>
          <p:cNvSpPr txBox="1"/>
          <p:nvPr/>
        </p:nvSpPr>
        <p:spPr>
          <a:xfrm>
            <a:off x="1219200" y="4470400"/>
            <a:ext cx="9804400" cy="7112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   comptes nommés et authentification forte pour le prestataire
→   séparation des réseaux bureautique et industriel des six sites</a:t>
            </a:r>
            <a:endParaRPr lang="en-FR" sz="1900" b="1">
              <a:solidFill>
                <a:srgbClr val="1F4E79"/>
              </a:solidFill>
              <a:latin typeface="Segoe UI"/>
              <a:cs typeface="Segoe UI"/>
            </a:endParaRPr>
          </a:p>
        </p:txBody>
      </p:sp>
      <p:sp>
        <p:nvSpPr>
          <p:cNvPr id="32" name="TextBox 31">
            <a:extLst>
              <a:ext uri="{FF2B5EF4-FFF2-40B4-BE49-F238E27FC236}">
                <a16:creationId xmlns:a16="http://schemas.microsoft.com/office/drawing/2014/main" id="{6E8FEB7A-6EA5-AE47-9183-67B600C40868}"/>
              </a:ext>
            </a:extLst>
          </p:cNvPr>
          <p:cNvSpPr txBox="1"/>
          <p:nvPr/>
        </p:nvSpPr>
        <p:spPr>
          <a:xfrm>
            <a:off x="914400" y="5461000"/>
            <a:ext cx="10414000" cy="304800"/>
          </a:xfrm>
          <a:prstGeom prst="rect">
            <a:avLst/>
          </a:prstGeom>
          <a:noFill/>
        </p:spPr>
        <p:txBody>
          <a:bodyPr vertOverflow="overflow" vert="horz" wrap="square" rtlCol="0" anchor="t">
            <a:noAutofit/>
          </a:bodyPr>
          <a:lstStyle/>
          <a:p>
            <a:pPr algn="l"/>
            <a:r>
              <a:rPr lang="en-GB" sz="1600" i="1">
                <a:solidFill>
                  <a:srgbClr val="1A1A1A"/>
                </a:solidFill>
                <a:latin typeface="Segoe UI"/>
                <a:cs typeface="Segoe UI"/>
              </a:rPr>
              <a:t>Chaque mesure a un porteur nommé et une échéance — la plus proche en novembre 2026.</a:t>
            </a:r>
            <a:endParaRPr lang="en-FR" sz="1600" i="1">
              <a:solidFill>
                <a:srgbClr val="1A1A1A"/>
              </a:solidFill>
              <a:latin typeface="Segoe UI"/>
              <a:cs typeface="Segoe UI"/>
            </a:endParaRPr>
          </a:p>
        </p:txBody>
      </p:sp>
      <p:sp>
        <p:nvSpPr>
          <p:cNvPr id="33" name="TextBox 32">
            <a:extLst>
              <a:ext uri="{FF2B5EF4-FFF2-40B4-BE49-F238E27FC236}">
                <a16:creationId xmlns:a16="http://schemas.microsoft.com/office/drawing/2014/main" id="{9B6C32DC-9E6A-BA49-9A0A-CC3B4F2F6251}"/>
              </a:ext>
            </a:extLst>
          </p:cNvPr>
          <p:cNvSpPr txBox="1"/>
          <p:nvPr/>
        </p:nvSpPr>
        <p:spPr>
          <a:xfrm>
            <a:off x="914400" y="5791200"/>
            <a:ext cx="10414000" cy="2794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Preuve : S7-06-mesures-appliquees-couts-build-run.jpg · détail en annexe A6</a:t>
            </a:r>
            <a:endParaRPr lang="en-FR" sz="1500">
              <a:solidFill>
                <a:srgbClr val="3C3C3C"/>
              </a:solidFill>
              <a:latin typeface="Segoe UI"/>
              <a:cs typeface="Segoe UI"/>
            </a:endParaRPr>
          </a:p>
        </p:txBody>
      </p:sp>
    </p:spTree>
    <p:extLst>
      <p:ext uri="{BB962C8B-B14F-4D97-AF65-F5344CB8AC3E}">
        <p14:creationId xmlns:p14="http://schemas.microsoft.com/office/powerpoint/2010/main" val="11604548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FC02E4BC-EFA9-2849-92DC-C5D34B84AEA2}"/>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L'arbitrage — ce que cela coûte, contre quoi</a:t>
            </a:r>
            <a:endParaRPr lang="en-FR" sz="3200" b="1">
              <a:solidFill>
                <a:srgbClr val="1F4E79"/>
              </a:solidFill>
              <a:latin typeface="Segoe UI"/>
              <a:cs typeface="Segoe UI"/>
            </a:endParaRPr>
          </a:p>
        </p:txBody>
      </p:sp>
      <p:sp>
        <p:nvSpPr>
          <p:cNvPr id="18" name="Rectangle 17">
            <a:extLst>
              <a:ext uri="{FF2B5EF4-FFF2-40B4-BE49-F238E27FC236}">
                <a16:creationId xmlns:a16="http://schemas.microsoft.com/office/drawing/2014/main" id="{D0C08FF3-179B-D74F-A5C1-288C127AE40C}"/>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9" name="Rectangle 18">
            <a:extLst>
              <a:ext uri="{FF2B5EF4-FFF2-40B4-BE49-F238E27FC236}">
                <a16:creationId xmlns:a16="http://schemas.microsoft.com/office/drawing/2014/main" id="{65542AE0-7562-7F48-9AA2-8A3F76AE609E}"/>
              </a:ext>
            </a:extLst>
          </p:cNvPr>
          <p:cNvSpPr/>
          <p:nvPr/>
        </p:nvSpPr>
        <p:spPr>
          <a:xfrm>
            <a:off x="6083300" y="1651000"/>
            <a:ext cx="25400" cy="3175000"/>
          </a:xfrm>
          <a:prstGeom prst="rect">
            <a:avLst/>
          </a:prstGeom>
          <a:solidFill>
            <a:srgbClr val="C7CDD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0" name="TextBox 19">
            <a:extLst>
              <a:ext uri="{FF2B5EF4-FFF2-40B4-BE49-F238E27FC236}">
                <a16:creationId xmlns:a16="http://schemas.microsoft.com/office/drawing/2014/main" id="{5E1D248E-560E-3C4F-B6C2-4275BF4F2D37}"/>
              </a:ext>
            </a:extLst>
          </p:cNvPr>
          <p:cNvSpPr txBox="1"/>
          <p:nvPr/>
        </p:nvSpPr>
        <p:spPr>
          <a:xfrm>
            <a:off x="914400" y="1701800"/>
            <a:ext cx="4826000" cy="330200"/>
          </a:xfrm>
          <a:prstGeom prst="rect">
            <a:avLst/>
          </a:prstGeom>
          <a:noFill/>
        </p:spPr>
        <p:txBody>
          <a:bodyPr vertOverflow="overflow" vert="horz" wrap="square" rtlCol="0" anchor="t">
            <a:noAutofit/>
          </a:bodyPr>
          <a:lstStyle/>
          <a:p>
            <a:pPr algn="l"/>
            <a:r>
              <a:rPr lang="en-GB" sz="1700" b="1">
                <a:solidFill>
                  <a:srgbClr val="3C3C3C"/>
                </a:solidFill>
                <a:latin typeface="Segoe UI"/>
                <a:cs typeface="Segoe UI"/>
              </a:rPr>
              <a:t>CE QUE NOUS DEMANDONS</a:t>
            </a:r>
            <a:endParaRPr lang="en-FR" sz="1700" b="1">
              <a:solidFill>
                <a:srgbClr val="3C3C3C"/>
              </a:solidFill>
              <a:latin typeface="Segoe UI"/>
              <a:cs typeface="Segoe UI"/>
            </a:endParaRPr>
          </a:p>
        </p:txBody>
      </p:sp>
      <p:sp>
        <p:nvSpPr>
          <p:cNvPr id="21" name="TextBox 20">
            <a:extLst>
              <a:ext uri="{FF2B5EF4-FFF2-40B4-BE49-F238E27FC236}">
                <a16:creationId xmlns:a16="http://schemas.microsoft.com/office/drawing/2014/main" id="{A3DE3434-B070-2649-B3BE-0B63593A50E3}"/>
              </a:ext>
            </a:extLst>
          </p:cNvPr>
          <p:cNvSpPr txBox="1"/>
          <p:nvPr/>
        </p:nvSpPr>
        <p:spPr>
          <a:xfrm>
            <a:off x="914400" y="2133600"/>
            <a:ext cx="4826000" cy="762000"/>
          </a:xfrm>
          <a:prstGeom prst="rect">
            <a:avLst/>
          </a:prstGeom>
          <a:noFill/>
        </p:spPr>
        <p:txBody>
          <a:bodyPr vertOverflow="overflow" vert="horz" wrap="square" rtlCol="0" anchor="t">
            <a:noAutofit/>
          </a:bodyPr>
          <a:lstStyle/>
          <a:p>
            <a:pPr algn="l"/>
            <a:r>
              <a:rPr lang="en-GB" sz="4400" b="1">
                <a:solidFill>
                  <a:srgbClr val="1F4E79"/>
                </a:solidFill>
                <a:latin typeface="Segoe UI"/>
                <a:cs typeface="Segoe UI"/>
              </a:rPr>
              <a:t>82 000 € / an</a:t>
            </a:r>
            <a:endParaRPr lang="en-FR" sz="4400" b="1">
              <a:solidFill>
                <a:srgbClr val="1F4E79"/>
              </a:solidFill>
              <a:latin typeface="Segoe UI"/>
              <a:cs typeface="Segoe UI"/>
            </a:endParaRPr>
          </a:p>
        </p:txBody>
      </p:sp>
      <p:sp>
        <p:nvSpPr>
          <p:cNvPr id="22" name="TextBox 21">
            <a:extLst>
              <a:ext uri="{FF2B5EF4-FFF2-40B4-BE49-F238E27FC236}">
                <a16:creationId xmlns:a16="http://schemas.microsoft.com/office/drawing/2014/main" id="{7ED2E1AB-F39B-DC41-8528-253761464815}"/>
              </a:ext>
            </a:extLst>
          </p:cNvPr>
          <p:cNvSpPr txBox="1"/>
          <p:nvPr/>
        </p:nvSpPr>
        <p:spPr>
          <a:xfrm>
            <a:off x="914400" y="3022600"/>
            <a:ext cx="4826000" cy="381000"/>
          </a:xfrm>
          <a:prstGeom prst="rect">
            <a:avLst/>
          </a:prstGeom>
          <a:noFill/>
        </p:spPr>
        <p:txBody>
          <a:bodyPr vertOverflow="overflow" vert="horz" wrap="square" rtlCol="0" anchor="t">
            <a:noAutofit/>
          </a:bodyPr>
          <a:lstStyle/>
          <a:p>
            <a:pPr algn="l"/>
            <a:r>
              <a:rPr lang="en-GB" sz="2200">
                <a:solidFill>
                  <a:srgbClr val="1A1A1A"/>
                </a:solidFill>
                <a:latin typeface="Segoe UI"/>
                <a:cs typeface="Segoe UI"/>
              </a:rPr>
              <a:t>13 mesures</a:t>
            </a:r>
            <a:endParaRPr lang="en-FR" sz="2200">
              <a:solidFill>
                <a:srgbClr val="1A1A1A"/>
              </a:solidFill>
              <a:latin typeface="Segoe UI"/>
              <a:cs typeface="Segoe UI"/>
            </a:endParaRPr>
          </a:p>
        </p:txBody>
      </p:sp>
      <p:sp>
        <p:nvSpPr>
          <p:cNvPr id="23" name="TextBox 22">
            <a:extLst>
              <a:ext uri="{FF2B5EF4-FFF2-40B4-BE49-F238E27FC236}">
                <a16:creationId xmlns:a16="http://schemas.microsoft.com/office/drawing/2014/main" id="{61CF11AB-118B-2E48-AB6C-768C3963A286}"/>
              </a:ext>
            </a:extLst>
          </p:cNvPr>
          <p:cNvSpPr txBox="1"/>
          <p:nvPr/>
        </p:nvSpPr>
        <p:spPr>
          <a:xfrm>
            <a:off x="914400" y="3530600"/>
            <a:ext cx="4826000" cy="355600"/>
          </a:xfrm>
          <a:prstGeom prst="rect">
            <a:avLst/>
          </a:prstGeom>
          <a:noFill/>
        </p:spPr>
        <p:txBody>
          <a:bodyPr vertOverflow="overflow" vert="horz" wrap="square" rtlCol="0" anchor="t">
            <a:noAutofit/>
          </a:bodyPr>
          <a:lstStyle/>
          <a:p>
            <a:pPr algn="l"/>
            <a:r>
              <a:rPr lang="en-GB" sz="1900" i="1">
                <a:solidFill>
                  <a:srgbClr val="3C3C3C"/>
                </a:solidFill>
                <a:latin typeface="Segoe UI"/>
                <a:cs typeface="Segoe UI"/>
              </a:rPr>
              <a:t>certain · annuel · borné</a:t>
            </a:r>
            <a:endParaRPr lang="en-FR" sz="1900" i="1">
              <a:solidFill>
                <a:srgbClr val="3C3C3C"/>
              </a:solidFill>
              <a:latin typeface="Segoe UI"/>
              <a:cs typeface="Segoe UI"/>
            </a:endParaRPr>
          </a:p>
        </p:txBody>
      </p:sp>
      <p:sp>
        <p:nvSpPr>
          <p:cNvPr id="24" name="TextBox 23">
            <a:extLst>
              <a:ext uri="{FF2B5EF4-FFF2-40B4-BE49-F238E27FC236}">
                <a16:creationId xmlns:a16="http://schemas.microsoft.com/office/drawing/2014/main" id="{3F48A59B-5DF1-D845-A811-54DA281429E3}"/>
              </a:ext>
            </a:extLst>
          </p:cNvPr>
          <p:cNvSpPr txBox="1"/>
          <p:nvPr/>
        </p:nvSpPr>
        <p:spPr>
          <a:xfrm>
            <a:off x="914400" y="4191000"/>
            <a:ext cx="4826000" cy="6350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Le plan complet coûte moins de sept jours d'arrêt.</a:t>
            </a:r>
            <a:endParaRPr lang="en-FR" sz="1900" b="1">
              <a:solidFill>
                <a:srgbClr val="1F4E79"/>
              </a:solidFill>
              <a:latin typeface="Segoe UI"/>
              <a:cs typeface="Segoe UI"/>
            </a:endParaRPr>
          </a:p>
        </p:txBody>
      </p:sp>
      <p:sp>
        <p:nvSpPr>
          <p:cNvPr id="25" name="TextBox 24">
            <a:extLst>
              <a:ext uri="{FF2B5EF4-FFF2-40B4-BE49-F238E27FC236}">
                <a16:creationId xmlns:a16="http://schemas.microsoft.com/office/drawing/2014/main" id="{FDA25259-FC1F-414F-8BE2-8674E2135F19}"/>
              </a:ext>
            </a:extLst>
          </p:cNvPr>
          <p:cNvSpPr txBox="1"/>
          <p:nvPr/>
        </p:nvSpPr>
        <p:spPr>
          <a:xfrm>
            <a:off x="6502400" y="1701800"/>
            <a:ext cx="4826000" cy="330200"/>
          </a:xfrm>
          <a:prstGeom prst="rect">
            <a:avLst/>
          </a:prstGeom>
          <a:noFill/>
        </p:spPr>
        <p:txBody>
          <a:bodyPr vertOverflow="overflow" vert="horz" wrap="square" rtlCol="0" anchor="t">
            <a:noAutofit/>
          </a:bodyPr>
          <a:lstStyle/>
          <a:p>
            <a:pPr algn="l"/>
            <a:r>
              <a:rPr lang="en-GB" sz="1700" b="1">
                <a:solidFill>
                  <a:srgbClr val="3C3C3C"/>
                </a:solidFill>
                <a:latin typeface="Segoe UI"/>
                <a:cs typeface="Segoe UI"/>
              </a:rPr>
              <a:t>CE QUE NOUS ÉVITONS</a:t>
            </a:r>
            <a:endParaRPr lang="en-FR" sz="1700" b="1">
              <a:solidFill>
                <a:srgbClr val="3C3C3C"/>
              </a:solidFill>
              <a:latin typeface="Segoe UI"/>
              <a:cs typeface="Segoe UI"/>
            </a:endParaRPr>
          </a:p>
        </p:txBody>
      </p:sp>
      <p:sp>
        <p:nvSpPr>
          <p:cNvPr id="26" name="TextBox 25">
            <a:extLst>
              <a:ext uri="{FF2B5EF4-FFF2-40B4-BE49-F238E27FC236}">
                <a16:creationId xmlns:a16="http://schemas.microsoft.com/office/drawing/2014/main" id="{C9EFDE57-0C1F-8D48-A46A-EE4B757F3B0D}"/>
              </a:ext>
            </a:extLst>
          </p:cNvPr>
          <p:cNvSpPr txBox="1"/>
          <p:nvPr/>
        </p:nvSpPr>
        <p:spPr>
          <a:xfrm>
            <a:off x="6502400" y="2133600"/>
            <a:ext cx="4826000" cy="533400"/>
          </a:xfrm>
          <a:prstGeom prst="rect">
            <a:avLst/>
          </a:prstGeom>
          <a:noFill/>
        </p:spPr>
        <p:txBody>
          <a:bodyPr vertOverflow="overflow" vert="horz" wrap="square" rtlCol="0" anchor="t">
            <a:noAutofit/>
          </a:bodyPr>
          <a:lstStyle/>
          <a:p>
            <a:pPr algn="l"/>
            <a:r>
              <a:rPr lang="en-FR" sz="3200" b="1">
                <a:solidFill>
                  <a:srgbClr val="1A1A1A"/>
                </a:solidFill>
                <a:latin typeface="Segoe UI"/>
                <a:cs typeface="Segoe UI"/>
              </a:rPr>
              <a:t>12 000 €</a:t>
            </a:r>
          </a:p>
        </p:txBody>
      </p:sp>
      <p:sp>
        <p:nvSpPr>
          <p:cNvPr id="27" name="TextBox 26">
            <a:extLst>
              <a:ext uri="{FF2B5EF4-FFF2-40B4-BE49-F238E27FC236}">
                <a16:creationId xmlns:a16="http://schemas.microsoft.com/office/drawing/2014/main" id="{9379B19F-AB14-B341-95F3-0CD376911AE8}"/>
              </a:ext>
            </a:extLst>
          </p:cNvPr>
          <p:cNvSpPr txBox="1"/>
          <p:nvPr/>
        </p:nvSpPr>
        <p:spPr>
          <a:xfrm>
            <a:off x="6502400" y="2692400"/>
            <a:ext cx="4826000" cy="5842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une seule journée d'arrêt — le tiers du coût annuel du plan</a:t>
            </a:r>
            <a:endParaRPr lang="en-FR" sz="1600">
              <a:solidFill>
                <a:srgbClr val="3C3C3C"/>
              </a:solidFill>
              <a:latin typeface="Segoe UI"/>
              <a:cs typeface="Segoe UI"/>
            </a:endParaRPr>
          </a:p>
        </p:txBody>
      </p:sp>
      <p:sp>
        <p:nvSpPr>
          <p:cNvPr id="28" name="TextBox 27">
            <a:extLst>
              <a:ext uri="{FF2B5EF4-FFF2-40B4-BE49-F238E27FC236}">
                <a16:creationId xmlns:a16="http://schemas.microsoft.com/office/drawing/2014/main" id="{9EFA9CE3-6CDB-5642-BF64-12E29C1C02CD}"/>
              </a:ext>
            </a:extLst>
          </p:cNvPr>
          <p:cNvSpPr txBox="1"/>
          <p:nvPr/>
        </p:nvSpPr>
        <p:spPr>
          <a:xfrm>
            <a:off x="6502400" y="3581400"/>
            <a:ext cx="4826000" cy="533400"/>
          </a:xfrm>
          <a:prstGeom prst="rect">
            <a:avLst/>
          </a:prstGeom>
          <a:noFill/>
        </p:spPr>
        <p:txBody>
          <a:bodyPr vertOverflow="overflow" vert="horz" wrap="square" rtlCol="0" anchor="t">
            <a:noAutofit/>
          </a:bodyPr>
          <a:lstStyle/>
          <a:p>
            <a:pPr algn="l"/>
            <a:r>
              <a:rPr lang="en-GB" sz="3200" b="1">
                <a:solidFill>
                  <a:srgbClr val="1A1A1A"/>
                </a:solidFill>
                <a:latin typeface="Segoe UI"/>
                <a:cs typeface="Segoe UI"/>
              </a:rPr>
              <a:t>plusieurs M€</a:t>
            </a:r>
            <a:endParaRPr lang="en-FR" sz="3200" b="1">
              <a:solidFill>
                <a:srgbClr val="1A1A1A"/>
              </a:solidFill>
              <a:latin typeface="Segoe UI"/>
              <a:cs typeface="Segoe UI"/>
            </a:endParaRPr>
          </a:p>
        </p:txBody>
      </p:sp>
      <p:sp>
        <p:nvSpPr>
          <p:cNvPr id="29" name="TextBox 28">
            <a:extLst>
              <a:ext uri="{FF2B5EF4-FFF2-40B4-BE49-F238E27FC236}">
                <a16:creationId xmlns:a16="http://schemas.microsoft.com/office/drawing/2014/main" id="{FEEFA183-CB9C-794F-9AE3-B60F94F2ED32}"/>
              </a:ext>
            </a:extLst>
          </p:cNvPr>
          <p:cNvSpPr txBox="1"/>
          <p:nvPr/>
        </p:nvSpPr>
        <p:spPr>
          <a:xfrm>
            <a:off x="6502400" y="4140200"/>
            <a:ext cx="4826000" cy="3048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rançongiciel abouti — ordres de grandeur publics</a:t>
            </a:r>
            <a:endParaRPr lang="en-FR" sz="1600">
              <a:solidFill>
                <a:srgbClr val="3C3C3C"/>
              </a:solidFill>
              <a:latin typeface="Segoe UI"/>
              <a:cs typeface="Segoe UI"/>
            </a:endParaRPr>
          </a:p>
        </p:txBody>
      </p:sp>
      <p:sp>
        <p:nvSpPr>
          <p:cNvPr id="30" name="TextBox 29">
            <a:extLst>
              <a:ext uri="{FF2B5EF4-FFF2-40B4-BE49-F238E27FC236}">
                <a16:creationId xmlns:a16="http://schemas.microsoft.com/office/drawing/2014/main" id="{30FF2158-4A55-8941-891C-629E830D23A7}"/>
              </a:ext>
            </a:extLst>
          </p:cNvPr>
          <p:cNvSpPr txBox="1"/>
          <p:nvPr/>
        </p:nvSpPr>
        <p:spPr>
          <a:xfrm>
            <a:off x="6502400" y="4546600"/>
            <a:ext cx="4826000" cy="355600"/>
          </a:xfrm>
          <a:prstGeom prst="rect">
            <a:avLst/>
          </a:prstGeom>
          <a:noFill/>
        </p:spPr>
        <p:txBody>
          <a:bodyPr vertOverflow="overflow" vert="horz" wrap="square" rtlCol="0" anchor="t">
            <a:noAutofit/>
          </a:bodyPr>
          <a:lstStyle/>
          <a:p>
            <a:pPr algn="l"/>
            <a:r>
              <a:rPr lang="en-GB" sz="1900" i="1">
                <a:solidFill>
                  <a:srgbClr val="3C3C3C"/>
                </a:solidFill>
                <a:latin typeface="Segoe UI"/>
                <a:cs typeface="Segoe UI"/>
              </a:rPr>
              <a:t>plausible · non borné</a:t>
            </a:r>
            <a:endParaRPr lang="en-FR" sz="1900" i="1">
              <a:solidFill>
                <a:srgbClr val="3C3C3C"/>
              </a:solidFill>
              <a:latin typeface="Segoe UI"/>
              <a:cs typeface="Segoe UI"/>
            </a:endParaRPr>
          </a:p>
        </p:txBody>
      </p:sp>
      <p:sp>
        <p:nvSpPr>
          <p:cNvPr id="31" name="Rectangle 30">
            <a:extLst>
              <a:ext uri="{FF2B5EF4-FFF2-40B4-BE49-F238E27FC236}">
                <a16:creationId xmlns:a16="http://schemas.microsoft.com/office/drawing/2014/main" id="{91F802DA-0161-1145-83B2-06E725B45D6F}"/>
              </a:ext>
            </a:extLst>
          </p:cNvPr>
          <p:cNvSpPr/>
          <p:nvPr/>
        </p:nvSpPr>
        <p:spPr>
          <a:xfrm>
            <a:off x="914400" y="5054600"/>
            <a:ext cx="10414000" cy="9906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2" name="TextBox 31">
            <a:extLst>
              <a:ext uri="{FF2B5EF4-FFF2-40B4-BE49-F238E27FC236}">
                <a16:creationId xmlns:a16="http://schemas.microsoft.com/office/drawing/2014/main" id="{726CC55E-E0FB-6540-AEB0-A3D7E089483D}"/>
              </a:ext>
            </a:extLst>
          </p:cNvPr>
          <p:cNvSpPr txBox="1"/>
          <p:nvPr/>
        </p:nvSpPr>
        <p:spPr>
          <a:xfrm>
            <a:off x="1219200" y="5232400"/>
            <a:ext cx="9804400" cy="6604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Un coût certain, annuel et borné, contre une perte plausible et non bornée — qui se réalise en un jour de plus que le plan n'en coûte en un an.</a:t>
            </a:r>
            <a:endParaRPr lang="en-FR" sz="1900" b="1">
              <a:solidFill>
                <a:srgbClr val="1F4E79"/>
              </a:solidFill>
              <a:latin typeface="Segoe UI"/>
              <a:cs typeface="Segoe UI"/>
            </a:endParaRPr>
          </a:p>
        </p:txBody>
      </p:sp>
    </p:spTree>
    <p:extLst>
      <p:ext uri="{BB962C8B-B14F-4D97-AF65-F5344CB8AC3E}">
        <p14:creationId xmlns:p14="http://schemas.microsoft.com/office/powerpoint/2010/main" val="13777161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a:extLst>
              <a:ext uri="{FF2B5EF4-FFF2-40B4-BE49-F238E27FC236}">
                <a16:creationId xmlns:a16="http://schemas.microsoft.com/office/drawing/2014/main" id="{464FB017-9FC9-A34C-B747-DFBB75696AB7}"/>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Ce qui reste ouvert — trois points, trois dates</a:t>
            </a:r>
            <a:endParaRPr lang="en-FR" sz="3200" b="1">
              <a:solidFill>
                <a:srgbClr val="1F4E79"/>
              </a:solidFill>
              <a:latin typeface="Segoe UI"/>
              <a:cs typeface="Segoe UI"/>
            </a:endParaRPr>
          </a:p>
        </p:txBody>
      </p:sp>
      <p:sp>
        <p:nvSpPr>
          <p:cNvPr id="19" name="Rectangle 18">
            <a:extLst>
              <a:ext uri="{FF2B5EF4-FFF2-40B4-BE49-F238E27FC236}">
                <a16:creationId xmlns:a16="http://schemas.microsoft.com/office/drawing/2014/main" id="{B1A223C4-B89F-9942-A368-9260C353CAD3}"/>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0" name="TextBox 19">
            <a:extLst>
              <a:ext uri="{FF2B5EF4-FFF2-40B4-BE49-F238E27FC236}">
                <a16:creationId xmlns:a16="http://schemas.microsoft.com/office/drawing/2014/main" id="{65ED9C32-6A27-0C43-8C82-B5BDE1B8FF5E}"/>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Trois points sans réponse aujourd'hui. Chacun porte une date.</a:t>
            </a:r>
            <a:endParaRPr lang="en-FR">
              <a:solidFill>
                <a:srgbClr val="3C3C3C"/>
              </a:solidFill>
              <a:latin typeface="Segoe UI"/>
              <a:cs typeface="Segoe UI"/>
            </a:endParaRPr>
          </a:p>
        </p:txBody>
      </p:sp>
      <p:sp>
        <p:nvSpPr>
          <p:cNvPr id="21" name="TextBox 20">
            <a:extLst>
              <a:ext uri="{FF2B5EF4-FFF2-40B4-BE49-F238E27FC236}">
                <a16:creationId xmlns:a16="http://schemas.microsoft.com/office/drawing/2014/main" id="{2B9C7B56-369F-7042-91CC-086C6D591488}"/>
              </a:ext>
            </a:extLst>
          </p:cNvPr>
          <p:cNvSpPr txBox="1"/>
          <p:nvPr/>
        </p:nvSpPr>
        <p:spPr>
          <a:xfrm>
            <a:off x="914400" y="1930400"/>
            <a:ext cx="5689600" cy="711200"/>
          </a:xfrm>
          <a:prstGeom prst="rect">
            <a:avLst/>
          </a:prstGeom>
          <a:noFill/>
        </p:spPr>
        <p:txBody>
          <a:bodyPr vertOverflow="overflow" vert="horz" wrap="square" rtlCol="0" anchor="t">
            <a:noAutofit/>
          </a:bodyPr>
          <a:lstStyle/>
          <a:p>
            <a:pPr algn="l"/>
            <a:r>
              <a:rPr lang="en-GB" sz="1900">
                <a:solidFill>
                  <a:srgbClr val="1A1A1A"/>
                </a:solidFill>
                <a:latin typeface="Segoe UI"/>
                <a:cs typeface="Segoe UI"/>
              </a:rPr>
              <a:t>Combien de temps pour repartir après un arrêt ?</a:t>
            </a:r>
            <a:endParaRPr lang="en-FR" sz="1900">
              <a:solidFill>
                <a:srgbClr val="1A1A1A"/>
              </a:solidFill>
              <a:latin typeface="Segoe UI"/>
              <a:cs typeface="Segoe UI"/>
            </a:endParaRPr>
          </a:p>
        </p:txBody>
      </p:sp>
      <p:sp>
        <p:nvSpPr>
          <p:cNvPr id="22" name="TextBox 21">
            <a:extLst>
              <a:ext uri="{FF2B5EF4-FFF2-40B4-BE49-F238E27FC236}">
                <a16:creationId xmlns:a16="http://schemas.microsoft.com/office/drawing/2014/main" id="{B7EC6D00-21FF-BA4C-A7A3-CFD62A9BED27}"/>
              </a:ext>
            </a:extLst>
          </p:cNvPr>
          <p:cNvSpPr txBox="1"/>
          <p:nvPr/>
        </p:nvSpPr>
        <p:spPr>
          <a:xfrm>
            <a:off x="6858000" y="1930400"/>
            <a:ext cx="2540000" cy="3556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14 novembre 2026</a:t>
            </a:r>
            <a:endParaRPr lang="en-FR" sz="1900" b="1">
              <a:solidFill>
                <a:srgbClr val="1F4E79"/>
              </a:solidFill>
              <a:latin typeface="Segoe UI"/>
              <a:cs typeface="Segoe UI"/>
            </a:endParaRPr>
          </a:p>
        </p:txBody>
      </p:sp>
      <p:sp>
        <p:nvSpPr>
          <p:cNvPr id="23" name="TextBox 22">
            <a:extLst>
              <a:ext uri="{FF2B5EF4-FFF2-40B4-BE49-F238E27FC236}">
                <a16:creationId xmlns:a16="http://schemas.microsoft.com/office/drawing/2014/main" id="{1A669216-23FC-1544-B111-981479584E58}"/>
              </a:ext>
            </a:extLst>
          </p:cNvPr>
          <p:cNvSpPr txBox="1"/>
          <p:nvPr/>
        </p:nvSpPr>
        <p:spPr>
          <a:xfrm>
            <a:off x="9601200" y="1955800"/>
            <a:ext cx="1727200" cy="6096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test de restauration</a:t>
            </a:r>
            <a:endParaRPr lang="en-FR" sz="1500">
              <a:solidFill>
                <a:srgbClr val="3C3C3C"/>
              </a:solidFill>
              <a:latin typeface="Segoe UI"/>
              <a:cs typeface="Segoe UI"/>
            </a:endParaRPr>
          </a:p>
        </p:txBody>
      </p:sp>
      <p:sp>
        <p:nvSpPr>
          <p:cNvPr id="24" name="Rectangle 23">
            <a:extLst>
              <a:ext uri="{FF2B5EF4-FFF2-40B4-BE49-F238E27FC236}">
                <a16:creationId xmlns:a16="http://schemas.microsoft.com/office/drawing/2014/main" id="{FCB8C2C5-3004-DF45-9F0E-02D8FD8648E7}"/>
              </a:ext>
            </a:extLst>
          </p:cNvPr>
          <p:cNvSpPr/>
          <p:nvPr/>
        </p:nvSpPr>
        <p:spPr>
          <a:xfrm>
            <a:off x="914400" y="2717800"/>
            <a:ext cx="10414000" cy="127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5" name="TextBox 24">
            <a:extLst>
              <a:ext uri="{FF2B5EF4-FFF2-40B4-BE49-F238E27FC236}">
                <a16:creationId xmlns:a16="http://schemas.microsoft.com/office/drawing/2014/main" id="{BB0C4A8F-9305-5545-9A01-CA8987217065}"/>
              </a:ext>
            </a:extLst>
          </p:cNvPr>
          <p:cNvSpPr txBox="1"/>
          <p:nvPr/>
        </p:nvSpPr>
        <p:spPr>
          <a:xfrm>
            <a:off x="914400" y="2895600"/>
            <a:ext cx="5689600" cy="711200"/>
          </a:xfrm>
          <a:prstGeom prst="rect">
            <a:avLst/>
          </a:prstGeom>
          <a:noFill/>
        </p:spPr>
        <p:txBody>
          <a:bodyPr vertOverflow="overflow" vert="horz" wrap="square" rtlCol="0" anchor="t">
            <a:noAutofit/>
          </a:bodyPr>
          <a:lstStyle/>
          <a:p>
            <a:pPr algn="l"/>
            <a:r>
              <a:rPr lang="en-GB" sz="1900">
                <a:solidFill>
                  <a:srgbClr val="1A1A1A"/>
                </a:solidFill>
                <a:latin typeface="Segoe UI"/>
                <a:cs typeface="Segoe UI"/>
              </a:rPr>
              <a:t>Le risque porté par l'intégrateur des automates ne descend pas plus bas — c'est un plancher</a:t>
            </a:r>
            <a:endParaRPr lang="en-FR" sz="1900">
              <a:solidFill>
                <a:srgbClr val="1A1A1A"/>
              </a:solidFill>
              <a:latin typeface="Segoe UI"/>
              <a:cs typeface="Segoe UI"/>
            </a:endParaRPr>
          </a:p>
        </p:txBody>
      </p:sp>
      <p:sp>
        <p:nvSpPr>
          <p:cNvPr id="26" name="TextBox 25">
            <a:extLst>
              <a:ext uri="{FF2B5EF4-FFF2-40B4-BE49-F238E27FC236}">
                <a16:creationId xmlns:a16="http://schemas.microsoft.com/office/drawing/2014/main" id="{01264745-15D3-FF46-B3A8-4A633F1BAE1A}"/>
              </a:ext>
            </a:extLst>
          </p:cNvPr>
          <p:cNvSpPr txBox="1"/>
          <p:nvPr/>
        </p:nvSpPr>
        <p:spPr>
          <a:xfrm>
            <a:off x="6858000" y="2895600"/>
            <a:ext cx="2540000" cy="3556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sous 12 mois</a:t>
            </a:r>
            <a:endParaRPr lang="en-FR" sz="1900" b="1">
              <a:solidFill>
                <a:srgbClr val="1F4E79"/>
              </a:solidFill>
              <a:latin typeface="Segoe UI"/>
              <a:cs typeface="Segoe UI"/>
            </a:endParaRPr>
          </a:p>
        </p:txBody>
      </p:sp>
      <p:sp>
        <p:nvSpPr>
          <p:cNvPr id="27" name="TextBox 26">
            <a:extLst>
              <a:ext uri="{FF2B5EF4-FFF2-40B4-BE49-F238E27FC236}">
                <a16:creationId xmlns:a16="http://schemas.microsoft.com/office/drawing/2014/main" id="{5E6D1D1F-A2EC-224F-96F4-649EE74D618F}"/>
              </a:ext>
            </a:extLst>
          </p:cNvPr>
          <p:cNvSpPr txBox="1"/>
          <p:nvPr/>
        </p:nvSpPr>
        <p:spPr>
          <a:xfrm>
            <a:off x="9601200" y="2921000"/>
            <a:ext cx="1727200" cy="6096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revue de l'écosystème</a:t>
            </a:r>
            <a:endParaRPr lang="en-FR" sz="1500">
              <a:solidFill>
                <a:srgbClr val="3C3C3C"/>
              </a:solidFill>
              <a:latin typeface="Segoe UI"/>
              <a:cs typeface="Segoe UI"/>
            </a:endParaRPr>
          </a:p>
        </p:txBody>
      </p:sp>
      <p:sp>
        <p:nvSpPr>
          <p:cNvPr id="28" name="Rectangle 27">
            <a:extLst>
              <a:ext uri="{FF2B5EF4-FFF2-40B4-BE49-F238E27FC236}">
                <a16:creationId xmlns:a16="http://schemas.microsoft.com/office/drawing/2014/main" id="{91CA35FF-3991-9248-AEC2-A956618BD168}"/>
              </a:ext>
            </a:extLst>
          </p:cNvPr>
          <p:cNvSpPr/>
          <p:nvPr/>
        </p:nvSpPr>
        <p:spPr>
          <a:xfrm>
            <a:off x="914400" y="3683000"/>
            <a:ext cx="10414000" cy="127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9" name="TextBox 28">
            <a:extLst>
              <a:ext uri="{FF2B5EF4-FFF2-40B4-BE49-F238E27FC236}">
                <a16:creationId xmlns:a16="http://schemas.microsoft.com/office/drawing/2014/main" id="{600B546C-FED6-5E4B-9AF6-9F235022E026}"/>
              </a:ext>
            </a:extLst>
          </p:cNvPr>
          <p:cNvSpPr txBox="1"/>
          <p:nvPr/>
        </p:nvSpPr>
        <p:spPr>
          <a:xfrm>
            <a:off x="914400" y="3860800"/>
            <a:ext cx="5689600" cy="711200"/>
          </a:xfrm>
          <a:prstGeom prst="rect">
            <a:avLst/>
          </a:prstGeom>
          <a:noFill/>
        </p:spPr>
        <p:txBody>
          <a:bodyPr vertOverflow="overflow" vert="horz" wrap="square" rtlCol="0" anchor="t">
            <a:noAutofit/>
          </a:bodyPr>
          <a:lstStyle/>
          <a:p>
            <a:pPr algn="l"/>
            <a:r>
              <a:rPr lang="en-GB" sz="1900">
                <a:solidFill>
                  <a:srgbClr val="1A1A1A"/>
                </a:solidFill>
                <a:latin typeface="Segoe UI"/>
                <a:cs typeface="Segoe UI"/>
              </a:rPr>
              <a:t>La reprise du flux vers MERIDIAN Santé n'atteint sa cible qu'en fin de projet</a:t>
            </a:r>
            <a:endParaRPr lang="en-FR" sz="1900">
              <a:solidFill>
                <a:srgbClr val="1A1A1A"/>
              </a:solidFill>
              <a:latin typeface="Segoe UI"/>
              <a:cs typeface="Segoe UI"/>
            </a:endParaRPr>
          </a:p>
        </p:txBody>
      </p:sp>
      <p:sp>
        <p:nvSpPr>
          <p:cNvPr id="30" name="TextBox 29">
            <a:extLst>
              <a:ext uri="{FF2B5EF4-FFF2-40B4-BE49-F238E27FC236}">
                <a16:creationId xmlns:a16="http://schemas.microsoft.com/office/drawing/2014/main" id="{A588AFDC-6E61-034F-9180-3B0D56F8CF09}"/>
              </a:ext>
            </a:extLst>
          </p:cNvPr>
          <p:cNvSpPr txBox="1"/>
          <p:nvPr/>
        </p:nvSpPr>
        <p:spPr>
          <a:xfrm>
            <a:off x="6858000" y="3860800"/>
            <a:ext cx="2540000" cy="3556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14 septembre 2027</a:t>
            </a:r>
            <a:endParaRPr lang="en-FR" sz="1900" b="1">
              <a:solidFill>
                <a:srgbClr val="1F4E79"/>
              </a:solidFill>
              <a:latin typeface="Segoe UI"/>
              <a:cs typeface="Segoe UI"/>
            </a:endParaRPr>
          </a:p>
        </p:txBody>
      </p:sp>
      <p:sp>
        <p:nvSpPr>
          <p:cNvPr id="31" name="TextBox 30">
            <a:extLst>
              <a:ext uri="{FF2B5EF4-FFF2-40B4-BE49-F238E27FC236}">
                <a16:creationId xmlns:a16="http://schemas.microsoft.com/office/drawing/2014/main" id="{6AFB7ED2-F58C-BD40-8A4C-396192DB5054}"/>
              </a:ext>
            </a:extLst>
          </p:cNvPr>
          <p:cNvSpPr txBox="1"/>
          <p:nvPr/>
        </p:nvSpPr>
        <p:spPr>
          <a:xfrm>
            <a:off x="9601200" y="3886200"/>
            <a:ext cx="1727200" cy="6096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sixième jalon du projet</a:t>
            </a:r>
            <a:endParaRPr lang="en-FR" sz="1500">
              <a:solidFill>
                <a:srgbClr val="3C3C3C"/>
              </a:solidFill>
              <a:latin typeface="Segoe UI"/>
              <a:cs typeface="Segoe UI"/>
            </a:endParaRPr>
          </a:p>
        </p:txBody>
      </p:sp>
      <p:sp>
        <p:nvSpPr>
          <p:cNvPr id="32" name="Rectangle 31">
            <a:extLst>
              <a:ext uri="{FF2B5EF4-FFF2-40B4-BE49-F238E27FC236}">
                <a16:creationId xmlns:a16="http://schemas.microsoft.com/office/drawing/2014/main" id="{A18D7712-DC0F-6442-BE18-924B61F9FF3D}"/>
              </a:ext>
            </a:extLst>
          </p:cNvPr>
          <p:cNvSpPr/>
          <p:nvPr/>
        </p:nvSpPr>
        <p:spPr>
          <a:xfrm>
            <a:off x="914400" y="4648200"/>
            <a:ext cx="10414000" cy="127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3" name="Rectangle 32">
            <a:extLst>
              <a:ext uri="{FF2B5EF4-FFF2-40B4-BE49-F238E27FC236}">
                <a16:creationId xmlns:a16="http://schemas.microsoft.com/office/drawing/2014/main" id="{6C907773-45CE-5F47-9B30-128229E29C14}"/>
              </a:ext>
            </a:extLst>
          </p:cNvPr>
          <p:cNvSpPr/>
          <p:nvPr/>
        </p:nvSpPr>
        <p:spPr>
          <a:xfrm>
            <a:off x="914400" y="5003800"/>
            <a:ext cx="10414000" cy="10414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4" name="TextBox 33">
            <a:extLst>
              <a:ext uri="{FF2B5EF4-FFF2-40B4-BE49-F238E27FC236}">
                <a16:creationId xmlns:a16="http://schemas.microsoft.com/office/drawing/2014/main" id="{47221EB0-2CA3-1A48-8BD9-A79A842A8135}"/>
              </a:ext>
            </a:extLst>
          </p:cNvPr>
          <p:cNvSpPr txBox="1"/>
          <p:nvPr/>
        </p:nvSpPr>
        <p:spPr>
          <a:xfrm>
            <a:off x="1219200" y="5257800"/>
            <a:ext cx="9804400" cy="6604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Un comité fait confiance à qui lui donne les dates de ce qu'il ne sait pas encore. Voici les nôtres.</a:t>
            </a:r>
            <a:endParaRPr lang="en-FR" sz="1900" b="1">
              <a:solidFill>
                <a:srgbClr val="1F4E79"/>
              </a:solidFill>
              <a:latin typeface="Segoe UI"/>
              <a:cs typeface="Segoe UI"/>
            </a:endParaRPr>
          </a:p>
        </p:txBody>
      </p:sp>
    </p:spTree>
    <p:extLst>
      <p:ext uri="{BB962C8B-B14F-4D97-AF65-F5344CB8AC3E}">
        <p14:creationId xmlns:p14="http://schemas.microsoft.com/office/powerpoint/2010/main" val="37592288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5402914-A558-5C4F-A66E-C0E7E7FE7BA9}"/>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Deux périmètres — et comment vous le saurez</a:t>
            </a:r>
            <a:endParaRPr lang="en-FR" sz="3200" b="1">
              <a:solidFill>
                <a:srgbClr val="1F4E79"/>
              </a:solidFill>
              <a:latin typeface="Segoe UI"/>
              <a:cs typeface="Segoe UI"/>
            </a:endParaRPr>
          </a:p>
        </p:txBody>
      </p:sp>
      <p:sp>
        <p:nvSpPr>
          <p:cNvPr id="3" name="Rectangle 2">
            <a:extLst>
              <a:ext uri="{FF2B5EF4-FFF2-40B4-BE49-F238E27FC236}">
                <a16:creationId xmlns:a16="http://schemas.microsoft.com/office/drawing/2014/main" id="{2899A6C0-A7B5-7A4F-BE50-DCFD6B8CA36F}"/>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2D45A3AD-B63E-2E41-8CD7-69390FB0F44E}"/>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b="1">
                <a:solidFill>
                  <a:srgbClr val="8A8F98"/>
                </a:solidFill>
                <a:latin typeface="Segoe UI"/>
                <a:cs typeface="Segoe UI"/>
              </a:rPr>
              <a:t>DEUX PÉRIMÈTRES, PAS UN</a:t>
            </a:r>
            <a:endParaRPr lang="en-FR" b="1">
              <a:solidFill>
                <a:srgbClr val="8A8F98"/>
              </a:solidFill>
              <a:latin typeface="Segoe UI"/>
              <a:cs typeface="Segoe UI"/>
            </a:endParaRPr>
          </a:p>
        </p:txBody>
      </p:sp>
      <p:sp>
        <p:nvSpPr>
          <p:cNvPr id="5" name="Rectangle 4">
            <a:extLst>
              <a:ext uri="{FF2B5EF4-FFF2-40B4-BE49-F238E27FC236}">
                <a16:creationId xmlns:a16="http://schemas.microsoft.com/office/drawing/2014/main" id="{3DC4AA0C-2B04-634C-B310-0E0E18BFEF4A}"/>
              </a:ext>
            </a:extLst>
          </p:cNvPr>
          <p:cNvSpPr/>
          <p:nvPr/>
        </p:nvSpPr>
        <p:spPr>
          <a:xfrm>
            <a:off x="914400" y="1752600"/>
            <a:ext cx="10414000" cy="2184400"/>
          </a:xfrm>
          <a:prstGeom prst="rect">
            <a:avLst/>
          </a:prstGeom>
          <a:solidFill>
            <a:srgbClr val="F2F3F5"/>
          </a:solidFill>
          <a:ln w="19050" cap="flat" cmpd="sng" algn="ctr">
            <a:solidFill>
              <a:srgbClr val="1F4E7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6" name="TextBox 5">
            <a:extLst>
              <a:ext uri="{FF2B5EF4-FFF2-40B4-BE49-F238E27FC236}">
                <a16:creationId xmlns:a16="http://schemas.microsoft.com/office/drawing/2014/main" id="{4A7F2017-2675-E34F-8774-FE5A3CE3C230}"/>
              </a:ext>
            </a:extLst>
          </p:cNvPr>
          <p:cNvSpPr txBox="1"/>
          <p:nvPr/>
        </p:nvSpPr>
        <p:spPr>
          <a:xfrm>
            <a:off x="1168400" y="1879600"/>
            <a:ext cx="9906000" cy="3302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Le système de management  →  la filiale entière · 6 exclusions nommées · 4 interfaces déclarées</a:t>
            </a:r>
            <a:endParaRPr lang="en-FR" sz="1700" b="1">
              <a:solidFill>
                <a:srgbClr val="1F4E79"/>
              </a:solidFill>
              <a:latin typeface="Segoe UI"/>
              <a:cs typeface="Segoe UI"/>
            </a:endParaRPr>
          </a:p>
        </p:txBody>
      </p:sp>
      <p:sp>
        <p:nvSpPr>
          <p:cNvPr id="7" name="Rectangle 6">
            <a:extLst>
              <a:ext uri="{FF2B5EF4-FFF2-40B4-BE49-F238E27FC236}">
                <a16:creationId xmlns:a16="http://schemas.microsoft.com/office/drawing/2014/main" id="{E91E718F-3850-DA40-8164-7EEF99DBD9C3}"/>
              </a:ext>
            </a:extLst>
          </p:cNvPr>
          <p:cNvSpPr/>
          <p:nvPr/>
        </p:nvSpPr>
        <p:spPr>
          <a:xfrm>
            <a:off x="1270000" y="2311400"/>
            <a:ext cx="9702800" cy="1498600"/>
          </a:xfrm>
          <a:prstGeom prst="rect">
            <a:avLst/>
          </a:prstGeom>
          <a:solidFill>
            <a:srgbClr val="FFFFFF"/>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8" name="TextBox 7">
            <a:extLst>
              <a:ext uri="{FF2B5EF4-FFF2-40B4-BE49-F238E27FC236}">
                <a16:creationId xmlns:a16="http://schemas.microsoft.com/office/drawing/2014/main" id="{9CE7224A-C5AE-1D46-84DD-59D52051A001}"/>
              </a:ext>
            </a:extLst>
          </p:cNvPr>
          <p:cNvSpPr txBox="1"/>
          <p:nvPr/>
        </p:nvSpPr>
        <p:spPr>
          <a:xfrm>
            <a:off x="1524000" y="2463800"/>
            <a:ext cx="9194800" cy="330200"/>
          </a:xfrm>
          <a:prstGeom prst="rect">
            <a:avLst/>
          </a:prstGeom>
          <a:noFill/>
        </p:spPr>
        <p:txBody>
          <a:bodyPr vertOverflow="overflow" vert="horz" wrap="square" rtlCol="0" anchor="t">
            <a:noAutofit/>
          </a:bodyPr>
          <a:lstStyle/>
          <a:p>
            <a:pPr algn="l"/>
            <a:r>
              <a:rPr lang="en-GB" sz="1700" b="1">
                <a:solidFill>
                  <a:srgbClr val="1A1A1A"/>
                </a:solidFill>
                <a:latin typeface="Segoe UI"/>
                <a:cs typeface="Segoe UI"/>
              </a:rPr>
              <a:t>La première certification  →  seulement les services reçus par le client pharmaceutique</a:t>
            </a:r>
            <a:endParaRPr lang="en-FR" sz="1700" b="1">
              <a:solidFill>
                <a:srgbClr val="1A1A1A"/>
              </a:solidFill>
              <a:latin typeface="Segoe UI"/>
              <a:cs typeface="Segoe UI"/>
            </a:endParaRPr>
          </a:p>
        </p:txBody>
      </p:sp>
      <p:sp>
        <p:nvSpPr>
          <p:cNvPr id="9" name="TextBox 8">
            <a:extLst>
              <a:ext uri="{FF2B5EF4-FFF2-40B4-BE49-F238E27FC236}">
                <a16:creationId xmlns:a16="http://schemas.microsoft.com/office/drawing/2014/main" id="{C27F9BE3-6214-9546-BFC6-E5DD762940CC}"/>
              </a:ext>
            </a:extLst>
          </p:cNvPr>
          <p:cNvSpPr txBox="1"/>
          <p:nvPr/>
        </p:nvSpPr>
        <p:spPr>
          <a:xfrm>
            <a:off x="1524000" y="2844800"/>
            <a:ext cx="9194800" cy="711200"/>
          </a:xfrm>
          <a:prstGeom prst="rect">
            <a:avLst/>
          </a:prstGeom>
          <a:noFill/>
        </p:spPr>
        <p:txBody>
          <a:bodyPr vertOverflow="overflow" vert="horz" wrap="square" rtlCol="0" anchor="t">
            <a:noAutofit/>
          </a:bodyPr>
          <a:lstStyle/>
          <a:p>
            <a:pPr algn="l"/>
            <a:r>
              <a:rPr lang="en-GB" sz="1700">
                <a:solidFill>
                  <a:srgbClr val="3C3C3C"/>
                </a:solidFill>
                <a:latin typeface="Segoe UI"/>
                <a:cs typeface="Segoe UI"/>
              </a:rPr>
              <a:t>chaîne du froid + flux d'entrepôt des sites E1 et E4</a:t>
            </a:r>
            <a:br>
              <a:rPr lang="en-GB" sz="1700">
                <a:latin typeface="Segoe UI"/>
              </a:rPr>
            </a:br>
            <a:r>
              <a:rPr lang="en-GB" sz="1700" b="1">
                <a:solidFill>
                  <a:srgbClr val="3C3C3C"/>
                </a:solidFill>
                <a:latin typeface="Segoe UI"/>
                <a:cs typeface="Segoe UI"/>
              </a:rPr>
              <a:t>hors</a:t>
            </a:r>
            <a:r>
              <a:rPr lang="en-GB" sz="1700">
                <a:solidFill>
                  <a:srgbClr val="3C3C3C"/>
                </a:solidFill>
                <a:latin typeface="Segoe UI"/>
                <a:cs typeface="Segoe UI"/>
              </a:rPr>
              <a:t> automatisation d'E4, jusqu'au 14 juin 2027</a:t>
            </a:r>
            <a:endParaRPr lang="en-FR" sz="1700">
              <a:solidFill>
                <a:srgbClr val="3C3C3C"/>
              </a:solidFill>
              <a:latin typeface="Segoe UI"/>
              <a:cs typeface="Segoe UI"/>
            </a:endParaRPr>
          </a:p>
        </p:txBody>
      </p:sp>
      <p:sp>
        <p:nvSpPr>
          <p:cNvPr id="10" name="TextBox 9">
            <a:extLst>
              <a:ext uri="{FF2B5EF4-FFF2-40B4-BE49-F238E27FC236}">
                <a16:creationId xmlns:a16="http://schemas.microsoft.com/office/drawing/2014/main" id="{47A26930-571A-184C-B809-5CABF3F4F689}"/>
              </a:ext>
            </a:extLst>
          </p:cNvPr>
          <p:cNvSpPr txBox="1"/>
          <p:nvPr/>
        </p:nvSpPr>
        <p:spPr>
          <a:xfrm>
            <a:off x="914400" y="4064000"/>
            <a:ext cx="10414000" cy="635000"/>
          </a:xfrm>
          <a:prstGeom prst="rect">
            <a:avLst/>
          </a:prstGeom>
          <a:noFill/>
        </p:spPr>
        <p:txBody>
          <a:bodyPr vertOverflow="overflow" vert="horz" wrap="square" rtlCol="0" anchor="t">
            <a:noAutofit/>
          </a:bodyPr>
          <a:lstStyle/>
          <a:p>
            <a:pPr algn="l"/>
            <a:r>
              <a:rPr lang="en-GB">
                <a:solidFill>
                  <a:srgbClr val="1A1A1A"/>
                </a:solidFill>
                <a:latin typeface="Segoe UI"/>
                <a:cs typeface="Segoe UI"/>
              </a:rPr>
              <a:t>Pourquoi : E4 est à la fois dédié à ce client </a:t>
            </a:r>
            <a:r>
              <a:rPr lang="en-GB" b="1">
                <a:solidFill>
                  <a:srgbClr val="1A1A1A"/>
                </a:solidFill>
                <a:latin typeface="Segoe UI"/>
                <a:cs typeface="Segoe UI"/>
              </a:rPr>
              <a:t>et</a:t>
            </a:r>
            <a:r>
              <a:rPr lang="en-GB">
                <a:solidFill>
                  <a:srgbClr val="1A1A1A"/>
                </a:solidFill>
                <a:latin typeface="Segoe UI"/>
                <a:cs typeface="Segoe UI"/>
              </a:rPr>
              <a:t> porteur d'automates sur un réseau non séparé.</a:t>
            </a:r>
            <a:br>
              <a:rPr lang="en-GB">
                <a:latin typeface="Segoe UI"/>
              </a:rPr>
            </a:br>
            <a:r>
              <a:rPr lang="en-GB">
                <a:solidFill>
                  <a:srgbClr val="1A1A1A"/>
                </a:solidFill>
                <a:latin typeface="Segoe UI"/>
                <a:cs typeface="Segoe UI"/>
              </a:rPr>
              <a:t>Certifier large aujourd'hui reviendrait à certifier ce défaut.</a:t>
            </a:r>
            <a:endParaRPr lang="en-FR">
              <a:solidFill>
                <a:srgbClr val="1A1A1A"/>
              </a:solidFill>
              <a:latin typeface="Segoe UI"/>
              <a:cs typeface="Segoe UI"/>
            </a:endParaRPr>
          </a:p>
        </p:txBody>
      </p:sp>
      <p:sp>
        <p:nvSpPr>
          <p:cNvPr id="11" name="Rectangle 10">
            <a:extLst>
              <a:ext uri="{FF2B5EF4-FFF2-40B4-BE49-F238E27FC236}">
                <a16:creationId xmlns:a16="http://schemas.microsoft.com/office/drawing/2014/main" id="{AED3A469-A942-2F42-9146-056A012768BE}"/>
              </a:ext>
            </a:extLst>
          </p:cNvPr>
          <p:cNvSpPr/>
          <p:nvPr/>
        </p:nvSpPr>
        <p:spPr>
          <a:xfrm>
            <a:off x="914400" y="4826000"/>
            <a:ext cx="10414000" cy="12700"/>
          </a:xfrm>
          <a:prstGeom prst="rect">
            <a:avLst/>
          </a:prstGeom>
          <a:solidFill>
            <a:srgbClr val="C7CDD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2" name="TextBox 11">
            <a:extLst>
              <a:ext uri="{FF2B5EF4-FFF2-40B4-BE49-F238E27FC236}">
                <a16:creationId xmlns:a16="http://schemas.microsoft.com/office/drawing/2014/main" id="{2716A2E7-42A1-5F49-9535-4DCEAFC48A74}"/>
              </a:ext>
            </a:extLst>
          </p:cNvPr>
          <p:cNvSpPr txBox="1"/>
          <p:nvPr/>
        </p:nvSpPr>
        <p:spPr>
          <a:xfrm>
            <a:off x="914400" y="4927600"/>
            <a:ext cx="10414000" cy="330200"/>
          </a:xfrm>
          <a:prstGeom prst="rect">
            <a:avLst/>
          </a:prstGeom>
          <a:noFill/>
        </p:spPr>
        <p:txBody>
          <a:bodyPr vertOverflow="overflow" vert="horz" wrap="none" rtlCol="0" anchor="t">
            <a:noAutofit/>
          </a:bodyPr>
          <a:lstStyle/>
          <a:p>
            <a:pPr algn="l"/>
            <a:r>
              <a:rPr lang="fr-FR" b="1" dirty="0">
                <a:solidFill>
                  <a:srgbClr val="1F4E79"/>
                </a:solidFill>
                <a:latin typeface="Segoe UI"/>
                <a:cs typeface="Segoe UI"/>
              </a:rPr>
              <a:t>COMMENT VOUS LE SAUREZ</a:t>
            </a:r>
            <a:r>
              <a:rPr lang="fr-FR" sz="1400" dirty="0">
                <a:solidFill>
                  <a:srgbClr val="3C3C3C"/>
                </a:solidFill>
                <a:latin typeface="Segoe UI"/>
                <a:cs typeface="Segoe UI"/>
              </a:rPr>
              <a:t>   7 indicateurs · point trimestriel au comité · revue annuelle de la politique</a:t>
            </a:r>
          </a:p>
        </p:txBody>
      </p:sp>
      <p:sp>
        <p:nvSpPr>
          <p:cNvPr id="13" name="Rectangle 12">
            <a:extLst>
              <a:ext uri="{FF2B5EF4-FFF2-40B4-BE49-F238E27FC236}">
                <a16:creationId xmlns:a16="http://schemas.microsoft.com/office/drawing/2014/main" id="{96F8B4EC-0B66-D343-97AF-DCD7C6CD8E56}"/>
              </a:ext>
            </a:extLst>
          </p:cNvPr>
          <p:cNvSpPr/>
          <p:nvPr/>
        </p:nvSpPr>
        <p:spPr>
          <a:xfrm>
            <a:off x="914400" y="5283200"/>
            <a:ext cx="10414000" cy="1016000"/>
          </a:xfrm>
          <a:prstGeom prst="rect">
            <a:avLst/>
          </a:prstGeom>
          <a:solidFill>
            <a:srgbClr val="E8EBEF"/>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4" name="TextBox 13">
            <a:extLst>
              <a:ext uri="{FF2B5EF4-FFF2-40B4-BE49-F238E27FC236}">
                <a16:creationId xmlns:a16="http://schemas.microsoft.com/office/drawing/2014/main" id="{AF071377-7873-4645-A139-82F2E1C29FC0}"/>
              </a:ext>
            </a:extLst>
          </p:cNvPr>
          <p:cNvSpPr txBox="1"/>
          <p:nvPr/>
        </p:nvSpPr>
        <p:spPr>
          <a:xfrm>
            <a:off x="1219200" y="5372100"/>
            <a:ext cx="9804400" cy="838200"/>
          </a:xfrm>
          <a:prstGeom prst="rect">
            <a:avLst/>
          </a:prstGeom>
          <a:noFill/>
        </p:spPr>
        <p:txBody>
          <a:bodyPr vertOverflow="overflow" vert="horz" wrap="square" rtlCol="0" anchor="t">
            <a:noAutofit/>
          </a:bodyPr>
          <a:lstStyle/>
          <a:p>
            <a:pPr algn="l">
              <a:lnSpc>
                <a:spcPts val="2000"/>
              </a:lnSpc>
              <a:buNone/>
            </a:pPr>
            <a:r>
              <a:rPr lang="fr-FR" sz="1500" b="1" dirty="0">
                <a:solidFill>
                  <a:srgbClr val="1A1A1A"/>
                </a:solidFill>
                <a:latin typeface="Segoe UI"/>
                <a:cs typeface="Segoe UI"/>
              </a:rPr>
              <a:t>Séparation des réseaux recettée</a:t>
            </a:r>
            <a:r>
              <a:rPr lang="fr-FR" sz="1500" dirty="0">
                <a:solidFill>
                  <a:srgbClr val="3C3C3C"/>
                </a:solidFill>
                <a:latin typeface="Segoe UI"/>
                <a:cs typeface="Segoe UI"/>
              </a:rPr>
              <a:t>   —   0 sur 6 entrepôts</a:t>
            </a:r>
            <a:r>
              <a:rPr lang="fr-FR" sz="1500" dirty="0">
                <a:solidFill>
                  <a:srgbClr val="1F4E79"/>
                </a:solidFill>
                <a:latin typeface="Segoe UI"/>
                <a:cs typeface="Segoe UI"/>
              </a:rPr>
              <a:t>   ← c'est lui qui lève l'exclusion d'E4</a:t>
            </a:r>
          </a:p>
          <a:p>
            <a:pPr algn="l">
              <a:lnSpc>
                <a:spcPts val="2000"/>
              </a:lnSpc>
              <a:buNone/>
            </a:pPr>
            <a:r>
              <a:rPr lang="fr-FR" sz="1500" b="1" dirty="0">
                <a:solidFill>
                  <a:srgbClr val="1A1A1A"/>
                </a:solidFill>
                <a:latin typeface="Segoe UI"/>
                <a:cs typeface="Segoe UI"/>
              </a:rPr>
              <a:t>Restaurations du WMS testées</a:t>
            </a:r>
            <a:r>
              <a:rPr lang="fr-FR" sz="1500" dirty="0">
                <a:solidFill>
                  <a:srgbClr val="3C3C3C"/>
                </a:solidFill>
                <a:latin typeface="Segoe UI"/>
                <a:cs typeface="Segoe UI"/>
              </a:rPr>
              <a:t>   —   0 sur 12 mois</a:t>
            </a:r>
          </a:p>
          <a:p>
            <a:pPr algn="l">
              <a:lnSpc>
                <a:spcPts val="2000"/>
              </a:lnSpc>
              <a:buNone/>
            </a:pPr>
            <a:r>
              <a:rPr lang="fr-FR" sz="1500" b="1" dirty="0">
                <a:solidFill>
                  <a:srgbClr val="1A1A1A"/>
                </a:solidFill>
                <a:latin typeface="Segoe UI"/>
                <a:cs typeface="Segoe UI"/>
              </a:rPr>
              <a:t>Accès du prestataire nominatifs</a:t>
            </a:r>
            <a:r>
              <a:rPr lang="fr-FR" sz="1500" dirty="0">
                <a:solidFill>
                  <a:srgbClr val="3C3C3C"/>
                </a:solidFill>
                <a:latin typeface="Segoe UI"/>
                <a:cs typeface="Segoe UI"/>
              </a:rPr>
              <a:t>   —   0 %</a:t>
            </a:r>
          </a:p>
        </p:txBody>
      </p:sp>
    </p:spTree>
    <p:extLst>
      <p:ext uri="{BB962C8B-B14F-4D97-AF65-F5344CB8AC3E}">
        <p14:creationId xmlns:p14="http://schemas.microsoft.com/office/powerpoint/2010/main" val="3309046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B11E2334-BD39-9B45-B595-CD608ABEB139}"/>
              </a:ext>
            </a:extLst>
          </p:cNvPr>
          <p:cNvSpPr/>
          <p:nvPr/>
        </p:nvSpPr>
        <p:spPr>
          <a:xfrm>
            <a:off x="711200" y="3454400"/>
            <a:ext cx="10617200" cy="685800"/>
          </a:xfrm>
          <a:prstGeom prst="rect">
            <a:avLst/>
          </a:prstGeom>
          <a:solidFill>
            <a:srgbClr val="F2F3F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65" name="Rectangle 64">
            <a:extLst>
              <a:ext uri="{FF2B5EF4-FFF2-40B4-BE49-F238E27FC236}">
                <a16:creationId xmlns:a16="http://schemas.microsoft.com/office/drawing/2014/main" id="{55E06D9B-D61D-1C4F-90AA-C2337301D136}"/>
              </a:ext>
            </a:extLst>
          </p:cNvPr>
          <p:cNvSpPr/>
          <p:nvPr/>
        </p:nvSpPr>
        <p:spPr>
          <a:xfrm>
            <a:off x="711200" y="2032000"/>
            <a:ext cx="10617200" cy="685800"/>
          </a:xfrm>
          <a:prstGeom prst="rect">
            <a:avLst/>
          </a:prstGeom>
          <a:solidFill>
            <a:srgbClr val="F2F3F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58" name="TextBox 57">
            <a:extLst>
              <a:ext uri="{FF2B5EF4-FFF2-40B4-BE49-F238E27FC236}">
                <a16:creationId xmlns:a16="http://schemas.microsoft.com/office/drawing/2014/main" id="{8549A6F7-2242-874B-B6A8-7549494412C2}"/>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Ce que nous vous demandons de signer</a:t>
            </a:r>
            <a:endParaRPr lang="en-FR" sz="3200" b="1">
              <a:solidFill>
                <a:srgbClr val="1F4E79"/>
              </a:solidFill>
              <a:latin typeface="Segoe UI"/>
              <a:cs typeface="Segoe UI"/>
            </a:endParaRPr>
          </a:p>
        </p:txBody>
      </p:sp>
      <p:sp>
        <p:nvSpPr>
          <p:cNvPr id="59" name="Rectangle 58">
            <a:extLst>
              <a:ext uri="{FF2B5EF4-FFF2-40B4-BE49-F238E27FC236}">
                <a16:creationId xmlns:a16="http://schemas.microsoft.com/office/drawing/2014/main" id="{43F85934-DDC8-8F49-8A8D-F9FDE1874B39}"/>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60" name="TextBox 59">
            <a:extLst>
              <a:ext uri="{FF2B5EF4-FFF2-40B4-BE49-F238E27FC236}">
                <a16:creationId xmlns:a16="http://schemas.microsoft.com/office/drawing/2014/main" id="{90B3C983-A597-3043-9AEE-657A04E58BD0}"/>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b="1">
                <a:solidFill>
                  <a:srgbClr val="3C3C3C"/>
                </a:solidFill>
                <a:latin typeface="Segoe UI"/>
                <a:cs typeface="Segoe UI"/>
              </a:rPr>
              <a:t>QUATRE DEMANDES</a:t>
            </a:r>
            <a:endParaRPr lang="en-FR" b="1">
              <a:solidFill>
                <a:srgbClr val="3C3C3C"/>
              </a:solidFill>
              <a:latin typeface="Segoe UI"/>
              <a:cs typeface="Segoe UI"/>
            </a:endParaRPr>
          </a:p>
        </p:txBody>
      </p:sp>
      <p:sp>
        <p:nvSpPr>
          <p:cNvPr id="61" name="TextBox 60">
            <a:extLst>
              <a:ext uri="{FF2B5EF4-FFF2-40B4-BE49-F238E27FC236}">
                <a16:creationId xmlns:a16="http://schemas.microsoft.com/office/drawing/2014/main" id="{C637D7C0-0318-3347-AED4-1D18765F77C1}"/>
              </a:ext>
            </a:extLst>
          </p:cNvPr>
          <p:cNvSpPr txBox="1"/>
          <p:nvPr/>
        </p:nvSpPr>
        <p:spPr>
          <a:xfrm>
            <a:off x="1397000" y="1651000"/>
            <a:ext cx="4699000" cy="279400"/>
          </a:xfrm>
          <a:prstGeom prst="rect">
            <a:avLst/>
          </a:prstGeom>
          <a:noFill/>
        </p:spPr>
        <p:txBody>
          <a:bodyPr vertOverflow="overflow" vert="horz" wrap="square" rtlCol="0" anchor="t">
            <a:noAutofit/>
          </a:bodyPr>
          <a:lstStyle/>
          <a:p>
            <a:pPr algn="l"/>
            <a:r>
              <a:rPr lang="en-GB" sz="1500" b="1">
                <a:solidFill>
                  <a:srgbClr val="3C3C3C"/>
                </a:solidFill>
                <a:latin typeface="Segoe UI"/>
                <a:cs typeface="Segoe UI"/>
              </a:rPr>
              <a:t>la demande</a:t>
            </a:r>
            <a:endParaRPr lang="en-FR" sz="1500" b="1">
              <a:solidFill>
                <a:srgbClr val="3C3C3C"/>
              </a:solidFill>
              <a:latin typeface="Segoe UI"/>
              <a:cs typeface="Segoe UI"/>
            </a:endParaRPr>
          </a:p>
        </p:txBody>
      </p:sp>
      <p:sp>
        <p:nvSpPr>
          <p:cNvPr id="62" name="TextBox 61">
            <a:extLst>
              <a:ext uri="{FF2B5EF4-FFF2-40B4-BE49-F238E27FC236}">
                <a16:creationId xmlns:a16="http://schemas.microsoft.com/office/drawing/2014/main" id="{7DD29E34-43D2-5B4D-B699-5158A426A386}"/>
              </a:ext>
            </a:extLst>
          </p:cNvPr>
          <p:cNvSpPr txBox="1"/>
          <p:nvPr/>
        </p:nvSpPr>
        <p:spPr>
          <a:xfrm>
            <a:off x="6223000" y="1651000"/>
            <a:ext cx="2413000" cy="279400"/>
          </a:xfrm>
          <a:prstGeom prst="rect">
            <a:avLst/>
          </a:prstGeom>
          <a:noFill/>
        </p:spPr>
        <p:txBody>
          <a:bodyPr vertOverflow="overflow" vert="horz" wrap="square" rtlCol="0" anchor="t">
            <a:noAutofit/>
          </a:bodyPr>
          <a:lstStyle/>
          <a:p>
            <a:pPr algn="l"/>
            <a:r>
              <a:rPr lang="en-GB" sz="1500" b="1">
                <a:solidFill>
                  <a:srgbClr val="3C3C3C"/>
                </a:solidFill>
                <a:latin typeface="Segoe UI"/>
                <a:cs typeface="Segoe UI"/>
              </a:rPr>
              <a:t>qui signe</a:t>
            </a:r>
            <a:endParaRPr lang="en-FR" sz="1500" b="1">
              <a:solidFill>
                <a:srgbClr val="3C3C3C"/>
              </a:solidFill>
              <a:latin typeface="Segoe UI"/>
              <a:cs typeface="Segoe UI"/>
            </a:endParaRPr>
          </a:p>
        </p:txBody>
      </p:sp>
      <p:sp>
        <p:nvSpPr>
          <p:cNvPr id="63" name="TextBox 62">
            <a:extLst>
              <a:ext uri="{FF2B5EF4-FFF2-40B4-BE49-F238E27FC236}">
                <a16:creationId xmlns:a16="http://schemas.microsoft.com/office/drawing/2014/main" id="{F4160CB2-3B62-ED46-9B46-2A343AA8FFFB}"/>
              </a:ext>
            </a:extLst>
          </p:cNvPr>
          <p:cNvSpPr txBox="1"/>
          <p:nvPr/>
        </p:nvSpPr>
        <p:spPr>
          <a:xfrm>
            <a:off x="8763000" y="1651000"/>
            <a:ext cx="2565400" cy="279400"/>
          </a:xfrm>
          <a:prstGeom prst="rect">
            <a:avLst/>
          </a:prstGeom>
          <a:noFill/>
        </p:spPr>
        <p:txBody>
          <a:bodyPr vertOverflow="overflow" vert="horz" wrap="square" rtlCol="0" anchor="t">
            <a:noAutofit/>
          </a:bodyPr>
          <a:lstStyle/>
          <a:p>
            <a:pPr algn="l"/>
            <a:r>
              <a:rPr lang="en-GB" sz="1500" b="1">
                <a:solidFill>
                  <a:srgbClr val="3C3C3C"/>
                </a:solidFill>
                <a:latin typeface="Segoe UI"/>
                <a:cs typeface="Segoe UI"/>
              </a:rPr>
              <a:t>quand</a:t>
            </a:r>
            <a:endParaRPr lang="en-FR" sz="1500" b="1">
              <a:solidFill>
                <a:srgbClr val="3C3C3C"/>
              </a:solidFill>
              <a:latin typeface="Segoe UI"/>
              <a:cs typeface="Segoe UI"/>
            </a:endParaRPr>
          </a:p>
        </p:txBody>
      </p:sp>
      <p:sp>
        <p:nvSpPr>
          <p:cNvPr id="64" name="Rectangle 63">
            <a:extLst>
              <a:ext uri="{FF2B5EF4-FFF2-40B4-BE49-F238E27FC236}">
                <a16:creationId xmlns:a16="http://schemas.microsoft.com/office/drawing/2014/main" id="{970C9AD5-1EC2-C549-A00D-CFC9B024915A}"/>
              </a:ext>
            </a:extLst>
          </p:cNvPr>
          <p:cNvSpPr/>
          <p:nvPr/>
        </p:nvSpPr>
        <p:spPr>
          <a:xfrm>
            <a:off x="914400" y="1981200"/>
            <a:ext cx="10414000" cy="25400"/>
          </a:xfrm>
          <a:prstGeom prst="rect">
            <a:avLst/>
          </a:prstGeom>
          <a:solidFill>
            <a:srgbClr val="C7CDD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66" name="TextBox 65">
            <a:extLst>
              <a:ext uri="{FF2B5EF4-FFF2-40B4-BE49-F238E27FC236}">
                <a16:creationId xmlns:a16="http://schemas.microsoft.com/office/drawing/2014/main" id="{30CE42EF-D155-3E4F-AE7A-3AD3AD869DB5}"/>
              </a:ext>
            </a:extLst>
          </p:cNvPr>
          <p:cNvSpPr txBox="1"/>
          <p:nvPr/>
        </p:nvSpPr>
        <p:spPr>
          <a:xfrm>
            <a:off x="965200" y="2133600"/>
            <a:ext cx="355600" cy="355600"/>
          </a:xfrm>
          <a:prstGeom prst="rect">
            <a:avLst/>
          </a:prstGeom>
          <a:noFill/>
        </p:spPr>
        <p:txBody>
          <a:bodyPr vertOverflow="overflow" vert="horz" wrap="square" rtlCol="0" anchor="t">
            <a:noAutofit/>
          </a:bodyPr>
          <a:lstStyle/>
          <a:p>
            <a:pPr algn="l"/>
            <a:r>
              <a:rPr lang="en-FR" sz="2000" b="1">
                <a:solidFill>
                  <a:srgbClr val="1F4E79"/>
                </a:solidFill>
                <a:latin typeface="Segoe UI"/>
                <a:cs typeface="Segoe UI"/>
              </a:rPr>
              <a:t>1</a:t>
            </a:r>
          </a:p>
        </p:txBody>
      </p:sp>
      <p:sp>
        <p:nvSpPr>
          <p:cNvPr id="67" name="TextBox 66">
            <a:extLst>
              <a:ext uri="{FF2B5EF4-FFF2-40B4-BE49-F238E27FC236}">
                <a16:creationId xmlns:a16="http://schemas.microsoft.com/office/drawing/2014/main" id="{58FAD213-3768-A249-8BB6-6023943563C7}"/>
              </a:ext>
            </a:extLst>
          </p:cNvPr>
          <p:cNvSpPr txBox="1"/>
          <p:nvPr/>
        </p:nvSpPr>
        <p:spPr>
          <a:xfrm>
            <a:off x="1397000" y="2133600"/>
            <a:ext cx="4699000" cy="635000"/>
          </a:xfrm>
          <a:prstGeom prst="rect">
            <a:avLst/>
          </a:prstGeom>
          <a:noFill/>
        </p:spPr>
        <p:txBody>
          <a:bodyPr vertOverflow="overflow" vert="horz" wrap="square" rtlCol="0" anchor="t">
            <a:noAutofit/>
          </a:bodyPr>
          <a:lstStyle/>
          <a:p>
            <a:pPr algn="l"/>
            <a:r>
              <a:rPr lang="en-GB" sz="1900" b="1">
                <a:solidFill>
                  <a:srgbClr val="1A1A1A"/>
                </a:solidFill>
                <a:latin typeface="Segoe UI"/>
                <a:cs typeface="Segoe UI"/>
              </a:rPr>
              <a:t>Confirmer le seuil d'acceptation du risque</a:t>
            </a:r>
            <a:endParaRPr lang="en-FR" sz="1900" b="1">
              <a:solidFill>
                <a:srgbClr val="1A1A1A"/>
              </a:solidFill>
              <a:latin typeface="Segoe UI"/>
              <a:cs typeface="Segoe UI"/>
            </a:endParaRPr>
          </a:p>
        </p:txBody>
      </p:sp>
      <p:sp>
        <p:nvSpPr>
          <p:cNvPr id="68" name="TextBox 67">
            <a:extLst>
              <a:ext uri="{FF2B5EF4-FFF2-40B4-BE49-F238E27FC236}">
                <a16:creationId xmlns:a16="http://schemas.microsoft.com/office/drawing/2014/main" id="{4E589A51-177D-7E4D-A97E-716E3C44DE35}"/>
              </a:ext>
            </a:extLst>
          </p:cNvPr>
          <p:cNvSpPr txBox="1"/>
          <p:nvPr/>
        </p:nvSpPr>
        <p:spPr>
          <a:xfrm>
            <a:off x="6223000" y="2159000"/>
            <a:ext cx="2413000" cy="5842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Direction Générale · Conseil</a:t>
            </a:r>
            <a:endParaRPr lang="en-FR" sz="1600">
              <a:solidFill>
                <a:srgbClr val="3C3C3C"/>
              </a:solidFill>
              <a:latin typeface="Segoe UI"/>
              <a:cs typeface="Segoe UI"/>
            </a:endParaRPr>
          </a:p>
        </p:txBody>
      </p:sp>
      <p:sp>
        <p:nvSpPr>
          <p:cNvPr id="69" name="TextBox 68">
            <a:extLst>
              <a:ext uri="{FF2B5EF4-FFF2-40B4-BE49-F238E27FC236}">
                <a16:creationId xmlns:a16="http://schemas.microsoft.com/office/drawing/2014/main" id="{66902FD5-4168-8249-9E2A-CC4E0D4AA5EC}"/>
              </a:ext>
            </a:extLst>
          </p:cNvPr>
          <p:cNvSpPr txBox="1"/>
          <p:nvPr/>
        </p:nvSpPr>
        <p:spPr>
          <a:xfrm>
            <a:off x="8763000" y="2159000"/>
            <a:ext cx="2565400" cy="3302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immédiat</a:t>
            </a:r>
            <a:endParaRPr lang="en-FR" sz="1500">
              <a:solidFill>
                <a:srgbClr val="3C3C3C"/>
              </a:solidFill>
              <a:latin typeface="Segoe UI"/>
              <a:cs typeface="Segoe UI"/>
            </a:endParaRPr>
          </a:p>
        </p:txBody>
      </p:sp>
      <p:sp>
        <p:nvSpPr>
          <p:cNvPr id="70" name="TextBox 69">
            <a:extLst>
              <a:ext uri="{FF2B5EF4-FFF2-40B4-BE49-F238E27FC236}">
                <a16:creationId xmlns:a16="http://schemas.microsoft.com/office/drawing/2014/main" id="{673B7CEE-CD97-6145-AFFF-82073757C7AC}"/>
              </a:ext>
            </a:extLst>
          </p:cNvPr>
          <p:cNvSpPr txBox="1"/>
          <p:nvPr/>
        </p:nvSpPr>
        <p:spPr>
          <a:xfrm>
            <a:off x="965200" y="2844800"/>
            <a:ext cx="355600" cy="355600"/>
          </a:xfrm>
          <a:prstGeom prst="rect">
            <a:avLst/>
          </a:prstGeom>
          <a:noFill/>
        </p:spPr>
        <p:txBody>
          <a:bodyPr vertOverflow="overflow" vert="horz" wrap="square" rtlCol="0" anchor="t">
            <a:noAutofit/>
          </a:bodyPr>
          <a:lstStyle/>
          <a:p>
            <a:pPr algn="l"/>
            <a:r>
              <a:rPr lang="en-FR" sz="2000" b="1">
                <a:solidFill>
                  <a:srgbClr val="1F4E79"/>
                </a:solidFill>
                <a:latin typeface="Segoe UI"/>
                <a:cs typeface="Segoe UI"/>
              </a:rPr>
              <a:t>2</a:t>
            </a:r>
          </a:p>
        </p:txBody>
      </p:sp>
      <p:sp>
        <p:nvSpPr>
          <p:cNvPr id="71" name="TextBox 70">
            <a:extLst>
              <a:ext uri="{FF2B5EF4-FFF2-40B4-BE49-F238E27FC236}">
                <a16:creationId xmlns:a16="http://schemas.microsoft.com/office/drawing/2014/main" id="{430D88C0-BEC6-004D-B715-F9F15CDAB111}"/>
              </a:ext>
            </a:extLst>
          </p:cNvPr>
          <p:cNvSpPr txBox="1"/>
          <p:nvPr/>
        </p:nvSpPr>
        <p:spPr>
          <a:xfrm>
            <a:off x="1397000" y="2844800"/>
            <a:ext cx="4699000" cy="635000"/>
          </a:xfrm>
          <a:prstGeom prst="rect">
            <a:avLst/>
          </a:prstGeom>
          <a:noFill/>
        </p:spPr>
        <p:txBody>
          <a:bodyPr vertOverflow="overflow" vert="horz" wrap="square" rtlCol="0" anchor="t">
            <a:noAutofit/>
          </a:bodyPr>
          <a:lstStyle/>
          <a:p>
            <a:pPr algn="l"/>
            <a:r>
              <a:rPr lang="en-GB" sz="1900" b="1">
                <a:solidFill>
                  <a:srgbClr val="1A1A1A"/>
                </a:solidFill>
                <a:latin typeface="Segoe UI"/>
                <a:cs typeface="Segoe UI"/>
              </a:rPr>
              <a:t>Financer le plan : 82 000 € / an, 13 mesures</a:t>
            </a:r>
            <a:endParaRPr lang="en-FR" sz="1900" b="1">
              <a:solidFill>
                <a:srgbClr val="1A1A1A"/>
              </a:solidFill>
              <a:latin typeface="Segoe UI"/>
              <a:cs typeface="Segoe UI"/>
            </a:endParaRPr>
          </a:p>
        </p:txBody>
      </p:sp>
      <p:sp>
        <p:nvSpPr>
          <p:cNvPr id="72" name="TextBox 71">
            <a:extLst>
              <a:ext uri="{FF2B5EF4-FFF2-40B4-BE49-F238E27FC236}">
                <a16:creationId xmlns:a16="http://schemas.microsoft.com/office/drawing/2014/main" id="{11D370D8-3564-DB46-9556-3FE17180E90F}"/>
              </a:ext>
            </a:extLst>
          </p:cNvPr>
          <p:cNvSpPr txBox="1"/>
          <p:nvPr/>
        </p:nvSpPr>
        <p:spPr>
          <a:xfrm>
            <a:off x="6223000" y="2870200"/>
            <a:ext cx="2413000" cy="5842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Direction Financière</a:t>
            </a:r>
            <a:endParaRPr lang="en-FR" sz="1600">
              <a:solidFill>
                <a:srgbClr val="3C3C3C"/>
              </a:solidFill>
              <a:latin typeface="Segoe UI"/>
              <a:cs typeface="Segoe UI"/>
            </a:endParaRPr>
          </a:p>
        </p:txBody>
      </p:sp>
      <p:sp>
        <p:nvSpPr>
          <p:cNvPr id="73" name="TextBox 72">
            <a:extLst>
              <a:ext uri="{FF2B5EF4-FFF2-40B4-BE49-F238E27FC236}">
                <a16:creationId xmlns:a16="http://schemas.microsoft.com/office/drawing/2014/main" id="{539A3D22-ACE7-7B43-A30A-9CB386DE6991}"/>
              </a:ext>
            </a:extLst>
          </p:cNvPr>
          <p:cNvSpPr txBox="1"/>
          <p:nvPr/>
        </p:nvSpPr>
        <p:spPr>
          <a:xfrm>
            <a:off x="8763000" y="2870200"/>
            <a:ext cx="2565400" cy="3302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exercice 2027</a:t>
            </a:r>
            <a:endParaRPr lang="en-FR" sz="1500">
              <a:solidFill>
                <a:srgbClr val="3C3C3C"/>
              </a:solidFill>
              <a:latin typeface="Segoe UI"/>
              <a:cs typeface="Segoe UI"/>
            </a:endParaRPr>
          </a:p>
        </p:txBody>
      </p:sp>
      <p:sp>
        <p:nvSpPr>
          <p:cNvPr id="75" name="TextBox 74">
            <a:extLst>
              <a:ext uri="{FF2B5EF4-FFF2-40B4-BE49-F238E27FC236}">
                <a16:creationId xmlns:a16="http://schemas.microsoft.com/office/drawing/2014/main" id="{82CA156F-EFB2-064E-8761-A4226D8B2350}"/>
              </a:ext>
            </a:extLst>
          </p:cNvPr>
          <p:cNvSpPr txBox="1"/>
          <p:nvPr/>
        </p:nvSpPr>
        <p:spPr>
          <a:xfrm>
            <a:off x="965200" y="3556000"/>
            <a:ext cx="355600" cy="355600"/>
          </a:xfrm>
          <a:prstGeom prst="rect">
            <a:avLst/>
          </a:prstGeom>
          <a:noFill/>
        </p:spPr>
        <p:txBody>
          <a:bodyPr vertOverflow="overflow" vert="horz" wrap="square" rtlCol="0" anchor="t">
            <a:noAutofit/>
          </a:bodyPr>
          <a:lstStyle/>
          <a:p>
            <a:pPr algn="l"/>
            <a:r>
              <a:rPr lang="en-FR" sz="2000" b="1">
                <a:solidFill>
                  <a:srgbClr val="1F4E79"/>
                </a:solidFill>
                <a:latin typeface="Segoe UI"/>
                <a:cs typeface="Segoe UI"/>
              </a:rPr>
              <a:t>3</a:t>
            </a:r>
          </a:p>
        </p:txBody>
      </p:sp>
      <p:sp>
        <p:nvSpPr>
          <p:cNvPr id="76" name="TextBox 75">
            <a:extLst>
              <a:ext uri="{FF2B5EF4-FFF2-40B4-BE49-F238E27FC236}">
                <a16:creationId xmlns:a16="http://schemas.microsoft.com/office/drawing/2014/main" id="{705F327A-9303-EE4C-87C1-8E2071536070}"/>
              </a:ext>
            </a:extLst>
          </p:cNvPr>
          <p:cNvSpPr txBox="1"/>
          <p:nvPr/>
        </p:nvSpPr>
        <p:spPr>
          <a:xfrm>
            <a:off x="1397000" y="3556000"/>
            <a:ext cx="4699000" cy="635000"/>
          </a:xfrm>
          <a:prstGeom prst="rect">
            <a:avLst/>
          </a:prstGeom>
          <a:noFill/>
        </p:spPr>
        <p:txBody>
          <a:bodyPr vertOverflow="overflow" vert="horz" wrap="square" rtlCol="0" anchor="t">
            <a:noAutofit/>
          </a:bodyPr>
          <a:lstStyle/>
          <a:p>
            <a:pPr algn="l"/>
            <a:r>
              <a:rPr lang="en-GB" sz="1900" b="1">
                <a:solidFill>
                  <a:srgbClr val="1A1A1A"/>
                </a:solidFill>
                <a:latin typeface="Segoe UI"/>
                <a:cs typeface="Segoe UI"/>
              </a:rPr>
              <a:t>Autoriser deux avenants contractuels</a:t>
            </a:r>
            <a:endParaRPr lang="en-FR" sz="1900" b="1">
              <a:solidFill>
                <a:srgbClr val="1A1A1A"/>
              </a:solidFill>
              <a:latin typeface="Segoe UI"/>
              <a:cs typeface="Segoe UI"/>
            </a:endParaRPr>
          </a:p>
        </p:txBody>
      </p:sp>
      <p:sp>
        <p:nvSpPr>
          <p:cNvPr id="77" name="TextBox 76">
            <a:extLst>
              <a:ext uri="{FF2B5EF4-FFF2-40B4-BE49-F238E27FC236}">
                <a16:creationId xmlns:a16="http://schemas.microsoft.com/office/drawing/2014/main" id="{862B002C-C5B4-2D40-8F68-9FB4F82CAF8A}"/>
              </a:ext>
            </a:extLst>
          </p:cNvPr>
          <p:cNvSpPr txBox="1"/>
          <p:nvPr/>
        </p:nvSpPr>
        <p:spPr>
          <a:xfrm>
            <a:off x="6223000" y="3581400"/>
            <a:ext cx="2413000" cy="5842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Directeur de la filiale</a:t>
            </a:r>
            <a:endParaRPr lang="en-FR" sz="1600">
              <a:solidFill>
                <a:srgbClr val="3C3C3C"/>
              </a:solidFill>
              <a:latin typeface="Segoe UI"/>
              <a:cs typeface="Segoe UI"/>
            </a:endParaRPr>
          </a:p>
        </p:txBody>
      </p:sp>
      <p:sp>
        <p:nvSpPr>
          <p:cNvPr id="78" name="TextBox 77">
            <a:extLst>
              <a:ext uri="{FF2B5EF4-FFF2-40B4-BE49-F238E27FC236}">
                <a16:creationId xmlns:a16="http://schemas.microsoft.com/office/drawing/2014/main" id="{B5D4A237-30E5-D348-AE76-ABBB92CDF662}"/>
              </a:ext>
            </a:extLst>
          </p:cNvPr>
          <p:cNvSpPr txBox="1"/>
          <p:nvPr/>
        </p:nvSpPr>
        <p:spPr>
          <a:xfrm>
            <a:off x="8763000" y="3581400"/>
            <a:ext cx="2565400" cy="330200"/>
          </a:xfrm>
          <a:prstGeom prst="rect">
            <a:avLst/>
          </a:prstGeom>
          <a:noFill/>
        </p:spPr>
        <p:txBody>
          <a:bodyPr vertOverflow="overflow" vert="horz" wrap="square" rtlCol="0" anchor="t">
            <a:noAutofit/>
          </a:bodyPr>
          <a:lstStyle/>
          <a:p>
            <a:pPr algn="l"/>
            <a:r>
              <a:rPr lang="en-GB" sz="1500" b="1">
                <a:solidFill>
                  <a:srgbClr val="1F4E79"/>
                </a:solidFill>
                <a:latin typeface="Segoe UI"/>
                <a:cs typeface="Segoe UI"/>
              </a:rPr>
              <a:t>avant novembre 2026</a:t>
            </a:r>
            <a:endParaRPr lang="en-FR" sz="1500" b="1">
              <a:solidFill>
                <a:srgbClr val="1F4E79"/>
              </a:solidFill>
              <a:latin typeface="Segoe UI"/>
              <a:cs typeface="Segoe UI"/>
            </a:endParaRPr>
          </a:p>
        </p:txBody>
      </p:sp>
      <p:sp>
        <p:nvSpPr>
          <p:cNvPr id="79" name="TextBox 78">
            <a:extLst>
              <a:ext uri="{FF2B5EF4-FFF2-40B4-BE49-F238E27FC236}">
                <a16:creationId xmlns:a16="http://schemas.microsoft.com/office/drawing/2014/main" id="{174FAFE5-5A31-D940-A466-44ACCCD85371}"/>
              </a:ext>
            </a:extLst>
          </p:cNvPr>
          <p:cNvSpPr txBox="1"/>
          <p:nvPr/>
        </p:nvSpPr>
        <p:spPr>
          <a:xfrm>
            <a:off x="965200" y="4267200"/>
            <a:ext cx="355600" cy="355600"/>
          </a:xfrm>
          <a:prstGeom prst="rect">
            <a:avLst/>
          </a:prstGeom>
          <a:noFill/>
        </p:spPr>
        <p:txBody>
          <a:bodyPr vertOverflow="overflow" vert="horz" wrap="square" rtlCol="0" anchor="t">
            <a:noAutofit/>
          </a:bodyPr>
          <a:lstStyle/>
          <a:p>
            <a:pPr algn="l"/>
            <a:r>
              <a:rPr lang="en-FR" sz="2000" b="1">
                <a:solidFill>
                  <a:srgbClr val="1F4E79"/>
                </a:solidFill>
                <a:latin typeface="Segoe UI"/>
                <a:cs typeface="Segoe UI"/>
              </a:rPr>
              <a:t>4</a:t>
            </a:r>
          </a:p>
        </p:txBody>
      </p:sp>
      <p:sp>
        <p:nvSpPr>
          <p:cNvPr id="80" name="TextBox 79">
            <a:extLst>
              <a:ext uri="{FF2B5EF4-FFF2-40B4-BE49-F238E27FC236}">
                <a16:creationId xmlns:a16="http://schemas.microsoft.com/office/drawing/2014/main" id="{B74CD705-031D-8E46-8583-F814B4E770E2}"/>
              </a:ext>
            </a:extLst>
          </p:cNvPr>
          <p:cNvSpPr txBox="1"/>
          <p:nvPr/>
        </p:nvSpPr>
        <p:spPr>
          <a:xfrm>
            <a:off x="1397000" y="4267200"/>
            <a:ext cx="4699000" cy="635000"/>
          </a:xfrm>
          <a:prstGeom prst="rect">
            <a:avLst/>
          </a:prstGeom>
          <a:noFill/>
        </p:spPr>
        <p:txBody>
          <a:bodyPr vertOverflow="overflow" vert="horz" wrap="square" rtlCol="0" anchor="t">
            <a:noAutofit/>
          </a:bodyPr>
          <a:lstStyle/>
          <a:p>
            <a:pPr algn="l"/>
            <a:r>
              <a:rPr lang="en-GB" sz="1900" b="1">
                <a:solidFill>
                  <a:srgbClr val="1A1A1A"/>
                </a:solidFill>
                <a:latin typeface="Segoe UI"/>
                <a:cs typeface="Segoe UI"/>
              </a:rPr>
              <a:t>Arrêter le périmètre de la première certification</a:t>
            </a:r>
            <a:endParaRPr lang="en-FR" sz="1900" b="1">
              <a:solidFill>
                <a:srgbClr val="1A1A1A"/>
              </a:solidFill>
              <a:latin typeface="Segoe UI"/>
              <a:cs typeface="Segoe UI"/>
            </a:endParaRPr>
          </a:p>
        </p:txBody>
      </p:sp>
      <p:sp>
        <p:nvSpPr>
          <p:cNvPr id="81" name="TextBox 80">
            <a:extLst>
              <a:ext uri="{FF2B5EF4-FFF2-40B4-BE49-F238E27FC236}">
                <a16:creationId xmlns:a16="http://schemas.microsoft.com/office/drawing/2014/main" id="{86F8908E-2621-C647-A30E-A0D4E7B9003F}"/>
              </a:ext>
            </a:extLst>
          </p:cNvPr>
          <p:cNvSpPr txBox="1"/>
          <p:nvPr/>
        </p:nvSpPr>
        <p:spPr>
          <a:xfrm>
            <a:off x="6223000" y="4292600"/>
            <a:ext cx="2413000" cy="5842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Comité Exécutif</a:t>
            </a:r>
            <a:endParaRPr lang="en-FR" sz="1600">
              <a:solidFill>
                <a:srgbClr val="3C3C3C"/>
              </a:solidFill>
              <a:latin typeface="Segoe UI"/>
              <a:cs typeface="Segoe UI"/>
            </a:endParaRPr>
          </a:p>
        </p:txBody>
      </p:sp>
      <p:sp>
        <p:nvSpPr>
          <p:cNvPr id="82" name="TextBox 81">
            <a:extLst>
              <a:ext uri="{FF2B5EF4-FFF2-40B4-BE49-F238E27FC236}">
                <a16:creationId xmlns:a16="http://schemas.microsoft.com/office/drawing/2014/main" id="{7EBA9A28-5836-CA46-8B75-0ADD71645398}"/>
              </a:ext>
            </a:extLst>
          </p:cNvPr>
          <p:cNvSpPr txBox="1"/>
          <p:nvPr/>
        </p:nvSpPr>
        <p:spPr>
          <a:xfrm>
            <a:off x="8763000" y="4292600"/>
            <a:ext cx="2565400" cy="3302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immédiat</a:t>
            </a:r>
            <a:endParaRPr lang="en-FR" sz="1500">
              <a:solidFill>
                <a:srgbClr val="3C3C3C"/>
              </a:solidFill>
              <a:latin typeface="Segoe UI"/>
              <a:cs typeface="Segoe UI"/>
            </a:endParaRPr>
          </a:p>
        </p:txBody>
      </p:sp>
      <p:sp>
        <p:nvSpPr>
          <p:cNvPr id="83" name="Rectangle 82">
            <a:extLst>
              <a:ext uri="{FF2B5EF4-FFF2-40B4-BE49-F238E27FC236}">
                <a16:creationId xmlns:a16="http://schemas.microsoft.com/office/drawing/2014/main" id="{DE59F3BC-61F3-E543-AC08-1C0D0FEB5E9A}"/>
              </a:ext>
            </a:extLst>
          </p:cNvPr>
          <p:cNvSpPr/>
          <p:nvPr/>
        </p:nvSpPr>
        <p:spPr>
          <a:xfrm>
            <a:off x="914400" y="5130800"/>
            <a:ext cx="10414000" cy="9144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84" name="TextBox 83">
            <a:extLst>
              <a:ext uri="{FF2B5EF4-FFF2-40B4-BE49-F238E27FC236}">
                <a16:creationId xmlns:a16="http://schemas.microsoft.com/office/drawing/2014/main" id="{C38199F9-EEB8-EA42-9781-00FF1C621D12}"/>
              </a:ext>
            </a:extLst>
          </p:cNvPr>
          <p:cNvSpPr txBox="1"/>
          <p:nvPr/>
        </p:nvSpPr>
        <p:spPr>
          <a:xfrm>
            <a:off x="1219200" y="5308600"/>
            <a:ext cx="6604000" cy="584200"/>
          </a:xfrm>
          <a:prstGeom prst="rect">
            <a:avLst/>
          </a:prstGeom>
          <a:noFill/>
        </p:spPr>
        <p:txBody>
          <a:bodyPr vertOverflow="overflow" vert="horz" wrap="square" rtlCol="0" anchor="t">
            <a:noAutofit/>
          </a:bodyPr>
          <a:lstStyle/>
          <a:p>
            <a:pPr algn="l"/>
            <a:r>
              <a:rPr lang="en-GB" sz="1600">
                <a:solidFill>
                  <a:srgbClr val="1A1A1A"/>
                </a:solidFill>
                <a:latin typeface="Segoe UI"/>
                <a:cs typeface="Segoe UI"/>
              </a:rPr>
              <a:t>Deux signatures accompagnent : l'acceptation formelle du risque
chaîne du froid, l'acceptation simple sur les données d'expédition.</a:t>
            </a:r>
            <a:endParaRPr lang="en-FR" sz="1600">
              <a:solidFill>
                <a:srgbClr val="1A1A1A"/>
              </a:solidFill>
              <a:latin typeface="Segoe UI"/>
              <a:cs typeface="Segoe UI"/>
            </a:endParaRPr>
          </a:p>
        </p:txBody>
      </p:sp>
      <p:sp>
        <p:nvSpPr>
          <p:cNvPr id="85" name="TextBox 84">
            <a:extLst>
              <a:ext uri="{FF2B5EF4-FFF2-40B4-BE49-F238E27FC236}">
                <a16:creationId xmlns:a16="http://schemas.microsoft.com/office/drawing/2014/main" id="{DE38606A-FF6F-524F-B5DB-5AE61F44118F}"/>
              </a:ext>
            </a:extLst>
          </p:cNvPr>
          <p:cNvSpPr txBox="1"/>
          <p:nvPr/>
        </p:nvSpPr>
        <p:spPr>
          <a:xfrm>
            <a:off x="8229600" y="5334000"/>
            <a:ext cx="2794000" cy="558800"/>
          </a:xfrm>
          <a:prstGeom prst="rect">
            <a:avLst/>
          </a:prstGeom>
          <a:noFill/>
        </p:spPr>
        <p:txBody>
          <a:bodyPr vertOverflow="overflow" vert="horz" wrap="square" rtlCol="0" anchor="t">
            <a:noAutofit/>
          </a:bodyPr>
          <a:lstStyle/>
          <a:p>
            <a:pPr algn="l"/>
            <a:r>
              <a:rPr lang="en-GB" b="1">
                <a:solidFill>
                  <a:srgbClr val="1F4E79"/>
                </a:solidFill>
                <a:latin typeface="Segoe UI"/>
                <a:cs typeface="Segoe UI"/>
              </a:rPr>
              <a:t>Aucune dérogation demandée.</a:t>
            </a:r>
            <a:endParaRPr lang="en-FR" b="1">
              <a:solidFill>
                <a:srgbClr val="1F4E79"/>
              </a:solidFill>
              <a:latin typeface="Segoe UI"/>
              <a:cs typeface="Segoe UI"/>
            </a:endParaRPr>
          </a:p>
        </p:txBody>
      </p:sp>
    </p:spTree>
    <p:extLst>
      <p:ext uri="{BB962C8B-B14F-4D97-AF65-F5344CB8AC3E}">
        <p14:creationId xmlns:p14="http://schemas.microsoft.com/office/powerpoint/2010/main" val="2851108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a:extLst>
              <a:ext uri="{FF2B5EF4-FFF2-40B4-BE49-F238E27FC236}">
                <a16:creationId xmlns:a16="http://schemas.microsoft.com/office/drawing/2014/main" id="{85ED9C0B-99FF-E842-9149-5BAE8051BF65}"/>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La limite</a:t>
            </a:r>
            <a:endParaRPr lang="en-FR" sz="3200" b="1">
              <a:solidFill>
                <a:srgbClr val="1F4E79"/>
              </a:solidFill>
              <a:latin typeface="Segoe UI"/>
              <a:cs typeface="Segoe UI"/>
            </a:endParaRPr>
          </a:p>
        </p:txBody>
      </p:sp>
      <p:sp>
        <p:nvSpPr>
          <p:cNvPr id="19" name="Rectangle 18">
            <a:extLst>
              <a:ext uri="{FF2B5EF4-FFF2-40B4-BE49-F238E27FC236}">
                <a16:creationId xmlns:a16="http://schemas.microsoft.com/office/drawing/2014/main" id="{F863852C-7635-9E4A-93A8-FC52BC23D917}"/>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0" name="TextBox 19">
            <a:extLst>
              <a:ext uri="{FF2B5EF4-FFF2-40B4-BE49-F238E27FC236}">
                <a16:creationId xmlns:a16="http://schemas.microsoft.com/office/drawing/2014/main" id="{B2849772-64FD-0E40-B76F-8BF60DC6D9FA}"/>
              </a:ext>
            </a:extLst>
          </p:cNvPr>
          <p:cNvSpPr txBox="1"/>
          <p:nvPr/>
        </p:nvSpPr>
        <p:spPr>
          <a:xfrm>
            <a:off x="914400" y="1574800"/>
            <a:ext cx="10414000" cy="482600"/>
          </a:xfrm>
          <a:prstGeom prst="rect">
            <a:avLst/>
          </a:prstGeom>
          <a:noFill/>
        </p:spPr>
        <p:txBody>
          <a:bodyPr vertOverflow="overflow" vert="horz" wrap="square" rtlCol="0" anchor="t">
            <a:noAutofit/>
          </a:bodyPr>
          <a:lstStyle/>
          <a:p>
            <a:pPr algn="l"/>
            <a:r>
              <a:rPr lang="en-GB" sz="2600" b="1">
                <a:solidFill>
                  <a:srgbClr val="1A1A1A"/>
                </a:solidFill>
                <a:latin typeface="Segoe UI"/>
                <a:cs typeface="Segoe UI"/>
              </a:rPr>
              <a:t>Un dossier prouve une méthode. Jamais la sécurité elle-même.</a:t>
            </a:r>
            <a:endParaRPr lang="en-FR" sz="2600" b="1">
              <a:solidFill>
                <a:srgbClr val="1A1A1A"/>
              </a:solidFill>
              <a:latin typeface="Segoe UI"/>
              <a:cs typeface="Segoe UI"/>
            </a:endParaRPr>
          </a:p>
        </p:txBody>
      </p:sp>
      <p:sp>
        <p:nvSpPr>
          <p:cNvPr id="21" name="TextBox 20">
            <a:extLst>
              <a:ext uri="{FF2B5EF4-FFF2-40B4-BE49-F238E27FC236}">
                <a16:creationId xmlns:a16="http://schemas.microsoft.com/office/drawing/2014/main" id="{2E34CDA9-FDAC-2544-8BA9-90E11E1C464B}"/>
              </a:ext>
            </a:extLst>
          </p:cNvPr>
          <p:cNvSpPr txBox="1"/>
          <p:nvPr/>
        </p:nvSpPr>
        <p:spPr>
          <a:xfrm>
            <a:off x="914400" y="2133600"/>
            <a:ext cx="10414000" cy="355600"/>
          </a:xfrm>
          <a:prstGeom prst="rect">
            <a:avLst/>
          </a:prstGeom>
          <a:noFill/>
        </p:spPr>
        <p:txBody>
          <a:bodyPr vertOverflow="overflow" vert="horz" wrap="square" rtlCol="0" anchor="t">
            <a:noAutofit/>
          </a:bodyPr>
          <a:lstStyle/>
          <a:p>
            <a:pPr algn="l"/>
            <a:r>
              <a:rPr lang="en-GB" i="1">
                <a:solidFill>
                  <a:srgbClr val="3C3C3C"/>
                </a:solidFill>
                <a:latin typeface="Segoe UI"/>
                <a:cs typeface="Segoe UI"/>
              </a:rPr>
              <a:t>Des serveurs mal configurés se moquent de la qualité du classeur.</a:t>
            </a:r>
            <a:endParaRPr lang="en-FR" i="1">
              <a:solidFill>
                <a:srgbClr val="3C3C3C"/>
              </a:solidFill>
              <a:latin typeface="Segoe UI"/>
              <a:cs typeface="Segoe UI"/>
            </a:endParaRPr>
          </a:p>
        </p:txBody>
      </p:sp>
      <p:sp>
        <p:nvSpPr>
          <p:cNvPr id="22" name="TextBox 21">
            <a:extLst>
              <a:ext uri="{FF2B5EF4-FFF2-40B4-BE49-F238E27FC236}">
                <a16:creationId xmlns:a16="http://schemas.microsoft.com/office/drawing/2014/main" id="{BEF3264A-F097-DA42-AFA5-E2421D13CD23}"/>
              </a:ext>
            </a:extLst>
          </p:cNvPr>
          <p:cNvSpPr txBox="1"/>
          <p:nvPr/>
        </p:nvSpPr>
        <p:spPr>
          <a:xfrm>
            <a:off x="914400" y="2743200"/>
            <a:ext cx="3810000" cy="304800"/>
          </a:xfrm>
          <a:prstGeom prst="rect">
            <a:avLst/>
          </a:prstGeom>
          <a:noFill/>
        </p:spPr>
        <p:txBody>
          <a:bodyPr vertOverflow="overflow" vert="horz" wrap="square" rtlCol="0" anchor="t">
            <a:noAutofit/>
          </a:bodyPr>
          <a:lstStyle/>
          <a:p>
            <a:pPr algn="l"/>
            <a:r>
              <a:rPr lang="en-GB" sz="1600" b="1">
                <a:solidFill>
                  <a:srgbClr val="3C3C3C"/>
                </a:solidFill>
                <a:latin typeface="Segoe UI"/>
                <a:cs typeface="Segoe UI"/>
              </a:rPr>
              <a:t>Ce que nous venons d'établir</a:t>
            </a:r>
            <a:endParaRPr lang="en-FR" sz="1600" b="1">
              <a:solidFill>
                <a:srgbClr val="3C3C3C"/>
              </a:solidFill>
              <a:latin typeface="Segoe UI"/>
              <a:cs typeface="Segoe UI"/>
            </a:endParaRPr>
          </a:p>
        </p:txBody>
      </p:sp>
      <p:sp>
        <p:nvSpPr>
          <p:cNvPr id="23" name="TextBox 22">
            <a:extLst>
              <a:ext uri="{FF2B5EF4-FFF2-40B4-BE49-F238E27FC236}">
                <a16:creationId xmlns:a16="http://schemas.microsoft.com/office/drawing/2014/main" id="{1E184B67-388D-AF45-B834-35A87D005B8E}"/>
              </a:ext>
            </a:extLst>
          </p:cNvPr>
          <p:cNvSpPr txBox="1"/>
          <p:nvPr/>
        </p:nvSpPr>
        <p:spPr>
          <a:xfrm>
            <a:off x="4978400" y="2717800"/>
            <a:ext cx="6350000" cy="609600"/>
          </a:xfrm>
          <a:prstGeom prst="rect">
            <a:avLst/>
          </a:prstGeom>
          <a:noFill/>
        </p:spPr>
        <p:txBody>
          <a:bodyPr vertOverflow="overflow" vert="horz" wrap="square" rtlCol="0" anchor="t">
            <a:noAutofit/>
          </a:bodyPr>
          <a:lstStyle/>
          <a:p>
            <a:pPr algn="l"/>
            <a:r>
              <a:rPr lang="en-GB">
                <a:solidFill>
                  <a:srgbClr val="1A1A1A"/>
                </a:solidFill>
                <a:latin typeface="Segoe UI"/>
                <a:cs typeface="Segoe UI"/>
              </a:rPr>
              <a:t>où nous en sommes, ce qui nous menace,
ce que coûte le traitement</a:t>
            </a:r>
            <a:endParaRPr lang="en-FR">
              <a:solidFill>
                <a:srgbClr val="1A1A1A"/>
              </a:solidFill>
              <a:latin typeface="Segoe UI"/>
              <a:cs typeface="Segoe UI"/>
            </a:endParaRPr>
          </a:p>
        </p:txBody>
      </p:sp>
      <p:sp>
        <p:nvSpPr>
          <p:cNvPr id="24" name="TextBox 23">
            <a:extLst>
              <a:ext uri="{FF2B5EF4-FFF2-40B4-BE49-F238E27FC236}">
                <a16:creationId xmlns:a16="http://schemas.microsoft.com/office/drawing/2014/main" id="{4CF534FD-577C-9D45-AD79-783821F20B0D}"/>
              </a:ext>
            </a:extLst>
          </p:cNvPr>
          <p:cNvSpPr txBox="1"/>
          <p:nvPr/>
        </p:nvSpPr>
        <p:spPr>
          <a:xfrm>
            <a:off x="914400" y="3454400"/>
            <a:ext cx="3810000" cy="304800"/>
          </a:xfrm>
          <a:prstGeom prst="rect">
            <a:avLst/>
          </a:prstGeom>
          <a:noFill/>
        </p:spPr>
        <p:txBody>
          <a:bodyPr vertOverflow="overflow" vert="horz" wrap="square" rtlCol="0" anchor="t">
            <a:noAutofit/>
          </a:bodyPr>
          <a:lstStyle/>
          <a:p>
            <a:pPr algn="l"/>
            <a:r>
              <a:rPr lang="en-GB" sz="1600" b="1">
                <a:solidFill>
                  <a:srgbClr val="3C3C3C"/>
                </a:solidFill>
                <a:latin typeface="Segoe UI"/>
                <a:cs typeface="Segoe UI"/>
              </a:rPr>
              <a:t>Ce que nous n'avons pas établi</a:t>
            </a:r>
            <a:endParaRPr lang="en-FR" sz="1600" b="1">
              <a:solidFill>
                <a:srgbClr val="3C3C3C"/>
              </a:solidFill>
              <a:latin typeface="Segoe UI"/>
              <a:cs typeface="Segoe UI"/>
            </a:endParaRPr>
          </a:p>
        </p:txBody>
      </p:sp>
      <p:sp>
        <p:nvSpPr>
          <p:cNvPr id="25" name="TextBox 24">
            <a:extLst>
              <a:ext uri="{FF2B5EF4-FFF2-40B4-BE49-F238E27FC236}">
                <a16:creationId xmlns:a16="http://schemas.microsoft.com/office/drawing/2014/main" id="{46848A35-A293-D54B-8821-70CF1BFD1C5B}"/>
              </a:ext>
            </a:extLst>
          </p:cNvPr>
          <p:cNvSpPr txBox="1"/>
          <p:nvPr/>
        </p:nvSpPr>
        <p:spPr>
          <a:xfrm>
            <a:off x="4978400" y="3429000"/>
            <a:ext cx="6350000" cy="3556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que nous sommes protégés</a:t>
            </a:r>
            <a:endParaRPr lang="en-FR" sz="1900" b="1">
              <a:solidFill>
                <a:srgbClr val="1F4E79"/>
              </a:solidFill>
              <a:latin typeface="Segoe UI"/>
              <a:cs typeface="Segoe UI"/>
            </a:endParaRPr>
          </a:p>
        </p:txBody>
      </p:sp>
      <p:sp>
        <p:nvSpPr>
          <p:cNvPr id="26" name="Rectangle 25">
            <a:extLst>
              <a:ext uri="{FF2B5EF4-FFF2-40B4-BE49-F238E27FC236}">
                <a16:creationId xmlns:a16="http://schemas.microsoft.com/office/drawing/2014/main" id="{864D67C5-80AC-AE41-81C4-31DABED0E715}"/>
              </a:ext>
            </a:extLst>
          </p:cNvPr>
          <p:cNvSpPr/>
          <p:nvPr/>
        </p:nvSpPr>
        <p:spPr>
          <a:xfrm>
            <a:off x="914400" y="4013200"/>
            <a:ext cx="10414000" cy="12700"/>
          </a:xfrm>
          <a:prstGeom prst="rect">
            <a:avLst/>
          </a:prstGeom>
          <a:solidFill>
            <a:srgbClr val="C7CDD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7" name="TextBox 26">
            <a:extLst>
              <a:ext uri="{FF2B5EF4-FFF2-40B4-BE49-F238E27FC236}">
                <a16:creationId xmlns:a16="http://schemas.microsoft.com/office/drawing/2014/main" id="{BBD80B51-7034-2440-8F18-69D4F08349DD}"/>
              </a:ext>
            </a:extLst>
          </p:cNvPr>
          <p:cNvSpPr txBox="1"/>
          <p:nvPr/>
        </p:nvSpPr>
        <p:spPr>
          <a:xfrm>
            <a:off x="914400" y="4165600"/>
            <a:ext cx="10414000" cy="304800"/>
          </a:xfrm>
          <a:prstGeom prst="rect">
            <a:avLst/>
          </a:prstGeom>
          <a:noFill/>
        </p:spPr>
        <p:txBody>
          <a:bodyPr vertOverflow="overflow" vert="horz" wrap="square" rtlCol="0" anchor="t">
            <a:noAutofit/>
          </a:bodyPr>
          <a:lstStyle/>
          <a:p>
            <a:pPr algn="l"/>
            <a:r>
              <a:rPr lang="en-GB" sz="1600" b="1">
                <a:solidFill>
                  <a:srgbClr val="3C3C3C"/>
                </a:solidFill>
                <a:latin typeface="Segoe UI"/>
                <a:cs typeface="Segoe UI"/>
              </a:rPr>
              <a:t>Les trois dates qui transforment la méthode en preuve</a:t>
            </a:r>
            <a:endParaRPr lang="en-FR" sz="1600" b="1">
              <a:solidFill>
                <a:srgbClr val="3C3C3C"/>
              </a:solidFill>
              <a:latin typeface="Segoe UI"/>
              <a:cs typeface="Segoe UI"/>
            </a:endParaRPr>
          </a:p>
        </p:txBody>
      </p:sp>
      <p:sp>
        <p:nvSpPr>
          <p:cNvPr id="28" name="TextBox 27">
            <a:extLst>
              <a:ext uri="{FF2B5EF4-FFF2-40B4-BE49-F238E27FC236}">
                <a16:creationId xmlns:a16="http://schemas.microsoft.com/office/drawing/2014/main" id="{DE63AABB-80A9-D846-8685-DB20C188E76C}"/>
              </a:ext>
            </a:extLst>
          </p:cNvPr>
          <p:cNvSpPr txBox="1"/>
          <p:nvPr/>
        </p:nvSpPr>
        <p:spPr>
          <a:xfrm>
            <a:off x="914400" y="4597400"/>
            <a:ext cx="2921000" cy="381000"/>
          </a:xfrm>
          <a:prstGeom prst="rect">
            <a:avLst/>
          </a:prstGeom>
          <a:noFill/>
        </p:spPr>
        <p:txBody>
          <a:bodyPr vertOverflow="overflow" vert="horz" wrap="square" rtlCol="0" anchor="t">
            <a:noAutofit/>
          </a:bodyPr>
          <a:lstStyle/>
          <a:p>
            <a:pPr algn="l"/>
            <a:r>
              <a:rPr lang="en-GB" sz="2100" b="1">
                <a:solidFill>
                  <a:srgbClr val="1F4E79"/>
                </a:solidFill>
                <a:latin typeface="Segoe UI"/>
                <a:cs typeface="Segoe UI"/>
              </a:rPr>
              <a:t>14 novembre 2026</a:t>
            </a:r>
            <a:endParaRPr lang="en-FR" sz="2100" b="1">
              <a:solidFill>
                <a:srgbClr val="1F4E79"/>
              </a:solidFill>
              <a:latin typeface="Segoe UI"/>
              <a:cs typeface="Segoe UI"/>
            </a:endParaRPr>
          </a:p>
        </p:txBody>
      </p:sp>
      <p:sp>
        <p:nvSpPr>
          <p:cNvPr id="29" name="TextBox 28">
            <a:extLst>
              <a:ext uri="{FF2B5EF4-FFF2-40B4-BE49-F238E27FC236}">
                <a16:creationId xmlns:a16="http://schemas.microsoft.com/office/drawing/2014/main" id="{93EFD7D1-EA64-294C-BDE9-C331C80C4689}"/>
              </a:ext>
            </a:extLst>
          </p:cNvPr>
          <p:cNvSpPr txBox="1"/>
          <p:nvPr/>
        </p:nvSpPr>
        <p:spPr>
          <a:xfrm>
            <a:off x="4064000" y="4622800"/>
            <a:ext cx="7264400" cy="355600"/>
          </a:xfrm>
          <a:prstGeom prst="rect">
            <a:avLst/>
          </a:prstGeom>
          <a:noFill/>
        </p:spPr>
        <p:txBody>
          <a:bodyPr vertOverflow="overflow" vert="horz" wrap="square" rtlCol="0" anchor="t">
            <a:noAutofit/>
          </a:bodyPr>
          <a:lstStyle/>
          <a:p>
            <a:pPr algn="l"/>
            <a:r>
              <a:rPr lang="en-GB" sz="1900">
                <a:solidFill>
                  <a:srgbClr val="1A1A1A"/>
                </a:solidFill>
                <a:latin typeface="Segoe UI"/>
                <a:cs typeface="Segoe UI"/>
              </a:rPr>
              <a:t>le test de restauration</a:t>
            </a:r>
            <a:endParaRPr lang="en-FR" sz="1900">
              <a:solidFill>
                <a:srgbClr val="1A1A1A"/>
              </a:solidFill>
              <a:latin typeface="Segoe UI"/>
              <a:cs typeface="Segoe UI"/>
            </a:endParaRPr>
          </a:p>
        </p:txBody>
      </p:sp>
      <p:sp>
        <p:nvSpPr>
          <p:cNvPr id="30" name="TextBox 29">
            <a:extLst>
              <a:ext uri="{FF2B5EF4-FFF2-40B4-BE49-F238E27FC236}">
                <a16:creationId xmlns:a16="http://schemas.microsoft.com/office/drawing/2014/main" id="{CAF311DF-1ACF-5348-991A-A1139138767C}"/>
              </a:ext>
            </a:extLst>
          </p:cNvPr>
          <p:cNvSpPr txBox="1"/>
          <p:nvPr/>
        </p:nvSpPr>
        <p:spPr>
          <a:xfrm>
            <a:off x="914400" y="5080000"/>
            <a:ext cx="2921000" cy="381000"/>
          </a:xfrm>
          <a:prstGeom prst="rect">
            <a:avLst/>
          </a:prstGeom>
          <a:noFill/>
        </p:spPr>
        <p:txBody>
          <a:bodyPr vertOverflow="overflow" vert="horz" wrap="square" rtlCol="0" anchor="t">
            <a:noAutofit/>
          </a:bodyPr>
          <a:lstStyle/>
          <a:p>
            <a:pPr algn="l"/>
            <a:r>
              <a:rPr lang="en-GB" sz="2100" b="1">
                <a:solidFill>
                  <a:srgbClr val="1F4E79"/>
                </a:solidFill>
                <a:latin typeface="Segoe UI"/>
                <a:cs typeface="Segoe UI"/>
              </a:rPr>
              <a:t>14 janvier 2027</a:t>
            </a:r>
            <a:endParaRPr lang="en-FR" sz="2100" b="1">
              <a:solidFill>
                <a:srgbClr val="1F4E79"/>
              </a:solidFill>
              <a:latin typeface="Segoe UI"/>
              <a:cs typeface="Segoe UI"/>
            </a:endParaRPr>
          </a:p>
        </p:txBody>
      </p:sp>
      <p:sp>
        <p:nvSpPr>
          <p:cNvPr id="31" name="TextBox 30">
            <a:extLst>
              <a:ext uri="{FF2B5EF4-FFF2-40B4-BE49-F238E27FC236}">
                <a16:creationId xmlns:a16="http://schemas.microsoft.com/office/drawing/2014/main" id="{340A060E-AD9D-BB4B-814B-C8D83A4F2ECC}"/>
              </a:ext>
            </a:extLst>
          </p:cNvPr>
          <p:cNvSpPr txBox="1"/>
          <p:nvPr/>
        </p:nvSpPr>
        <p:spPr>
          <a:xfrm>
            <a:off x="4064000" y="5105400"/>
            <a:ext cx="7264400" cy="355600"/>
          </a:xfrm>
          <a:prstGeom prst="rect">
            <a:avLst/>
          </a:prstGeom>
          <a:noFill/>
        </p:spPr>
        <p:txBody>
          <a:bodyPr vertOverflow="overflow" vert="horz" wrap="square" rtlCol="0" anchor="t">
            <a:noAutofit/>
          </a:bodyPr>
          <a:lstStyle/>
          <a:p>
            <a:pPr algn="l"/>
            <a:r>
              <a:rPr lang="en-GB" sz="1900">
                <a:solidFill>
                  <a:srgbClr val="1A1A1A"/>
                </a:solidFill>
                <a:latin typeface="Segoe UI"/>
                <a:cs typeface="Segoe UI"/>
              </a:rPr>
              <a:t>les comptes nommés du prestataire</a:t>
            </a:r>
            <a:endParaRPr lang="en-FR" sz="1900">
              <a:solidFill>
                <a:srgbClr val="1A1A1A"/>
              </a:solidFill>
              <a:latin typeface="Segoe UI"/>
              <a:cs typeface="Segoe UI"/>
            </a:endParaRPr>
          </a:p>
        </p:txBody>
      </p:sp>
      <p:sp>
        <p:nvSpPr>
          <p:cNvPr id="32" name="TextBox 31">
            <a:extLst>
              <a:ext uri="{FF2B5EF4-FFF2-40B4-BE49-F238E27FC236}">
                <a16:creationId xmlns:a16="http://schemas.microsoft.com/office/drawing/2014/main" id="{C9A800A4-D524-9E47-BAA4-9DB97B384811}"/>
              </a:ext>
            </a:extLst>
          </p:cNvPr>
          <p:cNvSpPr txBox="1"/>
          <p:nvPr/>
        </p:nvSpPr>
        <p:spPr>
          <a:xfrm>
            <a:off x="914400" y="5562600"/>
            <a:ext cx="2921000" cy="381000"/>
          </a:xfrm>
          <a:prstGeom prst="rect">
            <a:avLst/>
          </a:prstGeom>
          <a:noFill/>
        </p:spPr>
        <p:txBody>
          <a:bodyPr vertOverflow="overflow" vert="horz" wrap="square" rtlCol="0" anchor="t">
            <a:noAutofit/>
          </a:bodyPr>
          <a:lstStyle/>
          <a:p>
            <a:pPr algn="l"/>
            <a:r>
              <a:rPr lang="en-GB" sz="2100" b="1">
                <a:solidFill>
                  <a:srgbClr val="1F4E79"/>
                </a:solidFill>
                <a:latin typeface="Segoe UI"/>
                <a:cs typeface="Segoe UI"/>
              </a:rPr>
              <a:t>14 juin 2027</a:t>
            </a:r>
            <a:endParaRPr lang="en-FR" sz="2100" b="1">
              <a:solidFill>
                <a:srgbClr val="1F4E79"/>
              </a:solidFill>
              <a:latin typeface="Segoe UI"/>
              <a:cs typeface="Segoe UI"/>
            </a:endParaRPr>
          </a:p>
        </p:txBody>
      </p:sp>
      <p:sp>
        <p:nvSpPr>
          <p:cNvPr id="33" name="TextBox 32">
            <a:extLst>
              <a:ext uri="{FF2B5EF4-FFF2-40B4-BE49-F238E27FC236}">
                <a16:creationId xmlns:a16="http://schemas.microsoft.com/office/drawing/2014/main" id="{1D7F9A87-3E50-8D42-9D68-AF7172CD88BC}"/>
              </a:ext>
            </a:extLst>
          </p:cNvPr>
          <p:cNvSpPr txBox="1"/>
          <p:nvPr/>
        </p:nvSpPr>
        <p:spPr>
          <a:xfrm>
            <a:off x="4064000" y="5588000"/>
            <a:ext cx="7264400" cy="355600"/>
          </a:xfrm>
          <a:prstGeom prst="rect">
            <a:avLst/>
          </a:prstGeom>
          <a:noFill/>
        </p:spPr>
        <p:txBody>
          <a:bodyPr vertOverflow="overflow" vert="horz" wrap="square" rtlCol="0" anchor="t">
            <a:noAutofit/>
          </a:bodyPr>
          <a:lstStyle/>
          <a:p>
            <a:pPr algn="l"/>
            <a:r>
              <a:rPr lang="en-GB" sz="1900">
                <a:solidFill>
                  <a:srgbClr val="1A1A1A"/>
                </a:solidFill>
                <a:latin typeface="Segoe UI"/>
                <a:cs typeface="Segoe UI"/>
              </a:rPr>
              <a:t>la séparation des réseaux</a:t>
            </a:r>
            <a:endParaRPr lang="en-FR" sz="1900">
              <a:solidFill>
                <a:srgbClr val="1A1A1A"/>
              </a:solidFill>
              <a:latin typeface="Segoe UI"/>
              <a:cs typeface="Segoe UI"/>
            </a:endParaRPr>
          </a:p>
        </p:txBody>
      </p:sp>
    </p:spTree>
    <p:extLst>
      <p:ext uri="{BB962C8B-B14F-4D97-AF65-F5344CB8AC3E}">
        <p14:creationId xmlns:p14="http://schemas.microsoft.com/office/powerpoint/2010/main" val="35882167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A1A1A">
            <a:alpha val="100000"/>
          </a:srgbClr>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84B8736-84DF-1A43-B21E-A012B5059A4C}"/>
              </a:ext>
            </a:extLst>
          </p:cNvPr>
          <p:cNvSpPr/>
          <p:nvPr/>
        </p:nvSpPr>
        <p:spPr>
          <a:xfrm>
            <a:off x="0" y="0"/>
            <a:ext cx="12192000" cy="6858000"/>
          </a:xfrm>
          <a:prstGeom prst="rect">
            <a:avLst/>
          </a:prstGeom>
          <a:solidFill>
            <a:srgbClr val="1A1A1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 name="TextBox 2">
            <a:extLst>
              <a:ext uri="{FF2B5EF4-FFF2-40B4-BE49-F238E27FC236}">
                <a16:creationId xmlns:a16="http://schemas.microsoft.com/office/drawing/2014/main" id="{A4E2283F-BBA8-CA40-BEC5-B8A0C7C60526}"/>
              </a:ext>
            </a:extLst>
          </p:cNvPr>
          <p:cNvSpPr txBox="1"/>
          <p:nvPr/>
        </p:nvSpPr>
        <p:spPr>
          <a:xfrm>
            <a:off x="914400" y="3048000"/>
            <a:ext cx="10414000" cy="889000"/>
          </a:xfrm>
          <a:prstGeom prst="rect">
            <a:avLst/>
          </a:prstGeom>
          <a:noFill/>
        </p:spPr>
        <p:txBody>
          <a:bodyPr vertOverflow="overflow" vert="horz" wrap="none" rtlCol="0" anchor="t">
            <a:noAutofit/>
          </a:bodyPr>
          <a:lstStyle/>
          <a:p>
            <a:pPr algn="l"/>
            <a:r>
              <a:rPr lang="en-GB" sz="5400" b="1">
                <a:solidFill>
                  <a:srgbClr val="FFFFFF"/>
                </a:solidFill>
                <a:latin typeface="Segoe UI Semibold"/>
                <a:cs typeface="Segoe UI Semibold"/>
              </a:rPr>
              <a:t>ANNEXES</a:t>
            </a:r>
            <a:endParaRPr lang="en-FR" sz="5400" b="1">
              <a:solidFill>
                <a:srgbClr val="FFFFFF"/>
              </a:solidFill>
              <a:latin typeface="Segoe UI Semibold"/>
              <a:cs typeface="Segoe UI Semibold"/>
            </a:endParaRPr>
          </a:p>
        </p:txBody>
      </p:sp>
      <p:sp>
        <p:nvSpPr>
          <p:cNvPr id="4" name="TextBox 3">
            <a:extLst>
              <a:ext uri="{FF2B5EF4-FFF2-40B4-BE49-F238E27FC236}">
                <a16:creationId xmlns:a16="http://schemas.microsoft.com/office/drawing/2014/main" id="{99DBA1DC-7B36-354F-B136-7BCF9A2A8C32}"/>
              </a:ext>
            </a:extLst>
          </p:cNvPr>
          <p:cNvSpPr txBox="1"/>
          <p:nvPr/>
        </p:nvSpPr>
        <p:spPr>
          <a:xfrm>
            <a:off x="914400" y="3987800"/>
            <a:ext cx="10414000" cy="381000"/>
          </a:xfrm>
          <a:prstGeom prst="rect">
            <a:avLst/>
          </a:prstGeom>
          <a:noFill/>
        </p:spPr>
        <p:txBody>
          <a:bodyPr vertOverflow="overflow" vert="horz" wrap="square" rtlCol="0" anchor="t">
            <a:noAutofit/>
          </a:bodyPr>
          <a:lstStyle/>
          <a:p>
            <a:pPr algn="l"/>
            <a:r>
              <a:rPr lang="en-GB">
                <a:solidFill>
                  <a:srgbClr val="C7CDD4"/>
                </a:solidFill>
                <a:latin typeface="Segoe UI"/>
                <a:cs typeface="Segoe UI"/>
              </a:rPr>
              <a:t>hors décompte · appelées par leur numéro en réponse à une question</a:t>
            </a:r>
            <a:endParaRPr lang="en-FR">
              <a:solidFill>
                <a:srgbClr val="C7CDD4"/>
              </a:solidFill>
              <a:latin typeface="Segoe UI"/>
              <a:cs typeface="Segoe UI"/>
            </a:endParaRPr>
          </a:p>
        </p:txBody>
      </p:sp>
    </p:spTree>
    <p:extLst>
      <p:ext uri="{BB962C8B-B14F-4D97-AF65-F5344CB8AC3E}">
        <p14:creationId xmlns:p14="http://schemas.microsoft.com/office/powerpoint/2010/main" val="22048461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7B40D7-CB29-AA4C-9895-14A426FCEEB9}"/>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A1 · Qui a porté quoi</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67475A23-9377-CF47-9386-4D2ACB48FFC7}"/>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11EC41F1-4168-5E49-9465-69789E77E0A3}"/>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le partage déclaré Miguel / Maxime, séance par séance</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0EAE4D2B-1490-C648-994F-8AB72B5A58A0}"/>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qui a fait quoi ? » — la question individuelle</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2AC06DFE-0B83-5A44-9164-0EA2E7E3E5D8}"/>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GB">
                <a:solidFill>
                  <a:srgbClr val="3C3C3C"/>
                </a:solidFill>
                <a:latin typeface="Segoe UI"/>
                <a:cs typeface="Segoe UI"/>
              </a:rPr>
              <a:t>À composer : le partage déclaré Miguel / Maxime, séance par séance
(source : SOUTENANCE-S10.md §6.2 — accord des deux orateurs requis)</a:t>
            </a:r>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77033973-DFBE-594E-A699-8E60D34C2DCA}"/>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Source : SOUTENANCE-S10.md §6.2 — à reporter ici, accord des deux orateurs requis</a:t>
            </a:r>
            <a:endParaRPr lang="en-FR" sz="1600">
              <a:solidFill>
                <a:srgbClr val="3C3C3C"/>
              </a:solidFill>
              <a:latin typeface="Segoe UI"/>
              <a:cs typeface="Segoe UI"/>
            </a:endParaRPr>
          </a:p>
        </p:txBody>
      </p:sp>
    </p:spTree>
    <p:extLst>
      <p:ext uri="{BB962C8B-B14F-4D97-AF65-F5344CB8AC3E}">
        <p14:creationId xmlns:p14="http://schemas.microsoft.com/office/powerpoint/2010/main" val="18828351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DF6BDE3-314D-314D-8DDA-39D894383DAB}"/>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A2 · Les échelles et la matrice 4×4</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4B54C80A-FAAB-4545-B416-D3602502305D}"/>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810F86D4-9E57-A743-B77E-8E03B249AFF6}"/>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gravité, vraisemblance, seuil d'acceptation</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ED8449EE-D096-A54D-A649-9D04B4F707AA}"/>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d'où sortent vos niveaux de risque ? »</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D1F6CBF2-8905-BE4D-B316-0A59BC3F80E2}"/>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18308F41-BF9D-6146-8F5F-3B548E3C19B6}"/>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Source : S5-06-matrice-4x4-niveaux-de-risque.jpg</a:t>
            </a:r>
            <a:endParaRPr lang="en-FR" sz="1600">
              <a:solidFill>
                <a:srgbClr val="3C3C3C"/>
              </a:solidFill>
              <a:latin typeface="Segoe UI"/>
              <a:cs typeface="Segoe UI"/>
            </a:endParaRPr>
          </a:p>
        </p:txBody>
      </p:sp>
      <p:pic>
        <p:nvPicPr>
          <p:cNvPr id="8" name="Picture 7">
            <a:extLst>
              <a:ext uri="{FF2B5EF4-FFF2-40B4-BE49-F238E27FC236}">
                <a16:creationId xmlns:a16="http://schemas.microsoft.com/office/drawing/2014/main" id="{CC095A77-3346-BE9D-F235-6CA48958EC41}"/>
              </a:ext>
            </a:extLst>
          </p:cNvPr>
          <p:cNvPicPr>
            <a:picLocks noChangeAspect="1"/>
          </p:cNvPicPr>
          <p:nvPr/>
        </p:nvPicPr>
        <p:blipFill>
          <a:blip r:embed="rId2"/>
          <a:srcRect l="14996" t="56374"/>
          <a:stretch>
            <a:fillRect/>
          </a:stretch>
        </p:blipFill>
        <p:spPr>
          <a:xfrm>
            <a:off x="2039821" y="2057400"/>
            <a:ext cx="7127336" cy="3632200"/>
          </a:xfrm>
          <a:prstGeom prst="rect">
            <a:avLst/>
          </a:prstGeom>
        </p:spPr>
      </p:pic>
    </p:spTree>
    <p:extLst>
      <p:ext uri="{BB962C8B-B14F-4D97-AF65-F5344CB8AC3E}">
        <p14:creationId xmlns:p14="http://schemas.microsoft.com/office/powerpoint/2010/main" val="7418200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ECC3F21-4FA1-1C48-8543-7EF48830264F}"/>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A3 · Les sept événements redoutés cotés</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AABBD3A7-7F5A-2D44-8EF0-DDD9222246D9}"/>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D2096218-5321-F048-97BA-50011BBC8BDB}"/>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les sept événements, leur cotation</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965A8FF5-E007-324E-89AD-0260841379D0}"/>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vous n'avez regardé que trois scénarios ? »</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6CC40D26-8EB9-6C48-9245-CD849D662F64}"/>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72DC2B77-0F8A-5F4A-92CF-C6A76B21DFB9}"/>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Source : S5-06-ER7-ajoute-7-evenements-redoutes.jpg</a:t>
            </a:r>
            <a:endParaRPr lang="en-FR" sz="1600">
              <a:solidFill>
                <a:srgbClr val="3C3C3C"/>
              </a:solidFill>
              <a:latin typeface="Segoe UI"/>
              <a:cs typeface="Segoe UI"/>
            </a:endParaRPr>
          </a:p>
        </p:txBody>
      </p:sp>
      <p:pic>
        <p:nvPicPr>
          <p:cNvPr id="8" name="Picture 7">
            <a:extLst>
              <a:ext uri="{FF2B5EF4-FFF2-40B4-BE49-F238E27FC236}">
                <a16:creationId xmlns:a16="http://schemas.microsoft.com/office/drawing/2014/main" id="{3E86A414-E521-F5C3-8D42-A488B8033A2E}"/>
              </a:ext>
            </a:extLst>
          </p:cNvPr>
          <p:cNvPicPr>
            <a:picLocks noChangeAspect="1"/>
          </p:cNvPicPr>
          <p:nvPr/>
        </p:nvPicPr>
        <p:blipFill>
          <a:blip r:embed="rId2"/>
          <a:stretch>
            <a:fillRect/>
          </a:stretch>
        </p:blipFill>
        <p:spPr>
          <a:xfrm>
            <a:off x="3050999" y="2057400"/>
            <a:ext cx="6140800" cy="3530600"/>
          </a:xfrm>
          <a:prstGeom prst="rect">
            <a:avLst/>
          </a:prstGeom>
        </p:spPr>
      </p:pic>
    </p:spTree>
    <p:extLst>
      <p:ext uri="{BB962C8B-B14F-4D97-AF65-F5344CB8AC3E}">
        <p14:creationId xmlns:p14="http://schemas.microsoft.com/office/powerpoint/2010/main" val="2197828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398AD5-9F68-374D-A9FD-A5636859C956}"/>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A4 · La carte de dangerosité de l'écosystème</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90EC8E70-A633-174B-97E4-AEE324139037}"/>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F6412F96-16EF-1049-B381-9D7EC9C415D9}"/>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les quatre critères, les cinq cotations, le seuil</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272B03A1-1C4A-484D-8BF3-73938EBA3D29}"/>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comment cotez-vous un partenaire ? »</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98F7F5D8-F39C-AB4F-B66A-58EDAD48ECB9}"/>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BA978A84-3DDE-E94E-AA9D-0B3D3A8D7A56}"/>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Source : S6-05-ex3-carte-dangerosite-classement.jpg</a:t>
            </a:r>
            <a:endParaRPr lang="en-FR" sz="1600">
              <a:solidFill>
                <a:srgbClr val="3C3C3C"/>
              </a:solidFill>
              <a:latin typeface="Segoe UI"/>
              <a:cs typeface="Segoe UI"/>
            </a:endParaRPr>
          </a:p>
        </p:txBody>
      </p:sp>
      <p:pic>
        <p:nvPicPr>
          <p:cNvPr id="8" name="Picture 7">
            <a:extLst>
              <a:ext uri="{FF2B5EF4-FFF2-40B4-BE49-F238E27FC236}">
                <a16:creationId xmlns:a16="http://schemas.microsoft.com/office/drawing/2014/main" id="{555C1FCF-7A69-6639-D52C-50B41B487927}"/>
              </a:ext>
            </a:extLst>
          </p:cNvPr>
          <p:cNvPicPr>
            <a:picLocks noChangeAspect="1"/>
          </p:cNvPicPr>
          <p:nvPr/>
        </p:nvPicPr>
        <p:blipFill>
          <a:blip r:embed="rId2"/>
          <a:stretch>
            <a:fillRect/>
          </a:stretch>
        </p:blipFill>
        <p:spPr>
          <a:xfrm>
            <a:off x="4978671" y="2057400"/>
            <a:ext cx="2285457" cy="3530600"/>
          </a:xfrm>
          <a:prstGeom prst="rect">
            <a:avLst/>
          </a:prstGeom>
        </p:spPr>
      </p:pic>
    </p:spTree>
    <p:extLst>
      <p:ext uri="{BB962C8B-B14F-4D97-AF65-F5344CB8AC3E}">
        <p14:creationId xmlns:p14="http://schemas.microsoft.com/office/powerpoint/2010/main" val="34326067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65382A2-1D90-D04C-8F37-1E826A6D29C0}"/>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A5 · Le registre à huit lignes</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60F37956-BDD9-6441-B9F5-E9A2CC25F062}"/>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47906396-7282-9B47-9F44-5B51BEC202CA}"/>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actuel, résiduel, mesures, porteurs</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7E8C3B07-2DD7-B148-B9E4-991A7CC16DD3}"/>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montrez-moi le registre »</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3AEE2619-92DB-314D-8480-172E0614AC47}"/>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F8A03897-9D69-CC48-A486-BD319BB3C74E}"/>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Source : S7-05-ex3-registre-genere.jpg</a:t>
            </a:r>
            <a:endParaRPr lang="en-FR" sz="1600">
              <a:solidFill>
                <a:srgbClr val="3C3C3C"/>
              </a:solidFill>
              <a:latin typeface="Segoe UI"/>
              <a:cs typeface="Segoe UI"/>
            </a:endParaRPr>
          </a:p>
        </p:txBody>
      </p:sp>
      <p:pic>
        <p:nvPicPr>
          <p:cNvPr id="8" name="Picture 7">
            <a:extLst>
              <a:ext uri="{FF2B5EF4-FFF2-40B4-BE49-F238E27FC236}">
                <a16:creationId xmlns:a16="http://schemas.microsoft.com/office/drawing/2014/main" id="{494D0F66-FD34-6E89-D1F4-D4E0677CBAFE}"/>
              </a:ext>
            </a:extLst>
          </p:cNvPr>
          <p:cNvPicPr>
            <a:picLocks noChangeAspect="1"/>
          </p:cNvPicPr>
          <p:nvPr/>
        </p:nvPicPr>
        <p:blipFill>
          <a:blip r:embed="rId2"/>
          <a:stretch>
            <a:fillRect/>
          </a:stretch>
        </p:blipFill>
        <p:spPr>
          <a:xfrm>
            <a:off x="3054243" y="2057400"/>
            <a:ext cx="6134312" cy="3530600"/>
          </a:xfrm>
          <a:prstGeom prst="rect">
            <a:avLst/>
          </a:prstGeom>
        </p:spPr>
      </p:pic>
    </p:spTree>
    <p:extLst>
      <p:ext uri="{BB962C8B-B14F-4D97-AF65-F5344CB8AC3E}">
        <p14:creationId xmlns:p14="http://schemas.microsoft.com/office/powerpoint/2010/main" val="27727400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B956FF9-925E-E64E-B12F-258DD78B3BC5}"/>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A6 · Les treize mesures avec leurs coûts</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F99D6E63-CA76-9347-BEFD-FEA04977EF18}"/>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DAB65D56-134E-B947-BD17-CF45F028D6BA}"/>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build, run, amortissement, annuité, porteur, échéance</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64BCF637-334A-E04F-92D6-235BA3026F2A}"/>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détaillez les 82 000 € »</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4832ED4B-40E8-7F45-BA42-B9AB1D731E4B}"/>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DE4C2C7D-86B7-6D49-B075-CA900AA2EFB0}"/>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Source : D7 §1 · S7-06-mesures-appliquees-couts-build-run.jpg</a:t>
            </a:r>
            <a:endParaRPr lang="en-FR" sz="1600">
              <a:solidFill>
                <a:srgbClr val="3C3C3C"/>
              </a:solidFill>
              <a:latin typeface="Segoe UI"/>
              <a:cs typeface="Segoe UI"/>
            </a:endParaRPr>
          </a:p>
        </p:txBody>
      </p:sp>
      <p:pic>
        <p:nvPicPr>
          <p:cNvPr id="8" name="Picture 7">
            <a:extLst>
              <a:ext uri="{FF2B5EF4-FFF2-40B4-BE49-F238E27FC236}">
                <a16:creationId xmlns:a16="http://schemas.microsoft.com/office/drawing/2014/main" id="{ABE71CF5-5303-EB7A-146A-BC0830337154}"/>
              </a:ext>
            </a:extLst>
          </p:cNvPr>
          <p:cNvPicPr>
            <a:picLocks noChangeAspect="1"/>
          </p:cNvPicPr>
          <p:nvPr/>
        </p:nvPicPr>
        <p:blipFill>
          <a:blip r:embed="rId2"/>
          <a:stretch>
            <a:fillRect/>
          </a:stretch>
        </p:blipFill>
        <p:spPr>
          <a:xfrm>
            <a:off x="3206989" y="2057400"/>
            <a:ext cx="5828820" cy="3530600"/>
          </a:xfrm>
          <a:prstGeom prst="rect">
            <a:avLst/>
          </a:prstGeom>
        </p:spPr>
      </p:pic>
    </p:spTree>
    <p:extLst>
      <p:ext uri="{BB962C8B-B14F-4D97-AF65-F5344CB8AC3E}">
        <p14:creationId xmlns:p14="http://schemas.microsoft.com/office/powerpoint/2010/main" val="36463780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C3D44B-1A23-2A47-90D4-C0C5B3ED5337}"/>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A7 · La déclaration d'applicabilité</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A051D486-9DF3-3448-877E-3A7B80B89A70}"/>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0EF6B425-3575-F94F-80BE-35B6DA540168}"/>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15 contrôles, taux de couverture, l'exclusion et son motif</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2BFE350C-6C9E-0941-8C1C-540AAF47F7B0}"/>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pourquoi si peu de contrôles ? »</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76CACA1E-95CA-5645-B16C-35A7953E7270}"/>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805E6B5D-DFDB-DC4C-A549-5E3E7FBFF7AE}"/>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Source : S8-05-annexe-A-declaration-applicabilite-15-controles.jpg  (+ exclusion A.8.28 justifiée)</a:t>
            </a:r>
            <a:endParaRPr lang="en-FR" sz="1500">
              <a:solidFill>
                <a:srgbClr val="3C3C3C"/>
              </a:solidFill>
              <a:latin typeface="Segoe UI"/>
              <a:cs typeface="Segoe UI"/>
            </a:endParaRPr>
          </a:p>
        </p:txBody>
      </p:sp>
      <p:pic>
        <p:nvPicPr>
          <p:cNvPr id="8" name="Picture 7">
            <a:extLst>
              <a:ext uri="{FF2B5EF4-FFF2-40B4-BE49-F238E27FC236}">
                <a16:creationId xmlns:a16="http://schemas.microsoft.com/office/drawing/2014/main" id="{1F2EC07A-756A-BCBE-4564-FA96F4F90984}"/>
              </a:ext>
            </a:extLst>
          </p:cNvPr>
          <p:cNvPicPr>
            <a:picLocks noChangeAspect="1"/>
          </p:cNvPicPr>
          <p:nvPr/>
        </p:nvPicPr>
        <p:blipFill>
          <a:blip r:embed="rId2"/>
          <a:stretch>
            <a:fillRect/>
          </a:stretch>
        </p:blipFill>
        <p:spPr>
          <a:xfrm>
            <a:off x="2759110" y="2057400"/>
            <a:ext cx="6724579" cy="3530600"/>
          </a:xfrm>
          <a:prstGeom prst="rect">
            <a:avLst/>
          </a:prstGeom>
        </p:spPr>
      </p:pic>
    </p:spTree>
    <p:extLst>
      <p:ext uri="{BB962C8B-B14F-4D97-AF65-F5344CB8AC3E}">
        <p14:creationId xmlns:p14="http://schemas.microsoft.com/office/powerpoint/2010/main" val="5535192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96F2CC0-AE6E-4041-A30B-019EA3F5061C}"/>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A8 · Le tableau de bord d'indicateurs, daté</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7D3853DD-2DE2-4440-AD93-FB02E2D865CE}"/>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326B5AC4-24AE-2646-9032-0EB3D5B18B29}"/>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les indicateurs, leur rythme, leur propriétaire</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CD218896-9FD3-E544-8562-1D9208BD1B9F}"/>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comment saurez-vous que ça marche ? »</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9A35C6AE-3E11-1A46-B4D5-6444F2B2BB20}"/>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GB">
                <a:solidFill>
                  <a:srgbClr val="3C3C3C"/>
                </a:solidFill>
                <a:latin typeface="Segoe UI"/>
                <a:cs typeface="Segoe UI"/>
              </a:rPr>
              <a:t>À produire en séance 9 : capture datée du tableau de bord d'indicateurs
(exigée par le TP 2)</a:t>
            </a:r>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9BB9F6F2-F918-BC40-8354-5C6699AD92D4}"/>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Source : à produire en séance 9 — capture datée exigée par le TP 2</a:t>
            </a:r>
            <a:endParaRPr lang="en-FR" sz="1600">
              <a:solidFill>
                <a:srgbClr val="3C3C3C"/>
              </a:solidFill>
              <a:latin typeface="Segoe UI"/>
              <a:cs typeface="Segoe UI"/>
            </a:endParaRPr>
          </a:p>
        </p:txBody>
      </p:sp>
    </p:spTree>
    <p:extLst>
      <p:ext uri="{BB962C8B-B14F-4D97-AF65-F5344CB8AC3E}">
        <p14:creationId xmlns:p14="http://schemas.microsoft.com/office/powerpoint/2010/main" val="1084919962"/>
      </p:ext>
    </p:extLst>
  </p:cSld>
  <p:clrMapOvr>
    <a:masterClrMapping/>
  </p:clrMapOvr>
</p:sld>
</file>

<file path=ppt/theme/theme1.xml><?xml version="1.0" encoding="utf-8"?>
<a:theme xmlns:a="http://schemas.openxmlformats.org/drawingml/2006/main" name="Office Theme [1789545212958]">
  <a:themeElements>
    <a:clrScheme name="Office">
      <a:dk1>
        <a:srgbClr val="1A1A1A"/>
      </a:dk1>
      <a:lt1>
        <a:srgbClr val="FFFFFF"/>
      </a:lt1>
      <a:dk2>
        <a:srgbClr val="3C3C3C"/>
      </a:dk2>
      <a:lt2>
        <a:srgbClr val="F2F3F5"/>
      </a:lt2>
      <a:accent1>
        <a:srgbClr val="1F4E79"/>
      </a:accent1>
      <a:accent2>
        <a:srgbClr val="4A6E8A"/>
      </a:accent2>
      <a:accent3>
        <a:srgbClr val="8A8F98"/>
      </a:accent3>
      <a:accent4>
        <a:srgbClr val="C7CDD4"/>
      </a:accent4>
      <a:accent5>
        <a:srgbClr val="E8EBEF"/>
      </a:accent5>
      <a:accent6>
        <a:srgbClr val="B03A2E"/>
      </a:accent6>
      <a:hlink>
        <a:srgbClr val="467886"/>
      </a:hlink>
      <a:folHlink>
        <a:srgbClr val="96607D"/>
      </a:folHlink>
    </a:clrScheme>
    <a:fontScheme name="Office">
      <a:majorFont>
        <a:latin typeface="Segoe UI Semibold"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DD6A44B-D228-9F42-80A8-F6C01C258E5D}">
  <we:reference id="wa200010725" version="1.0.0.1" store="en-US" storeType="OMEX"/>
  <we:alternateReferences>
    <we:reference id="wa200010725" version="1.0.0.1" store="en-US" storeType="OMEX"/>
  </we:alternateReferences>
  <we:properties>
    <we:property name="claude.fileId" value="&quot;c9957092-3692-40a8-91f8-6bf1a8da854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415</TotalTime>
  <Words>4844</Words>
  <Application>Microsoft Macintosh PowerPoint</Application>
  <PresentationFormat>Widescreen</PresentationFormat>
  <Paragraphs>334</Paragraphs>
  <Slides>24</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Aptos</vt:lpstr>
      <vt:lpstr>Arial</vt:lpstr>
      <vt:lpstr>Segoe UI</vt:lpstr>
      <vt:lpstr>Segoe UI Semibold</vt:lpstr>
      <vt:lpstr>Office Theme [1789545212958]</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MONEREO DE LA SOTA Miguel</dc:creator>
  <cp:lastModifiedBy>MONEREO DE LA SOTA Miguel</cp:lastModifiedBy>
  <cp:revision>8</cp:revision>
  <dcterms:created xsi:type="dcterms:W3CDTF">2026-09-16T07:18:19Z</dcterms:created>
  <dcterms:modified xsi:type="dcterms:W3CDTF">2026-09-16T14:13:47Z</dcterms:modified>
</cp:coreProperties>
</file>